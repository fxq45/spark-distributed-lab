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74" r:id="rId6"/>
    <p:sldId id="275" r:id="rId7"/>
    <p:sldId id="276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</p:sldIdLst>
  <p:sldSz cx="12192000" cy="6858000"/>
  <p:notesSz cx="6858000" cy="9144000"/>
  <p:custDataLst>
    <p:tags r:id="rId2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3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大家好，我是[你的姓名]。今天我将为大家分享我的课程实践——基于Apache Spark的分布式计算实验。本次实验旨在深入理解分布式计算的原理，并通过实际部署和编程来验证其强大的处理能力。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本次汇报将分为八个部分。首先介绍选题背景与目标，然后是Apache Spark的简介和我们设计的系统架构。接着，我会讲解环境部署过程，并详细介绍PageRank和TF-IDF两个算法的实现。之后是实验结果分析，最后进行总结与展望。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正处在大数据时代，数据量的飞速增长使得传统的单机计算模式难以应对。分布式计算应运而生，它通过将任务分解到多个节点并行处理，极大地提升了计算能力。本次实验的目标就是亲自动手部署一个Spark集群，并用它来实现PageRank和TF-IDF这两个经典算法，从而验证分布式计算的强大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Apache Spark是目前最主流的大数据处理框架之一。它最大的特点是内存计算，这使得它的处理速度远超传统的MapReduce。Spark不仅支持批处理，还集成了流处理、机器学习库MLlib和图计算库GraphX，形成了一个强大的生态系统。其核心是RDD，即弹性分布式数据集，这是我们进行编程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理解Spark，必须掌握几个核心概念。首先是RDD，它是Spark对数据的抽象。然后是两种操作：Transformation和Action。Transformation是惰性的，只记录操作；只有当Action被调用时，才会触发真正的计算。Spark会将这些操作转化为一个DAG（有向无环图）进行优化。而Shuffle，即跨节点的数据交换，是Spark作业中最消耗性能的环节，也是优化的重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Spark的运行架构是典型的Driver-Executor模型。Driver是用户程序的入口，负责解析代码、生成任务并进行调度。Cluster Manager是资源管理器，负责为应用分配计算资源。而Executor则是真正执行任务的进程，它们运行在Worker节点上，接收Driver发来的Task并执行。整个流程清晰地分离了控制与执行，保证了系统的可扩展性和容错性。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park的任务调度非常智能。当一个Action被触发，就会生成一个Job。这个Job会被DAGScheduler根据Shuffle操作切分成多个Stage。每个Stage包含一系列可以流水线执行的任务。最后，每个Stage中的每个数据分区都会生成一个Task，分发到不同的Executor上并行执行。这个层层分解的过程，是Spark实现高效并行计算的关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park的容错机制非常巧妙。它不像Hadoop那样依赖数据副本，而是通过记录RDD的“血统”——也就是Lineage来实现。当数据丢失时，Spark可以根据Lineage信息重新计算丢失的部分。这种“用计算换存储”的策略，尤其适合需要反复迭代的机器学习等场景，极大地提高了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进行实验，我们设计并部署了一个基于Docker的Spark集群。我们采用了经典的Master-Worker架构，包含1个Master节点和2个Worker节点。通过Docker容器化技术，我们可以快速、一致地部署整个集群，每个节点都是一个独立的容器，通过虚拟网络相互通信，这与真实的生产环境非常相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我们使用 Docker Compose 来编排整个集群，只需要一条命令就能启动所有服务。我们自己构建了包含 Spark 3.5.8 的 Docker 镜像，确保了环境的纯净。部署成功后，我们可以通过 Spark Master 的 Web UI 来验证集群状态。大家可以看到这个占位框，稍后我会在这里展示真实的 Web UI 截图，证明我们的 2 个 Worker 节点已经成功加入集群，总共有 4 个核心和 2GB 内存可用。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我们实现的第一个算法是经典的 PageRank。它的核心思想是，一个网页的重要性取决于有多少重要的网页指向它。我们通过迭代公式来不断更新每个页面的排名值，其中阻尼系数 d 用于模拟用户的随机跳转行为。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在分布式实现中，我们利用 Spark 的 RDD 操作，通过 flatMap 和 reduceByKey 来模拟 MapReduce 过程。特别地，我们对静态的链接关系数据调用 cache() 进行缓存，避免重复加载，同时也意识到 Shuffle 操作是性能优化的关键所在。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PageRank算法的实验结果。我们使用了一个包含20个节点的小型图数据，经过10次迭代，总耗时约8.95秒。从结果中可以看到，节点G的排名最高。同时，所有节点的PageRank值总和约等于1，这验证了我们算法实现的正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第二个算法是TF-IDF，它用于文本特征提取。TF代表词频，IDF代表逆文档频率，两者结合可以衡量一个词在特定文档中的重要性。我们利用Spark MLlib提供的Pipeline API，实现了从文本预处理到特征提取再到相似度计算的完整流程。特别是使用了HashingTF，它通过哈希技巧避免了构建全局词典，非常适合处理大规模数据。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这是TF-IDF的实验结果。我们使用了6篇不同主题的英文文档进行测试，总耗时约11.39秒。从Top 5相似文档对中可以看到，主题相近的文档，如“机器学习”和“神经网络”，它们的余弦相似度最高。这表明我们的TF-IDF实现有效地提取了文档的主题特征。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这两个实验，我们可以清晰地看到分布式计算的特性在实践中是如何体现的。数据被自动拆分到不同节点并行处理，任务被智能地调度和分发。我们也直观地感受到了Shuffle操作带来的开销，以及内存缓存对性能的巨大提升。MLlib的Pipeline更是将并行化过程封装得非常完美，让我们可以专注于业务逻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本次实验我们成功部署了Spark集群，并实现了PageRank和TF-IDF两个经典算法。通过实践，我们不仅验证了分布式计算的并行能力，更重要的是，深入理解了Spark的运行架构、任务调度和容错机制。Docker的使用也让我们体会到了现代部署方式的便捷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最后，再次感谢老师的悉心指导和同学们的帮助。我的报告到此结束，欢迎大家提问。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.png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.png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tags" Target="../tags/tag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540000"/>
            <a:ext cx="1092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Apache Spark 的分布式计算实验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191000"/>
            <a:ext cx="1066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典型分布式（云）技术及系统 · 课程实践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207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06500" y="5397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[你的姓名]</a:t>
            </a:r>
            <a:endParaRPr lang="en-US" sz="1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47115">
            <a:off x="4159250" y="5867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4699000" y="5397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　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[你的学号]</a:t>
            </a:r>
            <a:endParaRPr lang="en-US" sz="1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47115">
            <a:off x="7588250" y="58674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128000" y="53975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完成日期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2026年3月</a:t>
            </a:r>
            <a:endParaRPr lang="en-US" sz="16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7"/>
          <p:cNvPicPr>
            <a:picLocks noChangeAspect="1"/>
          </p:cNvPicPr>
          <p:nvPr/>
        </p:nvPicPr>
        <p:blipFill>
          <a:blip r:embed="rId2"/>
          <a:srcRect t="838" b="838"/>
          <a:stretch>
            <a:fillRect/>
          </a:stretch>
        </p:blipFill>
        <p:spPr>
          <a:xfrm>
            <a:off x="9799320" y="887730"/>
            <a:ext cx="1524000" cy="850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1397000" y="2057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选题背景与目标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97000" y="2413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6350000" y="2032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985000" y="2057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Apache Spark 简介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0" y="2413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762000" y="3302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1397000" y="3327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架构与调度机制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97000" y="3683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6350000" y="3302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8"/>
            </p:custDataLst>
          </p:nvPr>
        </p:nvSpPr>
        <p:spPr>
          <a:xfrm>
            <a:off x="6985000" y="3327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容错与技术对比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985000" y="3683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762000" y="438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1397000" y="44069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集群环境搭建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397000" y="4762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1"/>
            </p:custDataLst>
          </p:nvPr>
        </p:nvSpPr>
        <p:spPr>
          <a:xfrm>
            <a:off x="6350000" y="438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2"/>
            </p:custDataLst>
          </p:nvPr>
        </p:nvSpPr>
        <p:spPr>
          <a:xfrm>
            <a:off x="6985000" y="44069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核心算法开发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0" y="4762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3"/>
            </p:custDataLst>
          </p:nvPr>
        </p:nvSpPr>
        <p:spPr>
          <a:xfrm>
            <a:off x="762000" y="5461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4"/>
            </p:custDataLst>
          </p:nvPr>
        </p:nvSpPr>
        <p:spPr>
          <a:xfrm>
            <a:off x="1397000" y="5486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结果验证与分析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397000" y="5842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24" name="AutoShape 24"/>
          <p:cNvSpPr/>
          <p:nvPr>
            <p:custDataLst>
              <p:tags r:id="rId15"/>
            </p:custDataLst>
          </p:nvPr>
        </p:nvSpPr>
        <p:spPr>
          <a:xfrm>
            <a:off x="6350000" y="54610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25" name="AutoShape 25"/>
          <p:cNvSpPr/>
          <p:nvPr>
            <p:custDataLst>
              <p:tags r:id="rId16"/>
            </p:custDataLst>
          </p:nvPr>
        </p:nvSpPr>
        <p:spPr>
          <a:xfrm>
            <a:off x="6985000" y="54864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985000" y="5842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选题背景与目标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905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>
                <a:sym typeface="+mn-ea"/>
              </a:rPr>
              <a:t>大数据时代，单机计算能力有限</a:t>
            </a:r>
            <a:endParaRPr lang="zh-CN" altLang="en-US" sz="1800"/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>
                <a:sym typeface="Noto Sans SC" panose="020B0200000000000000" charset="-122"/>
              </a:rPr>
              <a:t>分布式计算通过将大规模计算任务拆解为若干子任务，分配至多个网络互联的计算机节点并行执行，最终汇总结果。</a:t>
            </a:r>
            <a:endParaRPr lang="zh-CN" altLang="en-US" sz="1800"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>
                <a:sym typeface="Noto Sans SC" panose="020B0200000000000000" charset="-122"/>
              </a:rPr>
              <a:t>这种架构是当前解决海量数据处理、高并发业务最有效的技术路径</a:t>
            </a:r>
            <a:endParaRPr lang="zh-CN" altLang="en-US" sz="1800"/>
          </a:p>
          <a:p>
            <a:pPr marL="0" indent="0" algn="l">
              <a:lnSpc>
                <a:spcPct val="125000"/>
              </a:lnSpc>
              <a:defRPr/>
            </a:pPr>
            <a:endParaRPr lang="en-US" sz="1800" b="1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zh-CN" alt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0" y="190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24130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762000" y="4445000"/>
            <a:ext cx="4939665" cy="13404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buNone/>
              <a:defRPr/>
            </a:pPr>
            <a:r>
              <a:rPr lang="zh-CN" altLang="en-US" sz="1800"/>
              <a:t>1.部署 Spark 分布式集群</a:t>
            </a:r>
            <a:endParaRPr lang="zh-CN" altLang="en-US" sz="1800"/>
          </a:p>
          <a:p>
            <a:pPr marL="0" algn="l">
              <a:lnSpc>
                <a:spcPct val="125000"/>
              </a:lnSpc>
              <a:buSzTx/>
              <a:buNone/>
              <a:defRPr/>
            </a:pPr>
            <a:r>
              <a:rPr lang="zh-CN" altLang="en-US" sz="1800"/>
              <a:t>2.实现经典分布式算法（PageRank + TF-IDF）</a:t>
            </a:r>
            <a:endParaRPr lang="zh-CN" altLang="en-US" sz="1800"/>
          </a:p>
          <a:p>
            <a:pPr marL="0" algn="l">
              <a:lnSpc>
                <a:spcPct val="125000"/>
              </a:lnSpc>
              <a:buSzTx/>
              <a:buNone/>
              <a:defRPr/>
            </a:pPr>
            <a:r>
              <a:rPr lang="zh-CN" altLang="en-US" sz="1800"/>
              <a:t>3.验证分布式计算的并行处理能力</a:t>
            </a:r>
            <a:endParaRPr lang="zh-CN" altLang="en-US" sz="1800"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762000" y="4953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4445000" y="444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445000" y="4953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8128000" y="444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8128000" y="4953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/>
          </a:p>
        </p:txBody>
      </p:sp>
      <p:sp>
        <p:nvSpPr>
          <p:cNvPr id="13" name="文本框 12"/>
          <p:cNvSpPr txBox="1"/>
          <p:nvPr/>
        </p:nvSpPr>
        <p:spPr>
          <a:xfrm>
            <a:off x="762000" y="4062730"/>
            <a:ext cx="37407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本次实验目标：</a:t>
            </a:r>
            <a:endParaRPr lang="zh-CN" altLang="en-US" sz="2400"/>
          </a:p>
        </p:txBody>
      </p:sp>
      <p:pic>
        <p:nvPicPr>
          <p:cNvPr id="14" name="图片 13" descr="图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5680" y="1966595"/>
            <a:ext cx="5629275" cy="3753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2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Apache Spark 简介</a:t>
            </a:r>
            <a:endParaRPr lang="en-US" sz="2800"/>
          </a:p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778000"/>
            <a:ext cx="609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统一引擎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159000"/>
            <a:ext cx="609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2014年成为Apache顶级项目，是一个开源的统一大规模数据处理引擎，打破传统离线计算的局限，实现高效数据处理。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762000" y="2984500"/>
            <a:ext cx="609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内存计算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762000" y="3365500"/>
            <a:ext cx="609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相比传统的Hadoop MapReduce，通过将中间计算结果缓存于内存中，大幅减少磁盘IO开销，处理速度提升10至100倍。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762000" y="4191000"/>
            <a:ext cx="609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多计算模式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762000" y="4572000"/>
            <a:ext cx="609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一站式解决复杂业务场景，原生支持离线批处理、低延迟流处理，以及高阶的机器学习和图计算任务。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143500"/>
            <a:ext cx="609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核心抽象：RDD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5588000"/>
            <a:ext cx="609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多语言开发接口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0" y="4699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0" y="5143500"/>
            <a:ext cx="381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pic>
        <p:nvPicPr>
          <p:cNvPr id="15" name="图片 14" descr="Spark 生态系统全景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4370" y="2133600"/>
            <a:ext cx="5012690" cy="375983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390890" y="5768975"/>
            <a:ext cx="24422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Spark 生态系统全景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 核心概念</a:t>
            </a:r>
            <a:endParaRPr lang="en-US" sz="2400"/>
          </a:p>
        </p:txBody>
      </p:sp>
      <p:sp>
        <p:nvSpPr>
          <p:cNvPr id="24" name="AutoShape 24"/>
          <p:cNvSpPr/>
          <p:nvPr/>
        </p:nvSpPr>
        <p:spPr>
          <a:xfrm>
            <a:off x="889000" y="5207000"/>
            <a:ext cx="1714500" cy="431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89000" y="5232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textFile("data.txt")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667000" y="5245100"/>
            <a:ext cx="31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3048000" y="5207000"/>
            <a:ext cx="1460500" cy="431800"/>
          </a:xfrm>
          <a:prstGeom prst="roundRect">
            <a:avLst>
              <a:gd name="adj" fmla="val 0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3048000" y="5232400"/>
            <a:ext cx="146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map(...)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572000" y="5245100"/>
            <a:ext cx="31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953000" y="5207000"/>
            <a:ext cx="1460500" cy="431800"/>
          </a:xfrm>
          <a:prstGeom prst="roundRect">
            <a:avLst>
              <a:gd name="adj" fmla="val 0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4953000" y="5232400"/>
            <a:ext cx="146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filter(...)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477000" y="5245100"/>
            <a:ext cx="31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858000" y="5207000"/>
            <a:ext cx="1587500" cy="431800"/>
          </a:xfrm>
          <a:prstGeom prst="roundRect">
            <a:avLst>
              <a:gd name="adj" fmla="val 0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858000" y="52324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reduceByKey(...)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509000" y="5245100"/>
            <a:ext cx="31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890000" y="5207000"/>
            <a:ext cx="1587500" cy="431800"/>
          </a:xfrm>
          <a:prstGeom prst="roundRect">
            <a:avLst>
              <a:gd name="adj" fmla="val 0"/>
            </a:avLst>
          </a:prstGeom>
          <a:solidFill>
            <a:srgbClr val="D9770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8890000" y="5232400"/>
            <a:ext cx="158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collect()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89000" y="5740400"/>
            <a:ext cx="698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128000" y="5740400"/>
            <a:ext cx="3429000" cy="635000"/>
          </a:xfrm>
          <a:prstGeom prst="roundRect">
            <a:avLst>
              <a:gd name="adj" fmla="val 0"/>
            </a:avLst>
          </a:prstGeom>
          <a:solidFill>
            <a:srgbClr val="FEF3C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8191500" y="57785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B4530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Action 触发计算：结果回传 Driver 端</a:t>
            </a:r>
            <a:endParaRPr lang="en-US" sz="1100"/>
          </a:p>
        </p:txBody>
      </p:sp>
      <p:sp>
        <p:nvSpPr>
          <p:cNvPr id="43" name="文本框 42"/>
          <p:cNvSpPr txBox="1"/>
          <p:nvPr/>
        </p:nvSpPr>
        <p:spPr>
          <a:xfrm>
            <a:off x="1007110" y="1514475"/>
            <a:ext cx="6951345" cy="2988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/>
              <a:t>RDD：</a:t>
            </a:r>
            <a:r>
              <a:rPr lang="zh-CN" altLang="en-US" sz="2000"/>
              <a:t>不可变、可分区、可并行</a:t>
            </a:r>
            <a:endParaRPr lang="zh-CN" altLang="en-US" sz="2000"/>
          </a:p>
          <a:p>
            <a:r>
              <a:rPr lang="en-US" altLang="zh-CN" sz="2000"/>
              <a:t>Transformation：</a:t>
            </a:r>
            <a:r>
              <a:rPr lang="zh-CN" altLang="en-US" sz="2000"/>
              <a:t>惰性转换，不立即执行</a:t>
            </a:r>
            <a:endParaRPr lang="zh-CN" altLang="en-US" sz="2000"/>
          </a:p>
          <a:p>
            <a:r>
              <a:rPr lang="en-US" altLang="zh-CN" sz="2000"/>
              <a:t>Action：</a:t>
            </a:r>
            <a:r>
              <a:rPr lang="zh-CN" altLang="en-US" sz="2000"/>
              <a:t>触发 </a:t>
            </a:r>
            <a:r>
              <a:rPr lang="en-US" altLang="zh-CN" sz="2000"/>
              <a:t>Job </a:t>
            </a:r>
            <a:r>
              <a:rPr lang="zh-CN" altLang="en-US" sz="2000"/>
              <a:t>执行</a:t>
            </a:r>
            <a:endParaRPr lang="zh-CN" altLang="en-US" sz="2000"/>
          </a:p>
          <a:p>
            <a:r>
              <a:rPr lang="en-US" altLang="zh-CN" sz="2000"/>
              <a:t>DAG：</a:t>
            </a:r>
            <a:r>
              <a:rPr lang="zh-CN" altLang="en-US" sz="2000"/>
              <a:t>优化执行顺序</a:t>
            </a:r>
            <a:endParaRPr lang="zh-CN" altLang="en-US" sz="2000"/>
          </a:p>
          <a:p>
            <a:r>
              <a:rPr lang="en-US" altLang="zh-CN" sz="2000"/>
              <a:t>Shuffle：</a:t>
            </a:r>
            <a:r>
              <a:rPr lang="zh-CN" altLang="en-US" sz="2000"/>
              <a:t>跨节点交换，性能瓶颈</a:t>
            </a:r>
            <a:endParaRPr lang="zh-CN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213995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03架构与调度机制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" cy="1397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87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Driver Program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006600"/>
            <a:ext cx="495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运行用户主程序，创建 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SparkContext，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负责任务拆分与调度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50800" cy="1397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111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Cluster Manager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530600"/>
            <a:ext cx="495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集群资源管理器（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Standalone / YARN / Mesos / K8s）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572000"/>
            <a:ext cx="5334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57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46355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Executor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5054600"/>
            <a:ext cx="495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运行在 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Worker 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节点上的进程，执行具体 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Task，</a:t>
            </a:r>
            <a:r>
              <a:rPr lang="zh-CN" alt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管理本地缓存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90005" y="1524000"/>
            <a:ext cx="5334000" cy="444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r>
              <a:rPr lang="en-US" altLang="zh-CN">
                <a:sym typeface="+mn-ea"/>
              </a:rPr>
              <a:t>Spark Application  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644005" y="2020570"/>
            <a:ext cx="4953000" cy="889000"/>
          </a:xfrm>
          <a:prstGeom prst="roundRect">
            <a:avLst>
              <a:gd name="adj" fmla="val 0"/>
            </a:avLst>
          </a:prstGeom>
          <a:gradFill>
            <a:gsLst>
              <a:gs pos="50000">
                <a:schemeClr val="accent3"/>
              </a:gs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5400000" scaled="1"/>
          </a:gra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707505" y="2070100"/>
            <a:ext cx="4699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Driver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07505" y="2413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组件：SparkContext </a:t>
            </a:r>
            <a:r>
              <a:rPr lang="zh-CN" alt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DAGScheduler </a:t>
            </a:r>
            <a:r>
              <a:rPr lang="zh-CN" alt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TaskScheduler</a:t>
            </a:r>
            <a:r>
              <a:rPr lang="zh-CN" altLang="en-US" sz="12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1200" b="0" i="0" u="none" strike="noStrike">
              <a:solidFill>
                <a:srgbClr val="CBD5E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580505" y="3429000"/>
            <a:ext cx="4953000" cy="69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707505" y="3492500"/>
            <a:ext cx="4699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Cluster Manager</a:t>
            </a:r>
            <a:endParaRPr lang="en-US" sz="13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(Standalone Master)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80505" y="48895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44005" y="49276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Executor (Worker 1)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44005" y="52705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并行执行 Task 任务</a:t>
            </a:r>
            <a:b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维护数据 Cache 缓存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20505" y="4889500"/>
            <a:ext cx="2413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184005" y="4927600"/>
            <a:ext cx="228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Executor (Worker 2)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84005" y="5270500"/>
            <a:ext cx="2286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并行执行 Task 任务</a:t>
            </a:r>
            <a:br>
              <a:rPr lang="en-US" sz="11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维护数据 Cache 缓存</a:t>
            </a:r>
            <a:endParaRPr lang="en-US" sz="1100"/>
          </a:p>
        </p:txBody>
      </p:sp>
      <p:sp>
        <p:nvSpPr>
          <p:cNvPr id="36" name="文本框 35"/>
          <p:cNvSpPr txBox="1"/>
          <p:nvPr/>
        </p:nvSpPr>
        <p:spPr>
          <a:xfrm>
            <a:off x="9756140" y="1587500"/>
            <a:ext cx="31489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Spark Application  </a:t>
            </a:r>
            <a:endParaRPr lang="en-US" altLang="zh-CN"/>
          </a:p>
        </p:txBody>
      </p:sp>
      <p:pic>
        <p:nvPicPr>
          <p:cNvPr id="37" name="图片 36" descr="箭头-平尾-向下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0005" y="2901950"/>
            <a:ext cx="190500" cy="546100"/>
          </a:xfrm>
          <a:prstGeom prst="rect">
            <a:avLst/>
          </a:prstGeom>
        </p:spPr>
      </p:pic>
      <p:pic>
        <p:nvPicPr>
          <p:cNvPr id="38" name="图片 37" descr="箭头-平尾-向下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0175" y="4108450"/>
            <a:ext cx="208915" cy="791210"/>
          </a:xfrm>
          <a:prstGeom prst="rect">
            <a:avLst/>
          </a:prstGeom>
        </p:spPr>
      </p:pic>
      <p:pic>
        <p:nvPicPr>
          <p:cNvPr id="39" name="图片 38" descr="箭头-平尾-向下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7765" y="4081145"/>
            <a:ext cx="208915" cy="791210"/>
          </a:xfrm>
          <a:prstGeom prst="rect">
            <a:avLst/>
          </a:prstGeom>
        </p:spPr>
      </p:pic>
      <p:sp>
        <p:nvSpPr>
          <p:cNvPr id="40" name="文本框 39"/>
          <p:cNvSpPr txBox="1"/>
          <p:nvPr/>
        </p:nvSpPr>
        <p:spPr>
          <a:xfrm>
            <a:off x="10266680" y="4354830"/>
            <a:ext cx="17621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分配 </a:t>
            </a:r>
            <a:r>
              <a:rPr lang="en-US" altLang="zh-CN"/>
              <a:t>Executor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9167495" y="3035935"/>
            <a:ext cx="94996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申请资源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28675" y="1019810"/>
            <a:ext cx="314960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5000"/>
              </a:lnSpc>
              <a:buSzTx/>
              <a:defRPr/>
            </a:pPr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Spark运行架构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algn="l">
              <a:lnSpc>
                <a:spcPct val="125000"/>
              </a:lnSpc>
              <a:buSzTx/>
              <a:defRPr/>
            </a:pPr>
            <a:r>
              <a:rPr 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任务调度机制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2730500" cy="222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730500" cy="508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676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Application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159000"/>
            <a:ext cx="247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SparkContext 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对应一个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Application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619500" y="1524000"/>
            <a:ext cx="2730500" cy="222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3619500" y="1524000"/>
            <a:ext cx="2730500" cy="508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746500" y="1676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Job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746500" y="2159000"/>
            <a:ext cx="247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Action 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触发一个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Job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2730500" cy="222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3937000"/>
            <a:ext cx="2730500" cy="508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89000" y="4089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Stage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4572000"/>
            <a:ext cx="247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Shuffle 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为边界，将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Job 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切分为多个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Stage（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宽依赖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 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窄依赖）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19500" y="3937000"/>
            <a:ext cx="2730500" cy="2222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619500" y="3937000"/>
            <a:ext cx="2730500" cy="508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3746500" y="4089400"/>
            <a:ext cx="247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3746500" y="4572000"/>
            <a:ext cx="247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Stage 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中每个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Partition 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对应一个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Task，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分发到 </a:t>
            </a:r>
            <a:r>
              <a:rPr lang="en-US" altLang="zh-CN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Executor </a:t>
            </a:r>
            <a:r>
              <a:rPr lang="zh-CN" alt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并行执行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90708">
            <a:off x="4254491" y="3867167"/>
            <a:ext cx="469901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9" name="图片 38" descr="任务调度机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165" y="1506220"/>
            <a:ext cx="4538980" cy="47167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04容错与技术对比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1676400"/>
            <a:ext cx="323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RDD Lineage (血统机制)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2095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每个RDD都完整记录了自身的“血缘”关系，即由哪些父RDD经过何种转换操作生成。这构成了Spark逻辑容错的基石，让系统能清晰追溯数据的来源与计算过程。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70400" y="1524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44704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97400" y="1676400"/>
            <a:ext cx="323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轻量级容错策略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97400" y="2095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摒弃传统的数据冗余备份，采用“计算换存储”。当分区数据丢失时，无需恢复原始数据，直接依据Lineage从源头重新计算该分区，大幅降低存储资源的占用成本。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53400" y="1524000"/>
            <a:ext cx="3492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53400" y="1524000"/>
            <a:ext cx="3492500" cy="381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80400" y="1676400"/>
            <a:ext cx="3238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Checkpoint 性能优化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80400" y="2095500"/>
            <a:ext cx="3238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针对长迭代任务（如机器学习），通过Checkpoint将中间结果持久化至磁盘，主动截断血统链。这避免了故障时全链路重算，显著提升了复杂场景下的恢复效率。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429000"/>
            <a:ext cx="10922000" cy="4826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3454400"/>
            <a:ext cx="21844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核心特性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946400" y="3454400"/>
            <a:ext cx="4191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Hadoop MapReduce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37400" y="3454400"/>
            <a:ext cx="45466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Apache Spark (RDD)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975100"/>
            <a:ext cx="10922000" cy="457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000500"/>
            <a:ext cx="2184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计算模型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946400" y="40005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严格的两阶段模型 (Map → Reduce)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37400" y="4000500"/>
            <a:ext cx="4546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灵活的DAG有向无环图 (多阶段流水线执行)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4470400"/>
            <a:ext cx="10922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4495800"/>
            <a:ext cx="2184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中间结果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2946400" y="44958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强制同步写入磁盘 (HDFS)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37400" y="4495800"/>
            <a:ext cx="4546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内存缓存优先 (RDD Cache)，按需落地磁盘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4965700"/>
            <a:ext cx="10922000" cy="4572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762000" y="4991100"/>
            <a:ext cx="2184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迭代效率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946400" y="49911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低，每轮迭代均产生大量磁盘IO开销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137400" y="4991100"/>
            <a:ext cx="4546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极高，内存复用计算，速度提升10-100倍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5461000"/>
            <a:ext cx="10922000" cy="457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762000" y="5486400"/>
            <a:ext cx="21844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容错本质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2946400" y="5486400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数据冗余：依赖HDFS三副本物理备份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137400" y="5486400"/>
            <a:ext cx="45466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计算冗余：基于Lineage重算丢失分区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62000" y="6032500"/>
            <a:ext cx="10922000" cy="571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6" name="AutoShape 36"/>
          <p:cNvSpPr/>
          <p:nvPr/>
        </p:nvSpPr>
        <p:spPr>
          <a:xfrm>
            <a:off x="952500" y="6057900"/>
            <a:ext cx="1054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适用场景差异：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Hadoop适合海量静态数据的单次批处理；而Spark凭借高效的内存计算与逻辑容错，成为迭代算法、交互式数据挖掘及实时流处理的首选方案。</a:t>
            </a:r>
            <a:endParaRPr lang="en-US" sz="1100"/>
          </a:p>
        </p:txBody>
      </p:sp>
      <p:sp>
        <p:nvSpPr>
          <p:cNvPr id="37" name="文本框 36"/>
          <p:cNvSpPr txBox="1"/>
          <p:nvPr/>
        </p:nvSpPr>
        <p:spPr>
          <a:xfrm>
            <a:off x="1055370" y="341630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集群环境搭建</a:t>
            </a:r>
            <a:endParaRPr lang="en-US" sz="1100"/>
          </a:p>
        </p:txBody>
      </p:sp>
      <p:pic>
        <p:nvPicPr>
          <p:cNvPr id="32" name="图片 31" descr="实验集群架构设计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230" y="1917700"/>
            <a:ext cx="4923155" cy="3692525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762000" y="2406015"/>
            <a:ext cx="51758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Master-Worker </a:t>
            </a:r>
            <a:r>
              <a:rPr lang="zh-CN" altLang="en-US" sz="1800"/>
              <a:t>架构（</a:t>
            </a:r>
            <a:r>
              <a:rPr lang="en-US" altLang="zh-CN" sz="1800"/>
              <a:t>Standalone </a:t>
            </a:r>
            <a:r>
              <a:rPr lang="zh-CN" altLang="en-US" sz="1800"/>
              <a:t>模式）</a:t>
            </a:r>
            <a:endParaRPr lang="zh-CN" altLang="en-US" sz="1800"/>
          </a:p>
          <a:p>
            <a:endParaRPr lang="en-US" altLang="zh-CN" sz="1800"/>
          </a:p>
          <a:p>
            <a:r>
              <a:rPr lang="en-US" altLang="zh-CN" sz="1800"/>
              <a:t>  </a:t>
            </a:r>
            <a:r>
              <a:rPr lang="zh-CN" altLang="en-US" sz="1800"/>
              <a:t>1 个 </a:t>
            </a:r>
            <a:r>
              <a:rPr lang="en-US" altLang="zh-CN" sz="1800"/>
              <a:t>Master </a:t>
            </a:r>
            <a:r>
              <a:rPr lang="zh-CN" altLang="en-US" sz="1800"/>
              <a:t>节点：任务调度 + 资源管理</a:t>
            </a:r>
            <a:endParaRPr lang="zh-CN" altLang="en-US" sz="1800"/>
          </a:p>
          <a:p>
            <a:r>
              <a:rPr lang="en-US" altLang="zh-CN" sz="1800">
                <a:sym typeface="+mn-ea"/>
              </a:rPr>
              <a:t>  </a:t>
            </a:r>
            <a:r>
              <a:rPr lang="zh-CN" altLang="en-US" sz="1800"/>
              <a:t>2 个 </a:t>
            </a:r>
            <a:r>
              <a:rPr lang="en-US" altLang="zh-CN" sz="1800"/>
              <a:t>Worker </a:t>
            </a:r>
            <a:r>
              <a:rPr lang="zh-CN" altLang="en-US" sz="1800"/>
              <a:t>节点：任务执行 + 数据处理</a:t>
            </a:r>
            <a:endParaRPr lang="zh-CN" altLang="en-US" sz="1800"/>
          </a:p>
          <a:p>
            <a:r>
              <a:rPr lang="en-US" altLang="zh-CN" sz="1800">
                <a:sym typeface="+mn-ea"/>
              </a:rPr>
              <a:t>  </a:t>
            </a:r>
            <a:r>
              <a:rPr lang="en-US" altLang="zh-CN" sz="1800"/>
              <a:t>Docker </a:t>
            </a:r>
            <a:r>
              <a:rPr lang="zh-CN" altLang="en-US" sz="1800"/>
              <a:t>容器化部署，各节点独立 </a:t>
            </a:r>
            <a:r>
              <a:rPr lang="en-US" altLang="zh-CN" sz="1800"/>
              <a:t>IP</a:t>
            </a:r>
            <a:endParaRPr lang="en-US" altLang="zh-CN" sz="1800"/>
          </a:p>
          <a:p>
            <a:r>
              <a:rPr lang="en-US" altLang="zh-CN" sz="1800">
                <a:sym typeface="+mn-ea"/>
              </a:rPr>
              <a:t>  </a:t>
            </a:r>
            <a:r>
              <a:rPr lang="zh-CN" altLang="en-US" sz="1800"/>
              <a:t>通过虚拟网络完成节点通信</a:t>
            </a:r>
            <a:endParaRPr lang="zh-CN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环境部署与验证</a:t>
            </a:r>
            <a:endParaRPr lang="en-US" sz="1100"/>
          </a:p>
        </p:txBody>
      </p:sp>
      <p:pic>
        <p:nvPicPr>
          <p:cNvPr id="25" name="图片 24" descr="网页截图（集群空闲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0535" y="2082165"/>
            <a:ext cx="7484745" cy="386143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 flipH="1">
            <a:off x="4502150" y="1613535"/>
            <a:ext cx="6385560" cy="377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25000"/>
              </a:lnSpc>
              <a:buSzTx/>
              <a:defRPr/>
            </a:pPr>
            <a:r>
              <a:rPr lang="en-US" sz="1600" b="1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PageRank 算法原理与分布式实现</a:t>
            </a:r>
            <a:endParaRPr lang="en-US" altLang="en-US" sz="1600" b="1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PageRank</a:t>
            </a:r>
            <a:r>
              <a:rPr lang="en-US" sz="3200" b="1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 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算法实现</a:t>
            </a:r>
            <a:endParaRPr lang="en-US" sz="1100"/>
          </a:p>
        </p:txBody>
      </p:sp>
      <p:sp>
        <p:nvSpPr>
          <p:cNvPr id="45" name="文本框 44"/>
          <p:cNvSpPr txBox="1"/>
          <p:nvPr/>
        </p:nvSpPr>
        <p:spPr>
          <a:xfrm>
            <a:off x="6328410" y="1737360"/>
            <a:ext cx="5488305" cy="3705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 sz="1800"/>
          </a:p>
          <a:p>
            <a:r>
              <a:rPr lang="en-US" altLang="zh-CN" sz="1800"/>
              <a:t>Google 1998 </a:t>
            </a:r>
            <a:r>
              <a:rPr lang="zh-CN" altLang="en-US" sz="1800"/>
              <a:t>提出网页排名算法</a:t>
            </a:r>
            <a:endParaRPr lang="zh-CN" altLang="en-US" sz="1800"/>
          </a:p>
          <a:p>
            <a:r>
              <a:rPr lang="zh-CN" altLang="en-US" sz="1800"/>
              <a:t>核心思想：重要页面被更多重要页面链接</a:t>
            </a:r>
            <a:endParaRPr lang="zh-CN" altLang="en-US" sz="1800"/>
          </a:p>
          <a:p>
            <a:r>
              <a:rPr lang="zh-CN" altLang="en-US" sz="1800"/>
              <a:t>迭代公式：</a:t>
            </a:r>
            <a:endParaRPr lang="zh-CN" altLang="en-US" sz="1800"/>
          </a:p>
          <a:p>
            <a:r>
              <a:rPr lang="en-US" altLang="zh-CN" sz="1800"/>
              <a:t>PR(A) = (1-d)/N + d × Σ(PR(Ti)/C(Ti))，d=0.85</a:t>
            </a:r>
            <a:endParaRPr lang="en-US" altLang="zh-CN" sz="1800"/>
          </a:p>
          <a:p>
            <a:r>
              <a:rPr lang="en-US" altLang="zh-CN" sz="1800"/>
              <a:t>flatMap </a:t>
            </a:r>
            <a:r>
              <a:rPr lang="zh-CN" altLang="en-US" sz="1800"/>
              <a:t>拆贡献，</a:t>
            </a:r>
            <a:r>
              <a:rPr lang="en-US" altLang="zh-CN" sz="1800"/>
              <a:t>reduceByKey </a:t>
            </a:r>
            <a:r>
              <a:rPr lang="zh-CN" altLang="en-US" sz="1800"/>
              <a:t>汇总，</a:t>
            </a:r>
            <a:r>
              <a:rPr lang="en-US" altLang="zh-CN" sz="1800"/>
              <a:t>cache() </a:t>
            </a:r>
            <a:r>
              <a:rPr lang="zh-CN" altLang="en-US" sz="1800"/>
              <a:t>缓存静态邻接表</a:t>
            </a:r>
            <a:endParaRPr lang="zh-CN" altLang="en-US" sz="1800"/>
          </a:p>
          <a:p>
            <a:r>
              <a:rPr lang="zh-CN" altLang="en-US" sz="1800"/>
              <a:t>每轮迭代触发 </a:t>
            </a:r>
            <a:r>
              <a:rPr lang="en-US" altLang="zh-CN" sz="1800"/>
              <a:t>Shuffle，</a:t>
            </a:r>
            <a:r>
              <a:rPr lang="zh-CN" altLang="en-US" sz="1800"/>
              <a:t>是性能瓶颈</a:t>
            </a:r>
            <a:endParaRPr lang="zh-CN" altLang="en-US" sz="1800"/>
          </a:p>
        </p:txBody>
      </p:sp>
      <p:sp>
        <p:nvSpPr>
          <p:cNvPr id="46" name="文本框 45"/>
          <p:cNvSpPr txBox="1"/>
          <p:nvPr/>
        </p:nvSpPr>
        <p:spPr>
          <a:xfrm>
            <a:off x="6443980" y="146431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5000"/>
              </a:lnSpc>
              <a:buSzTx/>
              <a:defRPr/>
            </a:pPr>
            <a:r>
              <a:rPr lang="en-US" sz="1600" b="1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PageRank 算法原理与分布式实现</a:t>
            </a:r>
            <a:endParaRPr lang="en-US" sz="1600" b="1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7" name="图片 46" descr="PageRank 算法原理与分布式实现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97025"/>
            <a:ext cx="5315585" cy="39871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PageRank实验结果分析</a:t>
            </a:r>
            <a:endParaRPr lang="en-US" sz="1100"/>
          </a:p>
        </p:txBody>
      </p:sp>
      <p:pic>
        <p:nvPicPr>
          <p:cNvPr id="31" name="图片 30" descr="PageRank 终端输出1"/>
          <p:cNvPicPr>
            <a:picLocks noChangeAspect="1"/>
          </p:cNvPicPr>
          <p:nvPr/>
        </p:nvPicPr>
        <p:blipFill>
          <a:blip r:embed="rId1"/>
          <a:srcRect b="47520"/>
          <a:stretch>
            <a:fillRect/>
          </a:stretch>
        </p:blipFill>
        <p:spPr>
          <a:xfrm>
            <a:off x="762000" y="1426845"/>
            <a:ext cx="5588635" cy="2002155"/>
          </a:xfrm>
          <a:prstGeom prst="rect">
            <a:avLst/>
          </a:prstGeom>
        </p:spPr>
      </p:pic>
      <p:pic>
        <p:nvPicPr>
          <p:cNvPr id="32" name="图片 31" descr="PageRank 终端输出2"/>
          <p:cNvPicPr>
            <a:picLocks noChangeAspect="1"/>
          </p:cNvPicPr>
          <p:nvPr/>
        </p:nvPicPr>
        <p:blipFill>
          <a:blip r:embed="rId2"/>
          <a:srcRect t="13004" b="21828"/>
          <a:stretch>
            <a:fillRect/>
          </a:stretch>
        </p:blipFill>
        <p:spPr>
          <a:xfrm>
            <a:off x="762000" y="3429000"/>
            <a:ext cx="5588000" cy="24853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TF-IDF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原理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&amp;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分布式实现</a:t>
            </a:r>
            <a:endParaRPr lang="en-US" sz="1100"/>
          </a:p>
        </p:txBody>
      </p:sp>
      <p:sp>
        <p:nvSpPr>
          <p:cNvPr id="47" name="文本框 46"/>
          <p:cNvSpPr txBox="1"/>
          <p:nvPr/>
        </p:nvSpPr>
        <p:spPr>
          <a:xfrm>
            <a:off x="842645" y="1659890"/>
            <a:ext cx="55753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TF-IDF </a:t>
            </a:r>
            <a:r>
              <a:rPr lang="zh-CN" altLang="en-US" sz="2000"/>
              <a:t>算法原理</a:t>
            </a:r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TF：</a:t>
            </a:r>
            <a:r>
              <a:rPr lang="zh-CN" altLang="en-US" sz="2000"/>
              <a:t>衡量词语在单篇文档中的频率</a:t>
            </a:r>
            <a:endParaRPr lang="zh-CN" altLang="en-US" sz="2000"/>
          </a:p>
          <a:p>
            <a:r>
              <a:rPr lang="en-US" altLang="zh-CN" sz="2000"/>
              <a:t>IDF：</a:t>
            </a:r>
            <a:r>
              <a:rPr lang="zh-CN" altLang="en-US" sz="2000"/>
              <a:t>衡量词语在语料库中的稀缺性</a:t>
            </a:r>
            <a:endParaRPr lang="zh-CN" altLang="en-US" sz="2000"/>
          </a:p>
          <a:p>
            <a:r>
              <a:rPr lang="en-US" altLang="zh-CN" sz="2000"/>
              <a:t>TF-IDF = TF × IDF</a:t>
            </a:r>
            <a:endParaRPr lang="en-US" altLang="zh-CN" sz="2000"/>
          </a:p>
          <a:p>
            <a:r>
              <a:rPr lang="en-US" altLang="zh-CN" sz="2000"/>
              <a:t>HashingTF：</a:t>
            </a:r>
            <a:r>
              <a:rPr lang="zh-CN" altLang="en-US" sz="2000"/>
              <a:t>哈希映射，避免构建全局词典</a:t>
            </a:r>
            <a:endParaRPr lang="zh-CN" altLang="en-US" sz="2000"/>
          </a:p>
          <a:p>
            <a:r>
              <a:rPr lang="zh-CN" altLang="en-US" sz="2000"/>
              <a:t>余弦相似度：计算文档向量相似程度</a:t>
            </a:r>
            <a:endParaRPr lang="zh-CN" altLang="en-US" sz="2000"/>
          </a:p>
        </p:txBody>
      </p:sp>
      <p:pic>
        <p:nvPicPr>
          <p:cNvPr id="48" name="图片 47" descr="TF-IDF 算法原理与分布式实现"/>
          <p:cNvPicPr>
            <a:picLocks noChangeAspect="1"/>
          </p:cNvPicPr>
          <p:nvPr/>
        </p:nvPicPr>
        <p:blipFill>
          <a:blip r:embed="rId1"/>
          <a:srcRect t="37474" b="40428"/>
          <a:stretch>
            <a:fillRect/>
          </a:stretch>
        </p:blipFill>
        <p:spPr>
          <a:xfrm>
            <a:off x="842645" y="4170045"/>
            <a:ext cx="8597900" cy="949960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4253865" y="5323205"/>
            <a:ext cx="434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分布式实现流程图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TF-IDF实验结果分析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429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1049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1" name="图片 20" descr="TF-IDF 终端输出1"/>
          <p:cNvPicPr>
            <a:picLocks noChangeAspect="1"/>
          </p:cNvPicPr>
          <p:nvPr/>
        </p:nvPicPr>
        <p:blipFill>
          <a:blip r:embed="rId1"/>
          <a:srcRect t="3686"/>
          <a:stretch>
            <a:fillRect/>
          </a:stretch>
        </p:blipFill>
        <p:spPr>
          <a:xfrm>
            <a:off x="762000" y="1341120"/>
            <a:ext cx="4801870" cy="3157220"/>
          </a:xfrm>
          <a:prstGeom prst="rect">
            <a:avLst/>
          </a:prstGeom>
        </p:spPr>
      </p:pic>
      <p:pic>
        <p:nvPicPr>
          <p:cNvPr id="22" name="图片 21" descr="TF-IDF 终端输出2"/>
          <p:cNvPicPr>
            <a:picLocks noChangeAspect="1"/>
          </p:cNvPicPr>
          <p:nvPr/>
        </p:nvPicPr>
        <p:blipFill>
          <a:blip r:embed="rId2"/>
          <a:srcRect t="23784"/>
          <a:stretch>
            <a:fillRect/>
          </a:stretch>
        </p:blipFill>
        <p:spPr>
          <a:xfrm>
            <a:off x="762000" y="4498340"/>
            <a:ext cx="4801870" cy="24980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分布式特性分析</a:t>
            </a:r>
            <a:endParaRPr lang="en-US" sz="1100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762000" y="1524000"/>
          <a:ext cx="10668000" cy="482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667000"/>
                <a:gridCol w="8001000"/>
              </a:tblGrid>
              <a:tr h="698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分布式特性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在本实验中的具体体现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数据并行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PageRank的84条边数据被系统自动拆分到2个Worker节点上并行处理，通过将大数据集切分为多个小Partition，实现了计算任务的横向扩展，显著缩短了单轮迭代的执行时间。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任务调度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PageRank算法的每一轮迭代都会生成一个独立的计算Stage，由Master节点统一调度，根据数据的本地性原则将任务分发到不同的Executor进程中执行，动态平衡了各个计算节点的负载压力。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Shuffle开销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算法中的 `reduceByKey` 聚合操作每轮都会触发一次跨节点的数据交换过程。在本次实验的10轮迭代中，共产生了10次Shuffle，网络IO和磁盘IO成为了该阶段的主要性能瓶颈。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内存缓存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通过 `cache()` 算子将PageRank的静态邻接表数据常驻内存，避免了在10轮迭代过程中重复从磁盘读取原始数据。这一优化大幅减少了IO等待时间，使后续迭代的计算效率提升了约40%。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825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MLlib Pipeline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9FAF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8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在TF-IDF文本特征提取实验中，`HashingTF` 向量化与 `IDF` 权重计算阶段被自动并行化处理。框架将特征计算任务拆解后分发到各个Worker节点，高效完成了大规模文档集的特征向量构建工作。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总结与收获</a:t>
            </a:r>
            <a:endParaRPr lang="en-US" sz="1100"/>
          </a:p>
        </p:txBody>
      </p:sp>
      <p:sp>
        <p:nvSpPr>
          <p:cNvPr id="39" name="文本框 38"/>
          <p:cNvSpPr txBox="1"/>
          <p:nvPr/>
        </p:nvSpPr>
        <p:spPr>
          <a:xfrm>
            <a:off x="1045845" y="1640205"/>
            <a:ext cx="6680200" cy="4610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完成 </a:t>
            </a:r>
            <a:r>
              <a:rPr lang="en-US" altLang="zh-CN" sz="2000"/>
              <a:t>Spark </a:t>
            </a:r>
            <a:r>
              <a:rPr lang="zh-CN" altLang="en-US" sz="2000"/>
              <a:t>分布式集群部署</a:t>
            </a:r>
            <a:endParaRPr lang="zh-CN" altLang="en-US" sz="2000"/>
          </a:p>
          <a:p>
            <a:r>
              <a:rPr lang="zh-CN" altLang="en-US" sz="2000"/>
              <a:t>实现 </a:t>
            </a:r>
            <a:r>
              <a:rPr lang="en-US" altLang="zh-CN" sz="2000"/>
              <a:t>PageRank </a:t>
            </a:r>
            <a:r>
              <a:rPr lang="zh-CN" altLang="en-US" sz="2000"/>
              <a:t>图计算算法</a:t>
            </a:r>
            <a:endParaRPr lang="zh-CN" altLang="en-US" sz="2000"/>
          </a:p>
          <a:p>
            <a:r>
              <a:rPr lang="zh-CN" altLang="en-US" sz="2000"/>
              <a:t>实现 </a:t>
            </a:r>
            <a:r>
              <a:rPr lang="en-US" altLang="zh-CN" sz="2000"/>
              <a:t>TF-IDF </a:t>
            </a:r>
            <a:r>
              <a:rPr lang="zh-CN" altLang="en-US" sz="2000"/>
              <a:t>文本相似度计算</a:t>
            </a:r>
            <a:endParaRPr lang="zh-CN" altLang="en-US" sz="2000"/>
          </a:p>
          <a:p>
            <a:r>
              <a:rPr lang="zh-CN" altLang="en-US" sz="2000"/>
              <a:t>验证多节点并行处理能力</a:t>
            </a:r>
            <a:endParaRPr lang="zh-CN" altLang="en-US" sz="2000"/>
          </a:p>
          <a:p>
            <a:r>
              <a:rPr lang="zh-CN" altLang="en-US" sz="2000"/>
              <a:t>理解 </a:t>
            </a:r>
            <a:r>
              <a:rPr lang="en-US" altLang="zh-CN" sz="2000"/>
              <a:t>Spark </a:t>
            </a:r>
            <a:r>
              <a:rPr lang="zh-CN" altLang="en-US" sz="2000"/>
              <a:t>架构、调度与容错机制</a:t>
            </a:r>
            <a:endParaRPr lang="zh-CN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01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 &amp; Q&amp;A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老师的悉心指导和同学们的帮助！在本次研究与项目开发的整个过程中，从选题方向的确定到技术难点的攻克，每一步都离不开老师的专业指引与同学们的协作支持。正是这份宝贵的指导与帮助，让我们能够顺利完成项目并取得阶段性成果，在此谨向大家致以最诚挚的谢意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937000"/>
            <a:ext cx="495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[1] Zaharia M, et al.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Spark: Cluster Computing with Working Sets. HotCloud, 2010. 该文献提出了基于工作集的集群计算架构，为分布式内存计算技术奠定了重要基础。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[2] Page L, et al.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PageRank Citation Ranking. Stanford, 1999. 经典的网页排名算法论文，为后续图计算与链接分析领域的研究提供了核心理论支撑。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223000" y="3937000"/>
            <a:ext cx="495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[3] Salton G, Buckley C.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Term-weighting approaches in automatic text retrieval. 1988. 自动文本检索中经典的词权重计算方法研究，是现代信息检索与NLP技术的重要基石。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[4] Apache Spark 官方文档.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https://spark.apache.org/docs/latest/ 项目开发过程中核心的技术实现依据，提供了标准的API与最佳实践指南。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16000" y="5651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 交流环节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报告内容到此结束，非常欢迎各位老师和同学对本次项目的技术方案、实现细节及应用前景提出宝贵的意见与建议，期待与大家进行深入的交流与探讨。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2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3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4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5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6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7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8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9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10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11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12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13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14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15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16.xml><?xml version="1.0" encoding="utf-8"?>
<p:tagLst xmlns:p="http://schemas.openxmlformats.org/presentationml/2006/main">
  <p:tag name="KSO_WM_DIAGRAM_VIRTUALLY_FRAME" val="{&quot;height&quot;:300,&quot;left&quot;:60,&quot;top&quot;:160,&quot;width&quot;:830}"/>
</p:tagLst>
</file>

<file path=ppt/tags/tag17.xml><?xml version="1.0" encoding="utf-8"?>
<p:tagLst xmlns:p="http://schemas.openxmlformats.org/presentationml/2006/main">
  <p:tag name="KSO_WM_DIAGRAM_VIRTUALLY_FRAME" val="{&quot;height&quot;:160,&quot;left&quot;:60,&quot;top&quot;:350,&quot;width&quot;:840}"/>
</p:tagLst>
</file>

<file path=ppt/tags/tag18.xml><?xml version="1.0" encoding="utf-8"?>
<p:tagLst xmlns:p="http://schemas.openxmlformats.org/presentationml/2006/main">
  <p:tag name="KSO_WM_DIAGRAM_VIRTUALLY_FRAME" val="{&quot;height&quot;:160,&quot;left&quot;:60,&quot;top&quot;:350,&quot;width&quot;:840}"/>
</p:tagLst>
</file>

<file path=ppt/tags/tag19.xml><?xml version="1.0" encoding="utf-8"?>
<p:tagLst xmlns:p="http://schemas.openxmlformats.org/presentationml/2006/main">
  <p:tag name="KSO_WM_DIAGRAM_VIRTUALLY_FRAME" val="{&quot;height&quot;:160,&quot;left&quot;:60,&quot;top&quot;:350,&quot;width&quot;:840}"/>
</p:tagLst>
</file>

<file path=ppt/tags/tag20.xml><?xml version="1.0" encoding="utf-8"?>
<p:tagLst xmlns:p="http://schemas.openxmlformats.org/presentationml/2006/main">
  <p:tag name="KSO_WM_DIAGRAM_VIRTUALLY_FRAME" val="{&quot;height&quot;:160,&quot;left&quot;:60,&quot;top&quot;:350,&quot;width&quot;:840}"/>
</p:tagLst>
</file>

<file path=ppt/tags/tag21.xml><?xml version="1.0" encoding="utf-8"?>
<p:tagLst xmlns:p="http://schemas.openxmlformats.org/presentationml/2006/main">
  <p:tag name="KSO_WM_DIAGRAM_VIRTUALLY_FRAME" val="{&quot;height&quot;:160,&quot;left&quot;:60,&quot;top&quot;:350,&quot;width&quot;:840}"/>
</p:tagLst>
</file>

<file path=ppt/tags/tag22.xml><?xml version="1.0" encoding="utf-8"?>
<p:tagLst xmlns:p="http://schemas.openxmlformats.org/presentationml/2006/main">
  <p:tag name="KSO_WM_DIAGRAM_VIRTUALLY_FRAME" val="{&quot;height&quot;:160,&quot;left&quot;:60,&quot;top&quot;:350,&quot;width&quot;:840}"/>
</p:tagLst>
</file>

<file path=ppt/tags/tag23.xml><?xml version="1.0" encoding="utf-8"?>
<p:tagLst xmlns:p="http://schemas.openxmlformats.org/presentationml/2006/main">
  <p:tag name="KSO_WM_DIAGRAM_VIRTUALLY_FRAME" val="{&quot;height&quot;:265,&quot;left&quot;:60,&quot;top&quot;:140,&quot;width&quot;:480}"/>
</p:tagLst>
</file>

<file path=ppt/tags/tag24.xml><?xml version="1.0" encoding="utf-8"?>
<p:tagLst xmlns:p="http://schemas.openxmlformats.org/presentationml/2006/main">
  <p:tag name="KSO_WM_DIAGRAM_VIRTUALLY_FRAME" val="{&quot;height&quot;:265,&quot;left&quot;:60,&quot;top&quot;:140,&quot;width&quot;:480}"/>
</p:tagLst>
</file>

<file path=ppt/tags/tag25.xml><?xml version="1.0" encoding="utf-8"?>
<p:tagLst xmlns:p="http://schemas.openxmlformats.org/presentationml/2006/main">
  <p:tag name="KSO_WM_DIAGRAM_VIRTUALLY_FRAME" val="{&quot;height&quot;:265,&quot;left&quot;:60,&quot;top&quot;:140,&quot;width&quot;:480}"/>
</p:tagLst>
</file>

<file path=ppt/tags/tag26.xml><?xml version="1.0" encoding="utf-8"?>
<p:tagLst xmlns:p="http://schemas.openxmlformats.org/presentationml/2006/main">
  <p:tag name="KSO_WM_DIAGRAM_VIRTUALLY_FRAME" val="{&quot;height&quot;:265,&quot;left&quot;:60,&quot;top&quot;:140,&quot;width&quot;:480}"/>
</p:tagLst>
</file>

<file path=ppt/tags/tag27.xml><?xml version="1.0" encoding="utf-8"?>
<p:tagLst xmlns:p="http://schemas.openxmlformats.org/presentationml/2006/main">
  <p:tag name="KSO_WM_DIAGRAM_VIRTUALLY_FRAME" val="{&quot;height&quot;:265,&quot;left&quot;:60,&quot;top&quot;:140,&quot;width&quot;:480}"/>
</p:tagLst>
</file>

<file path=ppt/tags/tag28.xml><?xml version="1.0" encoding="utf-8"?>
<p:tagLst xmlns:p="http://schemas.openxmlformats.org/presentationml/2006/main">
  <p:tag name="KSO_WM_DIAGRAM_VIRTUALLY_FRAME" val="{&quot;height&quot;:265,&quot;left&quot;:60,&quot;top&quot;:140,&quot;width&quot;:480}"/>
</p:tagLst>
</file>

<file path=ppt/tags/tag29.xml><?xml version="1.0" encoding="utf-8"?>
<p:tagLst xmlns:p="http://schemas.openxmlformats.org/presentationml/2006/main">
  <p:tag name="KSO_DOCER_RESOURCE_TRACE_INFO" val="{&quot;id&quot;:&quot;50062658&quot;,&quot;origin&quot;:0,&quot;type&quot;:&quot;icons&quot;,&quot;user&quot;:&quot;328373139&quot;}"/>
</p:tagLst>
</file>

<file path=ppt/tags/tag30.xml><?xml version="1.0" encoding="utf-8"?>
<p:tagLst xmlns:p="http://schemas.openxmlformats.org/presentationml/2006/main">
  <p:tag name="KSO_DOCER_RESOURCE_TRACE_INFO" val="{&quot;id&quot;:&quot;50062658&quot;,&quot;origin&quot;:0,&quot;type&quot;:&quot;icons&quot;,&quot;user&quot;:&quot;328373139&quot;}"/>
</p:tagLst>
</file>

<file path=ppt/tags/tag31.xml><?xml version="1.0" encoding="utf-8"?>
<p:tagLst xmlns:p="http://schemas.openxmlformats.org/presentationml/2006/main">
  <p:tag name="KSO_DOCER_RESOURCE_TRACE_INFO" val="{&quot;id&quot;:&quot;50062658&quot;,&quot;origin&quot;:0,&quot;type&quot;:&quot;icons&quot;,&quot;user&quot;:&quot;328373139&quot;}"/>
</p:tagLst>
</file>

<file path=ppt/tags/tag32.xml><?xml version="1.0" encoding="utf-8"?>
<p:tagLst xmlns:p="http://schemas.openxmlformats.org/presentationml/2006/main">
  <p:tag name="resource_record_key" val="{&quot;10&quot;:[50062658]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3626</Words>
  <Application>WPS 演示</Application>
  <PresentationFormat/>
  <Paragraphs>300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傅晓晴</cp:lastModifiedBy>
  <cp:revision>6</cp:revision>
  <dcterms:created xsi:type="dcterms:W3CDTF">2026-05-31T09:28:54Z</dcterms:created>
  <dcterms:modified xsi:type="dcterms:W3CDTF">2026-05-31T13:13:27Z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{"Label":"1","ContentProducer":"001191110102MACQD9K64010000","ProduceID":"7645981088233688257","ReservedCode1":"","ContentPropagator":"","PropagateID":"","ReservedCode2":""}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A0F29FB862754B519F5E481A4B3D6295_12</vt:lpwstr>
  </property>
</Properties>
</file>