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Override PartName="/docProps/custom.xml" ContentType="application/vnd.openxmlformats-officedocument.custom-propertie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 Id="rId3"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Lst>
  <p:sldSz cx="12192000" cy="6858000"/>
  <p:notesSz cx="6858000" cy="9144000"/>
  <p:defaultTextStyle>
    <a:defPPr lvl="0" marR="0" rtl="0" algn="l">
      <a:lnSpc>
        <a:spcPct val="100000"/>
      </a:lnSpc>
      <a:spcBef>
        <a:spcPts val="0"/>
      </a:spcBef>
      <a:spcAft>
        <a:spcPts val="0"/>
      </a:spcAft>
    </a:defPPr>
    <a:lvl1pPr lvl="0" marR="0" rtl="0" algn="l" marL="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marL="457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marL="914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marL="1371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marL="18288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marL="22860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marL="2743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marL="3200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marL="3657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slides/slide13.xml" Type="http://schemas.openxmlformats.org/officeDocument/2006/relationships/slide"/><Relationship Id="rId22" Target="slides/slide14.xml" Type="http://schemas.openxmlformats.org/officeDocument/2006/relationships/slide"/><Relationship Id="rId23" Target="slides/slide15.xml" Type="http://schemas.openxmlformats.org/officeDocument/2006/relationships/slide"/><Relationship Id="rId24" Target="slides/slide16.xml" Type="http://schemas.openxmlformats.org/officeDocument/2006/relationships/slide"/><Relationship Id="rId25" Target="slides/slide17.xml" Type="http://schemas.openxmlformats.org/officeDocument/2006/relationships/slide"/><Relationship Id="rId26" Target="slides/slide18.xml" Type="http://schemas.openxmlformats.org/officeDocument/2006/relationships/slide"/><Relationship Id="rId27" Target="slides/slide19.xml" Type="http://schemas.openxmlformats.org/officeDocument/2006/relationships/slide"/><Relationship Id="rId28" Target="notesSlides/notesSlide1.xml" Type="http://schemas.openxmlformats.org/officeDocument/2006/relationships/notesSlide"/><Relationship Id="rId29" Target="notesSlides/notesSlide2.xml" Type="http://schemas.openxmlformats.org/officeDocument/2006/relationships/notesSlide"/><Relationship Id="rId3" Target="presProps.xml" Type="http://schemas.openxmlformats.org/officeDocument/2006/relationships/presProps"/><Relationship Id="rId30" Target="notesSlides/notesSlide3.xml" Type="http://schemas.openxmlformats.org/officeDocument/2006/relationships/notesSlide"/><Relationship Id="rId31" Target="notesSlides/notesSlide4.xml" Type="http://schemas.openxmlformats.org/officeDocument/2006/relationships/notesSlide"/><Relationship Id="rId32" Target="notesSlides/notesSlide5.xml" Type="http://schemas.openxmlformats.org/officeDocument/2006/relationships/notesSlide"/><Relationship Id="rId33" Target="notesSlides/notesSlide6.xml" Type="http://schemas.openxmlformats.org/officeDocument/2006/relationships/notesSlide"/><Relationship Id="rId34" Target="notesSlides/notesSlide7.xml" Type="http://schemas.openxmlformats.org/officeDocument/2006/relationships/notesSlide"/><Relationship Id="rId35" Target="notesSlides/notesSlide8.xml" Type="http://schemas.openxmlformats.org/officeDocument/2006/relationships/notesSlide"/><Relationship Id="rId36" Target="notesSlides/notesSlide9.xml" Type="http://schemas.openxmlformats.org/officeDocument/2006/relationships/notesSlide"/><Relationship Id="rId37" Target="notesSlides/notesSlide10.xml" Type="http://schemas.openxmlformats.org/officeDocument/2006/relationships/notesSlide"/><Relationship Id="rId38" Target="notesSlides/notesSlide11.xml" Type="http://schemas.openxmlformats.org/officeDocument/2006/relationships/notesSlide"/><Relationship Id="rId39" Target="notesSlides/notesSlide12.xml" Type="http://schemas.openxmlformats.org/officeDocument/2006/relationships/notesSlide"/><Relationship Id="rId4" Target="slideMasters/slideMaster1.xml" Type="http://schemas.openxmlformats.org/officeDocument/2006/relationships/slideMaster"/><Relationship Id="rId40" Target="notesSlides/notesSlide13.xml" Type="http://schemas.openxmlformats.org/officeDocument/2006/relationships/notesSlide"/><Relationship Id="rId41" Target="notesSlides/notesSlide14.xml" Type="http://schemas.openxmlformats.org/officeDocument/2006/relationships/notesSlide"/><Relationship Id="rId42" Target="notesSlides/notesSlide15.xml" Type="http://schemas.openxmlformats.org/officeDocument/2006/relationships/notesSlide"/><Relationship Id="rId43" Target="notesSlides/notesSlide16.xml" Type="http://schemas.openxmlformats.org/officeDocument/2006/relationships/notesSlide"/><Relationship Id="rId44" Target="notesSlides/notesSlide17.xml" Type="http://schemas.openxmlformats.org/officeDocument/2006/relationships/notesSlide"/><Relationship Id="rId45" Target="notesSlides/notesSlide18.xml" Type="http://schemas.openxmlformats.org/officeDocument/2006/relationships/notesSlide"/><Relationship Id="rId46" Target="notesSlides/notesSlide19.xml" Type="http://schemas.openxmlformats.org/officeDocument/2006/relationships/notesSlide"/><Relationship Id="rId6" Target="notesMasters/notesMaster1.xml" Type="http://schemas.openxmlformats.org/officeDocument/2006/relationships/notesMaster"/><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大家好，今天我将为大家汇报我的课程实践——基于Apache Spark的分布式计算实验。本次实验旨在通过部署Spark集群并实现经典分布式算法，来深入理解分布式计算的原理与实践。</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本次汇报将分为八个部分。首先介绍选题背景与目标，然后是Apache Spark的简介和我们设计的系统架构。接着，我会讲解环境部署过程，并详细介绍PageRank和TF-IDF两个算法的实现。之后是实验结果分析，最后进行总结与展望。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我们正处在大数据时代，数据量的飞速增长使得传统的单机计算模式难以应对。分布式计算应运而生，它通过将任务分解到多个节点并行处理，极大地提升了计算能力。本次实验的目标就是亲自动手部署一个Spark集群，并用它来实现PageRank和TF-IDF这两个经典算法，从而验证分布式计算的强大能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Apache Spark是目前最主流的大数据处理框架之一。它最大的特点是内存计算，这使得它的处理速度远超传统的MapReduce。Spark不仅支持批处理，还集成了流处理、机器学习库MLlib和图计算库GraphX，形成了一个强大的生态系统。其核心是RDD，即弹性分布式数据集，这是我们进行编程的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理解Spark的核心概念至关重要。RDD是其核心抽象，它代表一个分布式的、不可变的数据集合。Spark的操作分为两类：Transformation和Action。Transformation是惰性的，只有当遇到Action时，才会触发真正的计算。Spark会将这些操作串联成一个DAG图进行优化，其中最耗时的Shuffle过程，是我们需要重点关注和优化的地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我们的系统架构采用了经典的Master-Worker模式。一个Master节点作为大脑，负责调度和管理；两个Worker节点作为手脚，负责执行任务。所有节点都通过Docker容器化部署，彼此通过虚拟网络通信，这不仅保证了环境的一致性，也便于快速部署和扩展。</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为了高效地部署集群，我们采用了Docker和Docker Compose。我们自己构建了包含所有必要组件的Spark镜像，然后通过一个docker-compose.yml文件来定义整个集群的服务。这样，我们只需要运行一条命令，就能快速启动一个包含1个Master和2个Worker的集群，大大简化了实验准备工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集群启动后，我们通过访问Master节点的Web UI来验证部署是否成功。从截图中可以看到，两个Worker节点已经成功连接，状态为ALIVE，集群总共有4个核心和2GB内存，并且当前没有任务在运行。这表明我们的Spark集群已经准备就绪。</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接下来我们来看第一个算法：PageRank。这个算法的核心思想非常直观，就是“重要的人认可你，你就更重要”。在图中，一个节点的PageRank值由所有指向它的节点的PageRank值决定。通过不断迭代计算，最终可以得到每个节点的稳定排名。</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在Spark中实现PageRank，我们遵循一个清晰的流程。首先读取数据并构建邻接表，然后初始化每个节点的Rank值。接着进行多次迭代，每次迭代都包括连接、计算贡献、汇总和更新四个步骤。其中，flatMap和reduceByKey的组合是实现并行计算的关键，而cache操作则是优化性能的重要手段。</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我们使用一个包含20个节点的测试图进行实验。经过10次迭代，算法在8.95秒内完成。结果显示，节点G的PageRank值最高，排名第一。值得注意的是，所有节点的PageRank值总和为1，这验证了我们算法实现的正确性。右侧的模拟终端窗口展示了程序运行的关键输出信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第二个算法是TF-IDF，它用于文本分析。这个算法的核心思想是，一个词如果在一篇文章里频繁出现，但在其他文章里很少见，那么它很可能就是这篇文章的核心关键词。通过计算TF-IDF值，我们可以提取文档的特征，并进一步利用余弦相似度来衡量文档之间的相似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在Spark中实现TF-IDF，我们充分利用了其MLlib库。流程包括分布式读取文件、文本预处理、以及使用MLlib的Pipeline进行TF-IDF计算。整个过程都是分布式的。特别是HashingTF的使用，它巧妙地解决了大规模数据下词典构建的难题，使得算法可以轻松扩展。</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我们使用6篇不同主题的英文文档进行测试。算法运行耗时11.39秒。结果显示，主题最相关的“机器学习”和“神经网络”文档相似度最高，达到了0.1854。这表明我们的TF-IDF实现成功地捕捉到了文档的核心主题，是有效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为了验证我们的任务确实是分布式执行的，我们可以通过Spark的Web UI进行监控。这张截图显示，当PageRank任务运行时，有一个应用正在运行，并且两个Worker节点的CPU和内存资源都被充分利用。这直观地证明了我们的集群正在并行处理任务。</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总结一下，通过这次实验，我们亲身感受了分布式计算的几个核心特性。包括数据并行处理、Master对任务的智能调度、基于RDD血统的容错机制，以及良好的可扩展性。同时，我们也观察到了Shuffle操作带来的性能开销，这是未来优化的重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最后，对本次实验进行总结。我们成功部署了Spark集群，并实现了PageRank和TF-IDF两个算法，验证了分布式计算的并行能力。整个过程让我对Spark的架构、编程模型以及性能瓶颈有了更深刻的理解，收获颇丰。</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展望未来，这个实验还有很多可以扩展的方向。比如，我们可以增加更多节点来测试集群的线性扩展能力，或者使用更大规模的真实数据。此外，还可以对比Spark和MapReduce的性能，或者探索Spark Streaming在实时处理领域的应用。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我的汇报到此结束，感谢各位老师和同学的聆听。如果大家有任何问题，欢迎提问。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2" Target="../slideLayouts/slideLayout12.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jpeg" Type="http://schemas.openxmlformats.org/officeDocument/2006/relationships/image"/><Relationship Id="rId3"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3.jpeg" Type="http://schemas.openxmlformats.org/officeDocument/2006/relationships/image"/><Relationship Id="rId4"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4.jpeg" Type="http://schemas.openxmlformats.org/officeDocument/2006/relationships/image"/><Relationship Id="rId3"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5.jpeg" Type="http://schemas.openxmlformats.org/officeDocument/2006/relationships/image"/><Relationship Id="rId3"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6.jpeg" Type="http://schemas.openxmlformats.org/officeDocument/2006/relationships/image"/><Relationship Id="rId3"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3.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4.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5.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6.xml" Type="http://schemas.openxmlformats.org/officeDocument/2006/relationships/notesSlide"/></Relationships>
</file>

<file path=ppt/slides/_rels/slide17.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7.xml" Type="http://schemas.openxmlformats.org/officeDocument/2006/relationships/notesSlide"/></Relationships>
</file>

<file path=ppt/slides/_rels/slide18.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8.xml" Type="http://schemas.openxmlformats.org/officeDocument/2006/relationships/notesSlide"/></Relationships>
</file>

<file path=ppt/slides/_rels/slide19.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7.jpeg" Type="http://schemas.openxmlformats.org/officeDocument/2006/relationships/image"/><Relationship Id="rId3" Target="../notesSlides/notesSlide19.xml" Type="http://schemas.openxmlformats.org/officeDocument/2006/relationships/notesSlide"/><Relationship Id="rId4" Target="../media/image8.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2540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600">
                <a:solidFill>
                  <a:srgbClr val="3B82F6"/>
                </a:solidFill>
                <a:latin typeface="Noto Sans SC"/>
                <a:ea typeface="Noto Sans SC"/>
                <a:cs typeface="Noto Sans SC"/>
                <a:sym typeface="Noto Sans SC"/>
              </a:rPr>
              <a:t>基于 Apache Spark 的分布式计算实验</a:t>
            </a:r>
            <a:endParaRPr lang="en-US" sz="1100"/>
          </a:p>
        </p:txBody>
      </p:sp>
      <p:sp>
        <p:nvSpPr>
          <p:cNvPr name="AutoShape 3" id="3"/>
          <p:cNvSpPr/>
          <p:nvPr/>
        </p:nvSpPr>
        <p:spPr>
          <a:xfrm rot="0" flipH="false" flipV="false">
            <a:off x="762000" y="3683000"/>
            <a:ext cx="10668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800">
                <a:solidFill>
                  <a:srgbClr val="1F2937"/>
                </a:solidFill>
                <a:latin typeface="Noto Sans SC"/>
                <a:ea typeface="Noto Sans SC"/>
                <a:cs typeface="Noto Sans SC"/>
                <a:sym typeface="Noto Sans SC"/>
              </a:rPr>
              <a:t>典型分布式（云）技术及系统 · 课程实践</a:t>
            </a:r>
            <a:endParaRPr lang="en-US" sz="1100"/>
          </a:p>
        </p:txBody>
      </p:sp>
      <p:sp>
        <p:nvSpPr>
          <p:cNvPr name="AutoShape 4" id="4"/>
          <p:cNvSpPr/>
          <p:nvPr/>
        </p:nvSpPr>
        <p:spPr>
          <a:xfrm rot="0" flipH="false" flipV="false">
            <a:off x="762000" y="4826000"/>
            <a:ext cx="508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600">
                <a:solidFill>
                  <a:srgbClr val="1F2937"/>
                </a:solidFill>
                <a:latin typeface="Noto Sans SC"/>
                <a:ea typeface="Noto Sans SC"/>
                <a:cs typeface="Noto Sans SC"/>
                <a:sym typeface="Noto Sans SC"/>
              </a:rPr>
              <a:t>汇报人：[你的姓名]</a:t>
            </a:r>
            <a:endParaRPr lang="en-US" sz="1100"/>
          </a:p>
        </p:txBody>
      </p:sp>
      <p:sp>
        <p:nvSpPr>
          <p:cNvPr name="AutoShape 5" id="5"/>
          <p:cNvSpPr/>
          <p:nvPr/>
        </p:nvSpPr>
        <p:spPr>
          <a:xfrm rot="0" flipH="false" flipV="false">
            <a:off x="762000" y="5334000"/>
            <a:ext cx="508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600">
                <a:solidFill>
                  <a:srgbClr val="1F2937"/>
                </a:solidFill>
                <a:latin typeface="Noto Sans SC"/>
                <a:ea typeface="Noto Sans SC"/>
                <a:cs typeface="Noto Sans SC"/>
                <a:sym typeface="Noto Sans SC"/>
              </a:rPr>
              <a:t>学　号：[你的学号]</a:t>
            </a:r>
            <a:endParaRPr lang="en-US" sz="1100"/>
          </a:p>
        </p:txBody>
      </p:sp>
      <p:sp>
        <p:nvSpPr>
          <p:cNvPr name="AutoShape 6" id="6"/>
          <p:cNvSpPr/>
          <p:nvPr/>
        </p:nvSpPr>
        <p:spPr>
          <a:xfrm rot="0" flipH="false" flipV="false">
            <a:off x="762000" y="5842000"/>
            <a:ext cx="508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600">
                <a:solidFill>
                  <a:srgbClr val="1F2937"/>
                </a:solidFill>
                <a:latin typeface="Noto Sans SC"/>
                <a:ea typeface="Noto Sans SC"/>
                <a:cs typeface="Noto Sans SC"/>
                <a:sym typeface="Noto Sans SC"/>
              </a:rPr>
              <a:t>日　期：2026年5月27日</a:t>
            </a:r>
            <a:endParaRPr lang="en-US" sz="1100"/>
          </a:p>
        </p:txBody>
      </p:sp>
      <p:pic>
        <p:nvPicPr>
          <p:cNvPr name="Picture 7" id="7"/>
          <p:cNvPicPr>
            <a:picLocks noChangeAspect="true"/>
          </p:cNvPicPr>
          <p:nvPr/>
        </p:nvPicPr>
        <p:blipFill>
          <a:blip r:embed="rId2"/>
          <a:srcRect l="0" r="0" t="838" b="838"/>
          <a:stretch>
            <a:fillRect/>
          </a:stretch>
        </p:blipFill>
        <p:spPr>
          <a:xfrm rot="0" flipH="false" flipV="false">
            <a:off x="9906000" y="5588000"/>
            <a:ext cx="1524000" cy="850900"/>
          </a:xfrm>
          <a:prstGeom prst="rect">
            <a:avLst/>
          </a:prstGeom>
          <a:noFill/>
          <a:ln w="25400" cmpd="sng" cap="flat">
            <a:noFill/>
            <a:prstDash val="solid"/>
            <a:round/>
          </a:ln>
        </p:spPr>
      </p:pic>
    </p:spTree>
  </p:cSld>
  <p:clrMapOvr>
    <a:masterClrMapping/>
  </p:clrMapOvr>
</p:sld>
</file>

<file path=ppt/slides/slide2.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762000"/>
            <a:ext cx="1905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1F2937"/>
                </a:solidFill>
                <a:latin typeface="Noto Sans SC"/>
                <a:ea typeface="Noto Sans SC"/>
                <a:cs typeface="Noto Sans SC"/>
                <a:sym typeface="Noto Sans SC"/>
              </a:rPr>
              <a:t>目录</a:t>
            </a:r>
            <a:endParaRPr lang="en-US" sz="1100"/>
          </a:p>
        </p:txBody>
      </p:sp>
      <p:sp>
        <p:nvSpPr>
          <p:cNvPr name="AutoShape 3" id="3"/>
          <p:cNvSpPr/>
          <p:nvPr/>
        </p:nvSpPr>
        <p:spPr>
          <a:xfrm rot="0" flipH="false" flipV="false">
            <a:off x="762000" y="2032000"/>
            <a:ext cx="50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3B82F6"/>
                </a:solidFill>
                <a:latin typeface="Noto Sans SC"/>
                <a:ea typeface="Noto Sans SC"/>
                <a:cs typeface="Noto Sans SC"/>
                <a:sym typeface="Noto Sans SC"/>
              </a:rPr>
              <a:t>01</a:t>
            </a:r>
            <a:endParaRPr lang="en-US" sz="1100"/>
          </a:p>
        </p:txBody>
      </p:sp>
      <p:sp>
        <p:nvSpPr>
          <p:cNvPr name="AutoShape 4" id="4"/>
          <p:cNvSpPr/>
          <p:nvPr/>
        </p:nvSpPr>
        <p:spPr>
          <a:xfrm rot="0" flipH="false" flipV="false">
            <a:off x="1397000" y="2057400"/>
            <a:ext cx="4318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1F2937"/>
                </a:solidFill>
                <a:latin typeface="Noto Sans SC"/>
                <a:ea typeface="Noto Sans SC"/>
                <a:cs typeface="Noto Sans SC"/>
                <a:sym typeface="Noto Sans SC"/>
              </a:rPr>
              <a:t>选题背景与目标</a:t>
            </a:r>
            <a:endParaRPr lang="en-US" sz="1100"/>
          </a:p>
        </p:txBody>
      </p:sp>
      <p:sp>
        <p:nvSpPr>
          <p:cNvPr name="AutoShape 5" id="5"/>
          <p:cNvSpPr/>
          <p:nvPr/>
        </p:nvSpPr>
        <p:spPr>
          <a:xfrm rot="0" flipH="false" flipV="false">
            <a:off x="1397000" y="2413000"/>
            <a:ext cx="4318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6B7280"/>
                </a:solidFill>
                <a:latin typeface="Noto Sans SC"/>
                <a:ea typeface="Noto Sans SC"/>
                <a:cs typeface="Noto Sans SC"/>
                <a:sym typeface="Noto Sans SC"/>
              </a:rPr>
              <a:t>大数据时代数据处理面临的严峻挑战，以及本课题旨在解决的核心问题与研究价值。</a:t>
            </a:r>
            <a:endParaRPr lang="en-US" sz="1100"/>
          </a:p>
        </p:txBody>
      </p:sp>
      <p:sp>
        <p:nvSpPr>
          <p:cNvPr name="AutoShape 6" id="6"/>
          <p:cNvSpPr/>
          <p:nvPr/>
        </p:nvSpPr>
        <p:spPr>
          <a:xfrm rot="0" flipH="false" flipV="false">
            <a:off x="6350000" y="2032000"/>
            <a:ext cx="50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3B82F6"/>
                </a:solidFill>
                <a:latin typeface="Noto Sans SC"/>
                <a:ea typeface="Noto Sans SC"/>
                <a:cs typeface="Noto Sans SC"/>
                <a:sym typeface="Noto Sans SC"/>
              </a:rPr>
              <a:t>02</a:t>
            </a:r>
            <a:endParaRPr lang="en-US" sz="1100"/>
          </a:p>
        </p:txBody>
      </p:sp>
      <p:sp>
        <p:nvSpPr>
          <p:cNvPr name="AutoShape 7" id="7"/>
          <p:cNvSpPr/>
          <p:nvPr/>
        </p:nvSpPr>
        <p:spPr>
          <a:xfrm rot="0" flipH="false" flipV="false">
            <a:off x="6985000" y="2057400"/>
            <a:ext cx="4318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1F2937"/>
                </a:solidFill>
                <a:latin typeface="Noto Sans SC"/>
                <a:ea typeface="Noto Sans SC"/>
                <a:cs typeface="Noto Sans SC"/>
                <a:sym typeface="Noto Sans SC"/>
              </a:rPr>
              <a:t>Apache Spark 简介</a:t>
            </a:r>
            <a:endParaRPr lang="en-US" sz="1100"/>
          </a:p>
        </p:txBody>
      </p:sp>
      <p:sp>
        <p:nvSpPr>
          <p:cNvPr name="AutoShape 8" id="8"/>
          <p:cNvSpPr/>
          <p:nvPr/>
        </p:nvSpPr>
        <p:spPr>
          <a:xfrm rot="0" flipH="false" flipV="false">
            <a:off x="6985000" y="2413000"/>
            <a:ext cx="4318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6B7280"/>
                </a:solidFill>
                <a:latin typeface="Noto Sans SC"/>
                <a:ea typeface="Noto Sans SC"/>
                <a:cs typeface="Noto Sans SC"/>
                <a:sym typeface="Noto Sans SC"/>
              </a:rPr>
              <a:t>核心概念、内存计算模型与生态系统组件，阐述其作为分布式计算引擎的技术优势。</a:t>
            </a:r>
            <a:endParaRPr lang="en-US" sz="1100"/>
          </a:p>
        </p:txBody>
      </p:sp>
      <p:sp>
        <p:nvSpPr>
          <p:cNvPr name="AutoShape 9" id="9"/>
          <p:cNvSpPr/>
          <p:nvPr/>
        </p:nvSpPr>
        <p:spPr>
          <a:xfrm rot="0" flipH="false" flipV="false">
            <a:off x="762000" y="3302000"/>
            <a:ext cx="50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3B82F6"/>
                </a:solidFill>
                <a:latin typeface="Noto Sans SC"/>
                <a:ea typeface="Noto Sans SC"/>
                <a:cs typeface="Noto Sans SC"/>
                <a:sym typeface="Noto Sans SC"/>
              </a:rPr>
              <a:t>03</a:t>
            </a:r>
            <a:endParaRPr lang="en-US" sz="1100"/>
          </a:p>
        </p:txBody>
      </p:sp>
      <p:sp>
        <p:nvSpPr>
          <p:cNvPr name="AutoShape 10" id="10"/>
          <p:cNvSpPr/>
          <p:nvPr/>
        </p:nvSpPr>
        <p:spPr>
          <a:xfrm rot="0" flipH="false" flipV="false">
            <a:off x="1397000" y="3327400"/>
            <a:ext cx="4318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1F2937"/>
                </a:solidFill>
                <a:latin typeface="Noto Sans SC"/>
                <a:ea typeface="Noto Sans SC"/>
                <a:cs typeface="Noto Sans SC"/>
                <a:sym typeface="Noto Sans SC"/>
              </a:rPr>
              <a:t>系统架构设计</a:t>
            </a:r>
            <a:endParaRPr lang="en-US" sz="1100"/>
          </a:p>
        </p:txBody>
      </p:sp>
      <p:sp>
        <p:nvSpPr>
          <p:cNvPr name="AutoShape 11" id="11"/>
          <p:cNvSpPr/>
          <p:nvPr/>
        </p:nvSpPr>
        <p:spPr>
          <a:xfrm rot="0" flipH="false" flipV="false">
            <a:off x="1397000" y="3683000"/>
            <a:ext cx="4318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6B7280"/>
                </a:solidFill>
                <a:latin typeface="Noto Sans SC"/>
                <a:ea typeface="Noto Sans SC"/>
                <a:cs typeface="Noto Sans SC"/>
                <a:sym typeface="Noto Sans SC"/>
              </a:rPr>
              <a:t>深入解析 Master-Worker 核心架构模式，明确各节点职责与分布式任务的调度机制。</a:t>
            </a:r>
            <a:endParaRPr lang="en-US" sz="1100"/>
          </a:p>
        </p:txBody>
      </p:sp>
      <p:sp>
        <p:nvSpPr>
          <p:cNvPr name="AutoShape 12" id="12"/>
          <p:cNvSpPr/>
          <p:nvPr/>
        </p:nvSpPr>
        <p:spPr>
          <a:xfrm rot="0" flipH="false" flipV="false">
            <a:off x="6350000" y="3302000"/>
            <a:ext cx="50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3B82F6"/>
                </a:solidFill>
                <a:latin typeface="Noto Sans SC"/>
                <a:ea typeface="Noto Sans SC"/>
                <a:cs typeface="Noto Sans SC"/>
                <a:sym typeface="Noto Sans SC"/>
              </a:rPr>
              <a:t>04</a:t>
            </a:r>
            <a:endParaRPr lang="en-US" sz="1100"/>
          </a:p>
        </p:txBody>
      </p:sp>
      <p:sp>
        <p:nvSpPr>
          <p:cNvPr name="AutoShape 13" id="13"/>
          <p:cNvSpPr/>
          <p:nvPr/>
        </p:nvSpPr>
        <p:spPr>
          <a:xfrm rot="0" flipH="false" flipV="false">
            <a:off x="6985000" y="3327400"/>
            <a:ext cx="4318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1F2937"/>
                </a:solidFill>
                <a:latin typeface="Noto Sans SC"/>
                <a:ea typeface="Noto Sans SC"/>
                <a:cs typeface="Noto Sans SC"/>
                <a:sym typeface="Noto Sans SC"/>
              </a:rPr>
              <a:t>环境部署方案</a:t>
            </a:r>
            <a:endParaRPr lang="en-US" sz="1100"/>
          </a:p>
        </p:txBody>
      </p:sp>
      <p:sp>
        <p:nvSpPr>
          <p:cNvPr name="AutoShape 14" id="14"/>
          <p:cNvSpPr/>
          <p:nvPr/>
        </p:nvSpPr>
        <p:spPr>
          <a:xfrm rot="0" flipH="false" flipV="false">
            <a:off x="6985000" y="3683000"/>
            <a:ext cx="4318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6B7280"/>
                </a:solidFill>
                <a:latin typeface="Noto Sans SC"/>
                <a:ea typeface="Noto Sans SC"/>
                <a:cs typeface="Noto Sans SC"/>
                <a:sym typeface="Noto Sans SC"/>
              </a:rPr>
              <a:t>采用 Docker 容器化技术构建实验环境，实现开发环境的快速搭建与运行环境一致性。</a:t>
            </a:r>
            <a:endParaRPr lang="en-US" sz="1100"/>
          </a:p>
        </p:txBody>
      </p:sp>
      <p:sp>
        <p:nvSpPr>
          <p:cNvPr name="AutoShape 15" id="15"/>
          <p:cNvSpPr/>
          <p:nvPr/>
        </p:nvSpPr>
        <p:spPr>
          <a:xfrm rot="0" flipH="false" flipV="false">
            <a:off x="762000" y="4381500"/>
            <a:ext cx="50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3B82F6"/>
                </a:solidFill>
                <a:latin typeface="Noto Sans SC"/>
                <a:ea typeface="Noto Sans SC"/>
                <a:cs typeface="Noto Sans SC"/>
                <a:sym typeface="Noto Sans SC"/>
              </a:rPr>
              <a:t>05</a:t>
            </a:r>
            <a:endParaRPr lang="en-US" sz="1100"/>
          </a:p>
        </p:txBody>
      </p:sp>
      <p:sp>
        <p:nvSpPr>
          <p:cNvPr name="AutoShape 16" id="16"/>
          <p:cNvSpPr/>
          <p:nvPr/>
        </p:nvSpPr>
        <p:spPr>
          <a:xfrm rot="0" flipH="false" flipV="false">
            <a:off x="1397000" y="4406900"/>
            <a:ext cx="4318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1F2937"/>
                </a:solidFill>
                <a:latin typeface="Noto Sans SC"/>
                <a:ea typeface="Noto Sans SC"/>
                <a:cs typeface="Noto Sans SC"/>
                <a:sym typeface="Noto Sans SC"/>
              </a:rPr>
              <a:t>PageRank 算法实现</a:t>
            </a:r>
            <a:endParaRPr lang="en-US" sz="1100"/>
          </a:p>
        </p:txBody>
      </p:sp>
      <p:sp>
        <p:nvSpPr>
          <p:cNvPr name="AutoShape 17" id="17"/>
          <p:cNvSpPr/>
          <p:nvPr/>
        </p:nvSpPr>
        <p:spPr>
          <a:xfrm rot="0" flipH="false" flipV="false">
            <a:off x="1397000" y="4762500"/>
            <a:ext cx="4318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6B7280"/>
                </a:solidFill>
                <a:latin typeface="Noto Sans SC"/>
                <a:ea typeface="Noto Sans SC"/>
                <a:cs typeface="Noto Sans SC"/>
                <a:sym typeface="Noto Sans SC"/>
              </a:rPr>
              <a:t>经典图计算算法的分布式改造思路，详细阐述 MapReduce 模型下的工程化实现与迭代。</a:t>
            </a:r>
            <a:endParaRPr lang="en-US" sz="1100"/>
          </a:p>
        </p:txBody>
      </p:sp>
      <p:sp>
        <p:nvSpPr>
          <p:cNvPr name="AutoShape 18" id="18"/>
          <p:cNvSpPr/>
          <p:nvPr/>
        </p:nvSpPr>
        <p:spPr>
          <a:xfrm rot="0" flipH="false" flipV="false">
            <a:off x="6350000" y="4381500"/>
            <a:ext cx="50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3B82F6"/>
                </a:solidFill>
                <a:latin typeface="Noto Sans SC"/>
                <a:ea typeface="Noto Sans SC"/>
                <a:cs typeface="Noto Sans SC"/>
                <a:sym typeface="Noto Sans SC"/>
              </a:rPr>
              <a:t>06</a:t>
            </a:r>
            <a:endParaRPr lang="en-US" sz="1100"/>
          </a:p>
        </p:txBody>
      </p:sp>
      <p:sp>
        <p:nvSpPr>
          <p:cNvPr name="AutoShape 19" id="19"/>
          <p:cNvSpPr/>
          <p:nvPr/>
        </p:nvSpPr>
        <p:spPr>
          <a:xfrm rot="0" flipH="false" flipV="false">
            <a:off x="6985000" y="4406900"/>
            <a:ext cx="4318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1F2937"/>
                </a:solidFill>
                <a:latin typeface="Noto Sans SC"/>
                <a:ea typeface="Noto Sans SC"/>
                <a:cs typeface="Noto Sans SC"/>
                <a:sym typeface="Noto Sans SC"/>
              </a:rPr>
              <a:t>TF-IDF 文本分析</a:t>
            </a:r>
            <a:endParaRPr lang="en-US" sz="1100"/>
          </a:p>
        </p:txBody>
      </p:sp>
      <p:sp>
        <p:nvSpPr>
          <p:cNvPr name="AutoShape 20" id="20"/>
          <p:cNvSpPr/>
          <p:nvPr/>
        </p:nvSpPr>
        <p:spPr>
          <a:xfrm rot="0" flipH="false" flipV="false">
            <a:off x="6985000" y="4762500"/>
            <a:ext cx="4318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6B7280"/>
                </a:solidFill>
                <a:latin typeface="Noto Sans SC"/>
                <a:ea typeface="Noto Sans SC"/>
                <a:cs typeface="Noto Sans SC"/>
                <a:sym typeface="Noto Sans SC"/>
              </a:rPr>
              <a:t>基于词频的特征提取技术，在分布式框架下对大规模语料库进行相似度计算的过程。</a:t>
            </a:r>
            <a:endParaRPr lang="en-US" sz="1100"/>
          </a:p>
        </p:txBody>
      </p:sp>
      <p:sp>
        <p:nvSpPr>
          <p:cNvPr name="AutoShape 21" id="21"/>
          <p:cNvSpPr/>
          <p:nvPr/>
        </p:nvSpPr>
        <p:spPr>
          <a:xfrm rot="0" flipH="false" flipV="false">
            <a:off x="762000" y="5461000"/>
            <a:ext cx="50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3B82F6"/>
                </a:solidFill>
                <a:latin typeface="Noto Sans SC"/>
                <a:ea typeface="Noto Sans SC"/>
                <a:cs typeface="Noto Sans SC"/>
                <a:sym typeface="Noto Sans SC"/>
              </a:rPr>
              <a:t>07</a:t>
            </a:r>
            <a:endParaRPr lang="en-US" sz="1100"/>
          </a:p>
        </p:txBody>
      </p:sp>
      <p:sp>
        <p:nvSpPr>
          <p:cNvPr name="AutoShape 22" id="22"/>
          <p:cNvSpPr/>
          <p:nvPr/>
        </p:nvSpPr>
        <p:spPr>
          <a:xfrm rot="0" flipH="false" flipV="false">
            <a:off x="1397000" y="5486400"/>
            <a:ext cx="4318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1F2937"/>
                </a:solidFill>
                <a:latin typeface="Noto Sans SC"/>
                <a:ea typeface="Noto Sans SC"/>
                <a:cs typeface="Noto Sans SC"/>
                <a:sym typeface="Noto Sans SC"/>
              </a:rPr>
              <a:t>实验结果与分析</a:t>
            </a:r>
            <a:endParaRPr lang="en-US" sz="1100"/>
          </a:p>
        </p:txBody>
      </p:sp>
      <p:sp>
        <p:nvSpPr>
          <p:cNvPr name="AutoShape 23" id="23"/>
          <p:cNvSpPr/>
          <p:nvPr/>
        </p:nvSpPr>
        <p:spPr>
          <a:xfrm rot="0" flipH="false" flipV="false">
            <a:off x="1397000" y="5842000"/>
            <a:ext cx="4318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6B7280"/>
                </a:solidFill>
                <a:latin typeface="Noto Sans SC"/>
                <a:ea typeface="Noto Sans SC"/>
                <a:cs typeface="Noto Sans SC"/>
                <a:sym typeface="Noto Sans SC"/>
              </a:rPr>
              <a:t>通过多维度实验验证系统的吞吐量与扩展性，对比单机与分布式环境下的性能差异。</a:t>
            </a:r>
            <a:endParaRPr lang="en-US" sz="1100"/>
          </a:p>
        </p:txBody>
      </p:sp>
      <p:sp>
        <p:nvSpPr>
          <p:cNvPr name="AutoShape 24" id="24"/>
          <p:cNvSpPr/>
          <p:nvPr/>
        </p:nvSpPr>
        <p:spPr>
          <a:xfrm rot="0" flipH="false" flipV="false">
            <a:off x="6350000" y="5461000"/>
            <a:ext cx="50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3B82F6"/>
                </a:solidFill>
                <a:latin typeface="Noto Sans SC"/>
                <a:ea typeface="Noto Sans SC"/>
                <a:cs typeface="Noto Sans SC"/>
                <a:sym typeface="Noto Sans SC"/>
              </a:rPr>
              <a:t>08</a:t>
            </a:r>
            <a:endParaRPr lang="en-US" sz="1100"/>
          </a:p>
        </p:txBody>
      </p:sp>
      <p:sp>
        <p:nvSpPr>
          <p:cNvPr name="AutoShape 25" id="25"/>
          <p:cNvSpPr/>
          <p:nvPr/>
        </p:nvSpPr>
        <p:spPr>
          <a:xfrm rot="0" flipH="false" flipV="false">
            <a:off x="6985000" y="5486400"/>
            <a:ext cx="4318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1F2937"/>
                </a:solidFill>
                <a:latin typeface="Noto Sans SC"/>
                <a:ea typeface="Noto Sans SC"/>
                <a:cs typeface="Noto Sans SC"/>
                <a:sym typeface="Noto Sans SC"/>
              </a:rPr>
              <a:t>总结与未来展望</a:t>
            </a:r>
            <a:endParaRPr lang="en-US" sz="1100"/>
          </a:p>
        </p:txBody>
      </p:sp>
      <p:sp>
        <p:nvSpPr>
          <p:cNvPr name="AutoShape 26" id="26"/>
          <p:cNvSpPr/>
          <p:nvPr/>
        </p:nvSpPr>
        <p:spPr>
          <a:xfrm rot="0" flipH="false" flipV="false">
            <a:off x="6985000" y="5842000"/>
            <a:ext cx="4318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6B7280"/>
                </a:solidFill>
                <a:latin typeface="Noto Sans SC"/>
                <a:ea typeface="Noto Sans SC"/>
                <a:cs typeface="Noto Sans SC"/>
                <a:sym typeface="Noto Sans SC"/>
              </a:rPr>
              <a:t>凝练本次课题研究的核心成果，客观分析当前方案的局限性，提出后续优化与发展方向。</a:t>
            </a:r>
            <a:endParaRPr lang="en-US" sz="1100"/>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1F2937"/>
                </a:solidFill>
                <a:latin typeface="Noto Sans SC"/>
                <a:ea typeface="Noto Sans SC"/>
                <a:cs typeface="Noto Sans SC"/>
                <a:sym typeface="Noto Sans SC"/>
              </a:rPr>
              <a:t>01 选题背景与目标</a:t>
            </a:r>
            <a:endParaRPr lang="en-US" sz="1100"/>
          </a:p>
        </p:txBody>
      </p:sp>
      <p:sp>
        <p:nvSpPr>
          <p:cNvPr name="AutoShape 3" id="3"/>
          <p:cNvSpPr/>
          <p:nvPr/>
        </p:nvSpPr>
        <p:spPr>
          <a:xfrm rot="0" flipH="false" flipV="false">
            <a:off x="762000" y="1905000"/>
            <a:ext cx="508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3B82F6"/>
                </a:solidFill>
                <a:latin typeface="Noto Sans SC"/>
                <a:ea typeface="Noto Sans SC"/>
                <a:cs typeface="Noto Sans SC"/>
                <a:sym typeface="Noto Sans SC"/>
              </a:rPr>
              <a:t>大数据时代的算力瓶颈</a:t>
            </a:r>
            <a:endParaRPr lang="en-US" sz="1100"/>
          </a:p>
        </p:txBody>
      </p:sp>
      <p:sp>
        <p:nvSpPr>
          <p:cNvPr name="AutoShape 4" id="4"/>
          <p:cNvSpPr/>
          <p:nvPr/>
        </p:nvSpPr>
        <p:spPr>
          <a:xfrm rot="0" flipH="false" flipV="false">
            <a:off x="762000" y="2413000"/>
            <a:ext cx="50800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374151"/>
                </a:solidFill>
                <a:latin typeface="Noto Sans SC"/>
                <a:ea typeface="Noto Sans SC"/>
                <a:cs typeface="Noto Sans SC"/>
                <a:sym typeface="Noto Sans SC"/>
              </a:rPr>
              <a:t>随着信息技术的高速迭代，数据量呈指数级爆炸式增长，传统单机计算的存储容量与处理速度遭遇显著天花板。面对PB级海量数据的实时处理与深度挖掘需求，单节点系统已难以支撑复杂业务场景，成为制约数据价值变现的核心技术障碍。</a:t>
            </a:r>
            <a:endParaRPr lang="en-US" sz="1100"/>
          </a:p>
        </p:txBody>
      </p:sp>
      <p:sp>
        <p:nvSpPr>
          <p:cNvPr name="AutoShape 5" id="5"/>
          <p:cNvSpPr/>
          <p:nvPr/>
        </p:nvSpPr>
        <p:spPr>
          <a:xfrm rot="0" flipH="false" flipV="false">
            <a:off x="6350000" y="1905000"/>
            <a:ext cx="508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3B82F6"/>
                </a:solidFill>
                <a:latin typeface="Noto Sans SC"/>
                <a:ea typeface="Noto Sans SC"/>
                <a:cs typeface="Noto Sans SC"/>
                <a:sym typeface="Noto Sans SC"/>
              </a:rPr>
              <a:t>分布式计算的破局逻辑</a:t>
            </a:r>
            <a:endParaRPr lang="en-US" sz="1100"/>
          </a:p>
        </p:txBody>
      </p:sp>
      <p:sp>
        <p:nvSpPr>
          <p:cNvPr name="AutoShape 6" id="6"/>
          <p:cNvSpPr/>
          <p:nvPr/>
        </p:nvSpPr>
        <p:spPr>
          <a:xfrm rot="0" flipH="false" flipV="false">
            <a:off x="6350000" y="2413000"/>
            <a:ext cx="50800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374151"/>
                </a:solidFill>
                <a:latin typeface="Noto Sans SC"/>
                <a:ea typeface="Noto Sans SC"/>
                <a:cs typeface="Noto Sans SC"/>
                <a:sym typeface="Noto Sans SC"/>
              </a:rPr>
              <a:t>通过将大规模计算任务拆解为若干子任务，分配至多个网络互联的计算机节点并行执行，最终汇总结果。这种架构突破了硬件物理极限，是当前解决海量数据处理、高并发业务支撑以及复杂科学计算问题最有效的技术路径，也是本次研究的核心技术基础。</a:t>
            </a:r>
            <a:endParaRPr lang="en-US" sz="1100"/>
          </a:p>
        </p:txBody>
      </p:sp>
      <p:sp>
        <p:nvSpPr>
          <p:cNvPr name="AutoShape 7" id="7"/>
          <p:cNvSpPr/>
          <p:nvPr/>
        </p:nvSpPr>
        <p:spPr>
          <a:xfrm rot="0" flipH="false" flipV="false">
            <a:off x="762000" y="4445000"/>
            <a:ext cx="3302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B82F6"/>
                </a:solidFill>
                <a:latin typeface="Noto Sans SC"/>
                <a:ea typeface="Noto Sans SC"/>
                <a:cs typeface="Noto Sans SC"/>
                <a:sym typeface="Noto Sans SC"/>
              </a:rPr>
              <a:t>搭建Spark集群环境</a:t>
            </a:r>
            <a:endParaRPr lang="en-US" sz="1100"/>
          </a:p>
        </p:txBody>
      </p:sp>
      <p:sp>
        <p:nvSpPr>
          <p:cNvPr name="AutoShape 8" id="8"/>
          <p:cNvSpPr/>
          <p:nvPr/>
        </p:nvSpPr>
        <p:spPr>
          <a:xfrm rot="0" flipH="false" flipV="false">
            <a:off x="762000" y="4953000"/>
            <a:ext cx="33020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374151"/>
                </a:solidFill>
                <a:latin typeface="Noto Sans SC"/>
                <a:ea typeface="Noto Sans SC"/>
                <a:cs typeface="Noto Sans SC"/>
                <a:sym typeface="Noto Sans SC"/>
              </a:rPr>
              <a:t>完成Spark分布式系统的环境搭建，包括Master与Worker节点的配置、网络通信调试及资源调度策略设定。旨在构建一个稳定、高可用的基础运行环境，为后续算法的分布式执行提供坚实的底层算力支撑。</a:t>
            </a:r>
            <a:endParaRPr lang="en-US" sz="1100"/>
          </a:p>
        </p:txBody>
      </p:sp>
      <p:sp>
        <p:nvSpPr>
          <p:cNvPr name="AutoShape 9" id="9"/>
          <p:cNvSpPr/>
          <p:nvPr/>
        </p:nvSpPr>
        <p:spPr>
          <a:xfrm rot="0" flipH="false" flipV="false">
            <a:off x="4445000" y="4445000"/>
            <a:ext cx="3302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B82F6"/>
                </a:solidFill>
                <a:latin typeface="Noto Sans SC"/>
                <a:ea typeface="Noto Sans SC"/>
                <a:cs typeface="Noto Sans SC"/>
                <a:sym typeface="Noto Sans SC"/>
              </a:rPr>
              <a:t>落地核心分布式算法</a:t>
            </a:r>
            <a:endParaRPr lang="en-US" sz="1100"/>
          </a:p>
        </p:txBody>
      </p:sp>
      <p:sp>
        <p:nvSpPr>
          <p:cNvPr name="AutoShape 10" id="10"/>
          <p:cNvSpPr/>
          <p:nvPr/>
        </p:nvSpPr>
        <p:spPr>
          <a:xfrm rot="0" flipH="false" flipV="false">
            <a:off x="4445000" y="4953000"/>
            <a:ext cx="33020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374151"/>
                </a:solidFill>
                <a:latin typeface="Noto Sans SC"/>
                <a:ea typeface="Noto Sans SC"/>
                <a:cs typeface="Noto Sans SC"/>
                <a:sym typeface="Noto Sans SC"/>
              </a:rPr>
              <a:t>基于Spark RDD模型，分别实现经典的PageRank网页重要度排序算法与TF-IDF文本特征提取算法。通过代码开发与逻辑优化，将单机算法改造为适应分布式环境的并行版本，验证算法在集群模式下的正确性与可行性。</a:t>
            </a:r>
            <a:endParaRPr lang="en-US" sz="1100"/>
          </a:p>
        </p:txBody>
      </p:sp>
      <p:sp>
        <p:nvSpPr>
          <p:cNvPr name="AutoShape 11" id="11"/>
          <p:cNvSpPr/>
          <p:nvPr/>
        </p:nvSpPr>
        <p:spPr>
          <a:xfrm rot="0" flipH="false" flipV="false">
            <a:off x="8128000" y="4445000"/>
            <a:ext cx="3302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B82F6"/>
                </a:solidFill>
                <a:latin typeface="Noto Sans SC"/>
                <a:ea typeface="Noto Sans SC"/>
                <a:cs typeface="Noto Sans SC"/>
                <a:sym typeface="Noto Sans SC"/>
              </a:rPr>
              <a:t>量化评估并行效能</a:t>
            </a:r>
            <a:endParaRPr lang="en-US" sz="1100"/>
          </a:p>
        </p:txBody>
      </p:sp>
      <p:sp>
        <p:nvSpPr>
          <p:cNvPr name="AutoShape 12" id="12"/>
          <p:cNvSpPr/>
          <p:nvPr/>
        </p:nvSpPr>
        <p:spPr>
          <a:xfrm rot="0" flipH="false" flipV="false">
            <a:off x="8128000" y="4953000"/>
            <a:ext cx="33020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374151"/>
                </a:solidFill>
                <a:latin typeface="Noto Sans SC"/>
                <a:ea typeface="Noto Sans SC"/>
                <a:cs typeface="Noto Sans SC"/>
                <a:sym typeface="Noto Sans SC"/>
              </a:rPr>
              <a:t>利用不同规模的数据集进行对比实验，采集并分析任务执行时间、资源利用率等关键指标。通过与单机计算结果的横向对照，科学验证分布式计算在处理大规模数据时的加速比与吞吐量优势，论证该技术在解决实际问题中的工程价值。</a:t>
            </a:r>
            <a:endParaRPr lang="en-US" sz="1100"/>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100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3" id="3"/>
          <p:cNvSpPr/>
          <p:nvPr/>
        </p:nvSpPr>
        <p:spPr>
          <a:xfrm rot="0" flipH="false" flipV="false">
            <a:off x="762000" y="635000"/>
            <a:ext cx="10160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1F2937"/>
                </a:solidFill>
                <a:latin typeface="Noto Sans SC"/>
                <a:ea typeface="Noto Sans SC"/>
                <a:cs typeface="Noto Sans SC"/>
                <a:sym typeface="Noto Sans SC"/>
              </a:rPr>
              <a:t>02 Apache Spark 简介</a:t>
            </a:r>
            <a:endParaRPr lang="en-US" sz="1100"/>
          </a:p>
        </p:txBody>
      </p:sp>
      <p:sp>
        <p:nvSpPr>
          <p:cNvPr name="AutoShape 4" id="4"/>
          <p:cNvSpPr/>
          <p:nvPr/>
        </p:nvSpPr>
        <p:spPr>
          <a:xfrm rot="0" flipH="false" flipV="false">
            <a:off x="762000" y="1778000"/>
            <a:ext cx="6096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B82F6"/>
                </a:solidFill>
                <a:latin typeface="Noto Sans SC"/>
                <a:ea typeface="Noto Sans SC"/>
                <a:cs typeface="Noto Sans SC"/>
                <a:sym typeface="Noto Sans SC"/>
              </a:rPr>
              <a:t>统一引擎</a:t>
            </a:r>
            <a:endParaRPr lang="en-US" sz="1100"/>
          </a:p>
        </p:txBody>
      </p:sp>
      <p:sp>
        <p:nvSpPr>
          <p:cNvPr name="AutoShape 5" id="5"/>
          <p:cNvSpPr/>
          <p:nvPr/>
        </p:nvSpPr>
        <p:spPr>
          <a:xfrm rot="0" flipH="false" flipV="false">
            <a:off x="762000" y="2159000"/>
            <a:ext cx="60960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374151"/>
                </a:solidFill>
                <a:latin typeface="Noto Sans SC"/>
                <a:ea typeface="Noto Sans SC"/>
                <a:cs typeface="Noto Sans SC"/>
                <a:sym typeface="Noto Sans SC"/>
              </a:rPr>
              <a:t>一个统一的大规模数据处理引擎，自2014年开源以来迅速成为行业标准，能够兼容并处理来自多种异构数据源的海量信息。</a:t>
            </a:r>
            <a:endParaRPr lang="en-US" sz="1100"/>
          </a:p>
        </p:txBody>
      </p:sp>
      <p:sp>
        <p:nvSpPr>
          <p:cNvPr name="AutoShape 6" id="6"/>
          <p:cNvSpPr/>
          <p:nvPr/>
        </p:nvSpPr>
        <p:spPr>
          <a:xfrm rot="0" flipH="false" flipV="false">
            <a:off x="762000" y="2984500"/>
            <a:ext cx="6096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B82F6"/>
                </a:solidFill>
                <a:latin typeface="Noto Sans SC"/>
                <a:ea typeface="Noto Sans SC"/>
                <a:cs typeface="Noto Sans SC"/>
                <a:sym typeface="Noto Sans SC"/>
              </a:rPr>
              <a:t>内存计算</a:t>
            </a:r>
            <a:endParaRPr lang="en-US" sz="1100"/>
          </a:p>
        </p:txBody>
      </p:sp>
      <p:sp>
        <p:nvSpPr>
          <p:cNvPr name="AutoShape 7" id="7"/>
          <p:cNvSpPr/>
          <p:nvPr/>
        </p:nvSpPr>
        <p:spPr>
          <a:xfrm rot="0" flipH="false" flipV="false">
            <a:off x="762000" y="3365500"/>
            <a:ext cx="60960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374151"/>
                </a:solidFill>
                <a:latin typeface="Noto Sans SC"/>
                <a:ea typeface="Noto Sans SC"/>
                <a:cs typeface="Noto Sans SC"/>
                <a:sym typeface="Noto Sans SC"/>
              </a:rPr>
              <a:t>相比传统的Hadoop MapReduce，通过将中间计算结果缓存于内存中，大幅减少磁盘IO开销，处理速度提升10至100倍。</a:t>
            </a:r>
            <a:endParaRPr lang="en-US" sz="1100"/>
          </a:p>
        </p:txBody>
      </p:sp>
      <p:sp>
        <p:nvSpPr>
          <p:cNvPr name="AutoShape 8" id="8"/>
          <p:cNvSpPr/>
          <p:nvPr/>
        </p:nvSpPr>
        <p:spPr>
          <a:xfrm rot="0" flipH="false" flipV="false">
            <a:off x="762000" y="4191000"/>
            <a:ext cx="6096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B82F6"/>
                </a:solidFill>
                <a:latin typeface="Noto Sans SC"/>
                <a:ea typeface="Noto Sans SC"/>
                <a:cs typeface="Noto Sans SC"/>
                <a:sym typeface="Noto Sans SC"/>
              </a:rPr>
              <a:t>多计算模式</a:t>
            </a:r>
            <a:endParaRPr lang="en-US" sz="1100"/>
          </a:p>
        </p:txBody>
      </p:sp>
      <p:sp>
        <p:nvSpPr>
          <p:cNvPr name="AutoShape 9" id="9"/>
          <p:cNvSpPr/>
          <p:nvPr/>
        </p:nvSpPr>
        <p:spPr>
          <a:xfrm rot="0" flipH="false" flipV="false">
            <a:off x="762000" y="4572000"/>
            <a:ext cx="60960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374151"/>
                </a:solidFill>
                <a:latin typeface="Noto Sans SC"/>
                <a:ea typeface="Noto Sans SC"/>
                <a:cs typeface="Noto Sans SC"/>
                <a:sym typeface="Noto Sans SC"/>
              </a:rPr>
              <a:t>一站式解决复杂业务场景，原生支持离线批处理、低延迟流处理，以及高阶的机器学习和图计算任务。</a:t>
            </a:r>
            <a:endParaRPr lang="en-US" sz="1100"/>
          </a:p>
        </p:txBody>
      </p:sp>
      <p:sp>
        <p:nvSpPr>
          <p:cNvPr name="AutoShape 10" id="10"/>
          <p:cNvSpPr/>
          <p:nvPr/>
        </p:nvSpPr>
        <p:spPr>
          <a:xfrm rot="0" flipH="false" flipV="false">
            <a:off x="762000" y="5143500"/>
            <a:ext cx="6096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3B82F6"/>
                </a:solidFill>
                <a:latin typeface="Noto Sans SC"/>
                <a:ea typeface="Noto Sans SC"/>
                <a:cs typeface="Noto Sans SC"/>
                <a:sym typeface="Noto Sans SC"/>
              </a:rPr>
              <a:t>核心抽象：RDD</a:t>
            </a:r>
            <a:endParaRPr lang="en-US" sz="1100"/>
          </a:p>
        </p:txBody>
      </p:sp>
      <p:sp>
        <p:nvSpPr>
          <p:cNvPr name="AutoShape 11" id="11"/>
          <p:cNvSpPr/>
          <p:nvPr/>
        </p:nvSpPr>
        <p:spPr>
          <a:xfrm rot="0" flipH="false" flipV="false">
            <a:off x="762000" y="5588000"/>
            <a:ext cx="6096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3B82F6"/>
                </a:solidFill>
                <a:latin typeface="Noto Sans SC"/>
                <a:ea typeface="Noto Sans SC"/>
                <a:cs typeface="Noto Sans SC"/>
                <a:sym typeface="Noto Sans SC"/>
              </a:rPr>
              <a:t>多语言开发接口</a:t>
            </a:r>
            <a:endParaRPr lang="en-US" sz="1100"/>
          </a:p>
        </p:txBody>
      </p:sp>
      <p:pic>
        <p:nvPicPr>
          <p:cNvPr name="Picture 12" id="12"/>
          <p:cNvPicPr>
            <a:picLocks noChangeAspect="true"/>
          </p:cNvPicPr>
          <p:nvPr/>
        </p:nvPicPr>
        <p:blipFill>
          <a:blip r:embed="rId3"/>
          <a:srcRect l="0" r="0" t="6496" b="6496"/>
          <a:stretch>
            <a:fillRect/>
          </a:stretch>
        </p:blipFill>
        <p:spPr>
          <a:xfrm rot="0" flipH="false" flipV="false">
            <a:off x="7620000" y="2032000"/>
            <a:ext cx="3810000" cy="2336800"/>
          </a:xfrm>
          <a:prstGeom prst="rect">
            <a:avLst/>
          </a:prstGeom>
          <a:noFill/>
          <a:ln w="25400" cmpd="sng" cap="flat">
            <a:noFill/>
            <a:prstDash val="solid"/>
            <a:round/>
          </a:ln>
        </p:spPr>
      </p:pic>
      <p:sp>
        <p:nvSpPr>
          <p:cNvPr name="AutoShape 13" id="13"/>
          <p:cNvSpPr/>
          <p:nvPr/>
        </p:nvSpPr>
        <p:spPr>
          <a:xfrm rot="0" flipH="false" flipV="false">
            <a:off x="7620000" y="4699000"/>
            <a:ext cx="3810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3B82F6"/>
                </a:solidFill>
                <a:latin typeface="Noto Sans SC"/>
                <a:ea typeface="Noto Sans SC"/>
                <a:cs typeface="Noto Sans SC"/>
                <a:sym typeface="Noto Sans SC"/>
              </a:rPr>
              <a:t>Spark 生态系统全景</a:t>
            </a:r>
            <a:endParaRPr lang="en-US" sz="1100"/>
          </a:p>
        </p:txBody>
      </p:sp>
      <p:sp>
        <p:nvSpPr>
          <p:cNvPr name="AutoShape 14" id="14"/>
          <p:cNvSpPr/>
          <p:nvPr/>
        </p:nvSpPr>
        <p:spPr>
          <a:xfrm rot="0" flipH="false" flipV="false">
            <a:off x="7620000" y="5143500"/>
            <a:ext cx="3810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100">
                <a:solidFill>
                  <a:srgbClr val="374151"/>
                </a:solidFill>
                <a:latin typeface="Noto Sans SC"/>
                <a:ea typeface="Noto Sans SC"/>
                <a:cs typeface="Noto Sans SC"/>
                <a:sym typeface="Noto Sans SC"/>
              </a:rPr>
              <a:t>以高性能的Spark Core为底层基础，向上构建了Spark SQL、Spark Streaming、MLlib和GraphX等丰富组件，允许在单一平台完成全流程分析工作。</a:t>
            </a:r>
            <a:endParaRPr lang="en-US" sz="1100"/>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1F2937"/>
                </a:solidFill>
                <a:latin typeface="Noto Sans SC"/>
                <a:ea typeface="Noto Sans SC"/>
                <a:cs typeface="Noto Sans SC"/>
                <a:sym typeface="Noto Sans SC"/>
              </a:rPr>
              <a:t>02 Spark 核心概念</a:t>
            </a:r>
            <a:endParaRPr lang="en-US" sz="1100"/>
          </a:p>
        </p:txBody>
      </p:sp>
      <p:sp>
        <p:nvSpPr>
          <p:cNvPr name="AutoShape 3" id="3"/>
          <p:cNvSpPr/>
          <p:nvPr/>
        </p:nvSpPr>
        <p:spPr>
          <a:xfrm rot="0" flipH="false" flipV="false">
            <a:off x="762000" y="1651000"/>
            <a:ext cx="6604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3B82F6"/>
                </a:solidFill>
                <a:latin typeface="Noto Sans SC"/>
                <a:ea typeface="Noto Sans SC"/>
                <a:cs typeface="Noto Sans SC"/>
                <a:sym typeface="Noto Sans SC"/>
              </a:rPr>
              <a:t>RDD (弹性分布式数据集) — 核心抽象</a:t>
            </a:r>
            <a:endParaRPr lang="en-US" sz="1100"/>
          </a:p>
        </p:txBody>
      </p:sp>
      <p:sp>
        <p:nvSpPr>
          <p:cNvPr name="AutoShape 4" id="4"/>
          <p:cNvSpPr/>
          <p:nvPr/>
        </p:nvSpPr>
        <p:spPr>
          <a:xfrm rot="0" flipH="false" flipV="false">
            <a:off x="762000" y="2159000"/>
            <a:ext cx="6604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400">
                <a:solidFill>
                  <a:srgbClr val="374151"/>
                </a:solidFill>
                <a:latin typeface="Noto Sans SC"/>
                <a:ea typeface="Noto Sans SC"/>
                <a:cs typeface="Noto Sans SC"/>
                <a:sym typeface="Noto Sans SC"/>
              </a:rPr>
              <a:t>• 不可变性：数据一旦生成即固化，修改需生成新RDD以保证一致性。</a:t>
            </a:r>
            <a:r>
              <a:rPr lang="en-US" b="false" i="false" strike="noStrike" u="none" sz="1400">
                <a:solidFill>
                  <a:srgbClr val="374151"/>
                </a:solidFill>
                <a:latin typeface="Noto Sans SC"/>
                <a:ea typeface="Noto Sans SC"/>
                <a:cs typeface="Noto Sans SC"/>
                <a:sym typeface="Noto Sans SC"/>
              </a:rPr>
              <a:t/>
            </a:r>
            <a:endParaRPr lang="en-US" sz="1100"/>
          </a:p>
          <a:p>
            <a:pPr algn="l" marL="0" indent="0">
              <a:lnSpc>
                <a:spcPct val="125000"/>
              </a:lnSpc>
            </a:pPr>
            <a:r>
              <a:rPr lang="en-US" b="false" i="false" strike="noStrike" u="none" sz="1400">
                <a:solidFill>
                  <a:srgbClr val="374151"/>
                </a:solidFill>
                <a:latin typeface="Noto Sans SC"/>
                <a:ea typeface="Noto Sans SC"/>
                <a:cs typeface="Noto Sans SC"/>
                <a:sym typeface="Noto Sans SC"/>
              </a:rPr>
              <a:t>• 可分区性：数据切分为多块分布存储，支持集群并行处理能力。</a:t>
            </a:r>
            <a:r>
              <a:rPr lang="en-US" b="false" i="false" strike="noStrike" u="none" sz="1400">
                <a:solidFill>
                  <a:srgbClr val="374151"/>
                </a:solidFill>
                <a:latin typeface="Noto Sans SC"/>
                <a:ea typeface="Noto Sans SC"/>
                <a:cs typeface="Noto Sans SC"/>
                <a:sym typeface="Noto Sans SC"/>
              </a:rPr>
              <a:t/>
            </a:r>
          </a:p>
          <a:p>
            <a:pPr algn="l" marL="0" indent="0">
              <a:lnSpc>
                <a:spcPct val="125000"/>
              </a:lnSpc>
            </a:pPr>
            <a:r>
              <a:rPr lang="en-US" b="false" i="false" strike="noStrike" u="none" sz="1400">
                <a:solidFill>
                  <a:srgbClr val="374151"/>
                </a:solidFill>
                <a:latin typeface="Noto Sans SC"/>
                <a:ea typeface="Noto Sans SC"/>
                <a:cs typeface="Noto Sans SC"/>
                <a:sym typeface="Noto Sans SC"/>
              </a:rPr>
              <a:t>• 可并行化：不同节点上的分区任务可同时独立执行，提升计算效率。</a:t>
            </a:r>
          </a:p>
        </p:txBody>
      </p:sp>
      <p:sp>
        <p:nvSpPr>
          <p:cNvPr name="AutoShape 5" id="5"/>
          <p:cNvSpPr/>
          <p:nvPr/>
        </p:nvSpPr>
        <p:spPr>
          <a:xfrm rot="0" flipH="false" flipV="false">
            <a:off x="762000" y="3810000"/>
            <a:ext cx="6604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3B82F6"/>
                </a:solidFill>
                <a:latin typeface="Noto Sans SC"/>
                <a:ea typeface="Noto Sans SC"/>
                <a:cs typeface="Noto Sans SC"/>
                <a:sym typeface="Noto Sans SC"/>
              </a:rPr>
              <a:t>算子操作：转换与动作的二元性</a:t>
            </a:r>
            <a:endParaRPr lang="en-US" sz="1100"/>
          </a:p>
        </p:txBody>
      </p:sp>
      <p:sp>
        <p:nvSpPr>
          <p:cNvPr name="AutoShape 6" id="6"/>
          <p:cNvSpPr/>
          <p:nvPr/>
        </p:nvSpPr>
        <p:spPr>
          <a:xfrm rot="0" flipH="false" flipV="false">
            <a:off x="762000" y="4318000"/>
            <a:ext cx="6604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400">
                <a:solidFill>
                  <a:srgbClr val="374151"/>
                </a:solidFill>
                <a:latin typeface="Noto Sans SC"/>
                <a:ea typeface="Noto Sans SC"/>
                <a:cs typeface="Noto Sans SC"/>
                <a:sym typeface="Noto Sans SC"/>
              </a:rPr>
              <a:t>• 转换 (Transformation)：如 map、filter，仅记录逻辑不触发计算（惰性执行）。</a:t>
            </a:r>
            <a:r>
              <a:rPr lang="en-US" b="false" i="false" strike="noStrike" u="none" sz="1400">
                <a:solidFill>
                  <a:srgbClr val="374151"/>
                </a:solidFill>
                <a:latin typeface="Noto Sans SC"/>
                <a:ea typeface="Noto Sans SC"/>
                <a:cs typeface="Noto Sans SC"/>
                <a:sym typeface="Noto Sans SC"/>
              </a:rPr>
              <a:t/>
            </a:r>
            <a:endParaRPr lang="en-US" sz="1100"/>
          </a:p>
          <a:p>
            <a:pPr algn="l" marL="0" indent="0">
              <a:lnSpc>
                <a:spcPct val="125000"/>
              </a:lnSpc>
            </a:pPr>
            <a:r>
              <a:rPr lang="en-US" b="false" i="false" strike="noStrike" u="none" sz="1400">
                <a:solidFill>
                  <a:srgbClr val="374151"/>
                </a:solidFill>
                <a:latin typeface="Noto Sans SC"/>
                <a:ea typeface="Noto Sans SC"/>
                <a:cs typeface="Noto Sans SC"/>
                <a:sym typeface="Noto Sans SC"/>
              </a:rPr>
              <a:t>• 动作 (Action)：如 count、collect，触发 DAG 调度并返回结果（立即求值）。</a:t>
            </a:r>
          </a:p>
        </p:txBody>
      </p:sp>
      <p:sp>
        <p:nvSpPr>
          <p:cNvPr name="AutoShape 7" id="7"/>
          <p:cNvSpPr/>
          <p:nvPr/>
        </p:nvSpPr>
        <p:spPr>
          <a:xfrm rot="0" flipH="false" flipV="false">
            <a:off x="762000" y="5334000"/>
            <a:ext cx="6604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3B82F6"/>
                </a:solidFill>
                <a:latin typeface="Noto Sans SC"/>
                <a:ea typeface="Noto Sans SC"/>
                <a:cs typeface="Noto Sans SC"/>
                <a:sym typeface="Noto Sans SC"/>
              </a:rPr>
              <a:t>底层执行：DAG与Shuffle</a:t>
            </a:r>
            <a:endParaRPr lang="en-US" sz="1100"/>
          </a:p>
        </p:txBody>
      </p:sp>
      <p:sp>
        <p:nvSpPr>
          <p:cNvPr name="AutoShape 8" id="8"/>
          <p:cNvSpPr/>
          <p:nvPr/>
        </p:nvSpPr>
        <p:spPr>
          <a:xfrm rot="0" flipH="false" flipV="false">
            <a:off x="762000" y="5842000"/>
            <a:ext cx="6604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400">
                <a:solidFill>
                  <a:srgbClr val="374151"/>
                </a:solidFill>
                <a:latin typeface="Noto Sans SC"/>
                <a:ea typeface="Noto Sans SC"/>
                <a:cs typeface="Noto Sans SC"/>
                <a:sym typeface="Noto Sans SC"/>
              </a:rPr>
              <a:t>• DAG 调度：将操作链逻辑化，通过 Stage 划分与流水线优化减少开销。</a:t>
            </a:r>
            <a:r>
              <a:rPr lang="en-US" b="false" i="false" strike="noStrike" u="none" sz="1400">
                <a:solidFill>
                  <a:srgbClr val="374151"/>
                </a:solidFill>
                <a:latin typeface="Noto Sans SC"/>
                <a:ea typeface="Noto Sans SC"/>
                <a:cs typeface="Noto Sans SC"/>
                <a:sym typeface="Noto Sans SC"/>
              </a:rPr>
              <a:t/>
            </a:r>
            <a:endParaRPr lang="en-US" sz="1100"/>
          </a:p>
          <a:p>
            <a:pPr algn="l" marL="0" indent="0">
              <a:lnSpc>
                <a:spcPct val="125000"/>
              </a:lnSpc>
            </a:pPr>
            <a:r>
              <a:rPr lang="en-US" b="false" i="false" strike="noStrike" u="none" sz="1400">
                <a:solidFill>
                  <a:srgbClr val="374151"/>
                </a:solidFill>
                <a:latin typeface="Noto Sans SC"/>
                <a:ea typeface="Noto Sans SC"/>
                <a:cs typeface="Noto Sans SC"/>
                <a:sym typeface="Noto Sans SC"/>
              </a:rPr>
              <a:t>• Shuffle 重分布：跨节点数据交换是性能瓶颈，需通过分区与缓存优化。</a:t>
            </a:r>
          </a:p>
        </p:txBody>
      </p:sp>
      <p:pic>
        <p:nvPicPr>
          <p:cNvPr name="Picture 9" id="9"/>
          <p:cNvPicPr>
            <a:picLocks noChangeAspect="true"/>
          </p:cNvPicPr>
          <p:nvPr/>
        </p:nvPicPr>
        <p:blipFill>
          <a:blip r:embed="rId2"/>
          <a:srcRect l="0" r="0" t="6270" b="6270"/>
          <a:stretch>
            <a:fillRect/>
          </a:stretch>
        </p:blipFill>
        <p:spPr>
          <a:xfrm rot="0" flipH="false" flipV="false">
            <a:off x="8128000" y="1905000"/>
            <a:ext cx="3556000" cy="2794000"/>
          </a:xfrm>
          <a:prstGeom prst="rect">
            <a:avLst/>
          </a:prstGeom>
          <a:noFill/>
          <a:ln w="25400" cmpd="sng" cap="flat">
            <a:noFill/>
            <a:prstDash val="solid"/>
            <a:round/>
          </a:ln>
        </p:spPr>
      </p:pic>
      <p:sp>
        <p:nvSpPr>
          <p:cNvPr name="AutoShape 10" id="10"/>
          <p:cNvSpPr/>
          <p:nvPr/>
        </p:nvSpPr>
        <p:spPr>
          <a:xfrm rot="0" flipH="false" flipV="false">
            <a:off x="8128000" y="4953000"/>
            <a:ext cx="3556000" cy="317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1F2937"/>
                </a:solidFill>
                <a:latin typeface="Noto Sans SC"/>
                <a:ea typeface="Noto Sans SC"/>
                <a:cs typeface="Noto Sans SC"/>
                <a:sym typeface="Noto Sans SC"/>
              </a:rPr>
              <a:t>RDD 计算模型示意</a:t>
            </a:r>
            <a:endParaRPr lang="en-US" sz="1100"/>
          </a:p>
        </p:txBody>
      </p:sp>
      <p:sp>
        <p:nvSpPr>
          <p:cNvPr name="AutoShape 11" id="11"/>
          <p:cNvSpPr/>
          <p:nvPr/>
        </p:nvSpPr>
        <p:spPr>
          <a:xfrm rot="0" flipH="false" flipV="false">
            <a:off x="8128000" y="5397500"/>
            <a:ext cx="3556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374151"/>
                </a:solidFill>
                <a:latin typeface="Noto Sans SC"/>
                <a:ea typeface="Noto Sans SC"/>
                <a:cs typeface="Noto Sans SC"/>
                <a:sym typeface="Noto Sans SC"/>
              </a:rPr>
              <a:t>图中展示了从原生数据空间到 RDD 空间的转换流程。输入算子读取数据，经 Transformation 转换为新 RDD，最终通过 Action 输出结果，体现了 Spark 基于内存的高效计算模型。</a:t>
            </a:r>
            <a:endParaRPr lang="en-US" sz="1100"/>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1F2937"/>
                </a:solidFill>
                <a:latin typeface="Noto Sans SC"/>
                <a:ea typeface="Noto Sans SC"/>
                <a:cs typeface="Noto Sans SC"/>
                <a:sym typeface="Noto Sans SC"/>
              </a:rPr>
              <a:t>03 系统架构设计</a:t>
            </a:r>
            <a:endParaRPr lang="en-US" sz="1100"/>
          </a:p>
        </p:txBody>
      </p:sp>
      <p:sp>
        <p:nvSpPr>
          <p:cNvPr name="AutoShape 3" id="3"/>
          <p:cNvSpPr/>
          <p:nvPr/>
        </p:nvSpPr>
        <p:spPr>
          <a:xfrm rot="0" flipH="false" flipV="false">
            <a:off x="762000" y="1270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374151"/>
                </a:solidFill>
                <a:latin typeface="Noto Sans SC"/>
                <a:ea typeface="Noto Sans SC"/>
                <a:cs typeface="Noto Sans SC"/>
                <a:sym typeface="Noto Sans SC"/>
              </a:rPr>
              <a:t>我们设计的集群采用经典的 Master-Worker 分布式架构，通过中心化调度与分布式执行的结合，将任务分发与计算执行解耦。这种架构不仅实现了计算资源的高效利用与任务的并行处理，还为后续支撑大规模数据处理和复杂计算任务奠定了坚实且可扩展的基础。</a:t>
            </a:r>
            <a:endParaRPr lang="en-US" sz="1100"/>
          </a:p>
        </p:txBody>
      </p:sp>
      <p:sp>
        <p:nvSpPr>
          <p:cNvPr name="AutoShape 4" id="4"/>
          <p:cNvSpPr/>
          <p:nvPr/>
        </p:nvSpPr>
        <p:spPr>
          <a:xfrm rot="0" flipH="false" flipV="false">
            <a:off x="762000" y="2540000"/>
            <a:ext cx="3302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B82F6"/>
                </a:solidFill>
                <a:latin typeface="Noto Sans SC"/>
                <a:ea typeface="Noto Sans SC"/>
                <a:cs typeface="Noto Sans SC"/>
                <a:sym typeface="Noto Sans SC"/>
              </a:rPr>
              <a:t>Master 核心调度节点</a:t>
            </a:r>
            <a:endParaRPr lang="en-US" sz="1100"/>
          </a:p>
        </p:txBody>
      </p:sp>
      <p:sp>
        <p:nvSpPr>
          <p:cNvPr name="AutoShape 5" id="5"/>
          <p:cNvSpPr/>
          <p:nvPr/>
        </p:nvSpPr>
        <p:spPr>
          <a:xfrm rot="0" flipH="false" flipV="false">
            <a:off x="762000" y="3048000"/>
            <a:ext cx="3302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374151"/>
                </a:solidFill>
                <a:latin typeface="Noto Sans SC"/>
                <a:ea typeface="Noto Sans SC"/>
                <a:cs typeface="Noto Sans SC"/>
                <a:sym typeface="Noto Sans SC"/>
              </a:rPr>
              <a:t>作为集群的“大脑”，负责全局任务拆解、资源统一管理与节点状态监控，是整个分布式系统的核心控制中心。</a:t>
            </a:r>
            <a:endParaRPr lang="en-US" sz="1100"/>
          </a:p>
        </p:txBody>
      </p:sp>
      <p:sp>
        <p:nvSpPr>
          <p:cNvPr name="AutoShape 6" id="6"/>
          <p:cNvSpPr/>
          <p:nvPr/>
        </p:nvSpPr>
        <p:spPr>
          <a:xfrm rot="0" flipH="false" flipV="false">
            <a:off x="762000" y="4191000"/>
            <a:ext cx="3302000" cy="317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4B5563"/>
                </a:solidFill>
                <a:latin typeface="Noto Sans SC"/>
                <a:ea typeface="Noto Sans SC"/>
                <a:cs typeface="Noto Sans SC"/>
                <a:sym typeface="Noto Sans SC"/>
              </a:rPr>
              <a:t>地址：172.18.0.2:7077</a:t>
            </a:r>
            <a:endParaRPr lang="en-US" sz="1100"/>
          </a:p>
        </p:txBody>
      </p:sp>
      <p:sp>
        <p:nvSpPr>
          <p:cNvPr name="AutoShape 7" id="7"/>
          <p:cNvSpPr/>
          <p:nvPr/>
        </p:nvSpPr>
        <p:spPr>
          <a:xfrm rot="0" flipH="false" flipV="false">
            <a:off x="4445000" y="2540000"/>
            <a:ext cx="3302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B82F6"/>
                </a:solidFill>
                <a:latin typeface="Noto Sans SC"/>
                <a:ea typeface="Noto Sans SC"/>
                <a:cs typeface="Noto Sans SC"/>
                <a:sym typeface="Noto Sans SC"/>
              </a:rPr>
              <a:t>双 Worker 执行节点</a:t>
            </a:r>
            <a:endParaRPr lang="en-US" sz="1100"/>
          </a:p>
        </p:txBody>
      </p:sp>
      <p:sp>
        <p:nvSpPr>
          <p:cNvPr name="AutoShape 8" id="8"/>
          <p:cNvSpPr/>
          <p:nvPr/>
        </p:nvSpPr>
        <p:spPr>
          <a:xfrm rot="0" flipH="false" flipV="false">
            <a:off x="4445000" y="3048000"/>
            <a:ext cx="3302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374151"/>
                </a:solidFill>
                <a:latin typeface="Noto Sans SC"/>
                <a:ea typeface="Noto Sans SC"/>
                <a:cs typeface="Noto Sans SC"/>
                <a:sym typeface="Noto Sans SC"/>
              </a:rPr>
              <a:t>作为集群的“手脚”，负责接收 Master 指令并并行执行具体计算任务，同时存储中间计算数据，完成业务逻辑的落地。</a:t>
            </a:r>
            <a:endParaRPr lang="en-US" sz="1100"/>
          </a:p>
        </p:txBody>
      </p:sp>
      <p:sp>
        <p:nvSpPr>
          <p:cNvPr name="AutoShape 9" id="9"/>
          <p:cNvSpPr/>
          <p:nvPr/>
        </p:nvSpPr>
        <p:spPr>
          <a:xfrm rot="0" flipH="false" flipV="false">
            <a:off x="4445000" y="4191000"/>
            <a:ext cx="3302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200">
                <a:solidFill>
                  <a:srgbClr val="4B5563"/>
                </a:solidFill>
                <a:latin typeface="Noto Sans SC"/>
                <a:ea typeface="Noto Sans SC"/>
                <a:cs typeface="Noto Sans SC"/>
                <a:sym typeface="Noto Sans SC"/>
              </a:rPr>
              <a:t>配置：双节点 2C / 1G (IP .0.3 / .0.4)</a:t>
            </a:r>
            <a:endParaRPr lang="en-US" sz="1100"/>
          </a:p>
        </p:txBody>
      </p:sp>
      <p:sp>
        <p:nvSpPr>
          <p:cNvPr name="AutoShape 10" id="10"/>
          <p:cNvSpPr/>
          <p:nvPr/>
        </p:nvSpPr>
        <p:spPr>
          <a:xfrm rot="0" flipH="false" flipV="false">
            <a:off x="8128000" y="2540000"/>
            <a:ext cx="3302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B82F6"/>
                </a:solidFill>
                <a:latin typeface="Noto Sans SC"/>
                <a:ea typeface="Noto Sans SC"/>
                <a:cs typeface="Noto Sans SC"/>
                <a:sym typeface="Noto Sans SC"/>
              </a:rPr>
              <a:t>Docker 容器化网络</a:t>
            </a:r>
            <a:endParaRPr lang="en-US" sz="1100"/>
          </a:p>
        </p:txBody>
      </p:sp>
      <p:sp>
        <p:nvSpPr>
          <p:cNvPr name="AutoShape 11" id="11"/>
          <p:cNvSpPr/>
          <p:nvPr/>
        </p:nvSpPr>
        <p:spPr>
          <a:xfrm rot="0" flipH="false" flipV="false">
            <a:off x="8128000" y="3048000"/>
            <a:ext cx="3302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374151"/>
                </a:solidFill>
                <a:latin typeface="Noto Sans SC"/>
                <a:ea typeface="Noto Sans SC"/>
                <a:cs typeface="Noto Sans SC"/>
                <a:sym typeface="Noto Sans SC"/>
              </a:rPr>
              <a:t>全节点基于容器运行，环境高度隔离且一致。容器间通过自定义虚拟网络互联，提升了系统的移植性、安全性与快速扩缩容能力。</a:t>
            </a:r>
            <a:endParaRPr lang="en-US" sz="1100"/>
          </a:p>
        </p:txBody>
      </p:sp>
      <p:sp>
        <p:nvSpPr>
          <p:cNvPr name="AutoShape 12" id="12"/>
          <p:cNvSpPr/>
          <p:nvPr/>
        </p:nvSpPr>
        <p:spPr>
          <a:xfrm rot="0" flipH="false" flipV="false">
            <a:off x="8128000" y="4191000"/>
            <a:ext cx="3302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200">
                <a:solidFill>
                  <a:srgbClr val="4B5563"/>
                </a:solidFill>
                <a:latin typeface="Noto Sans SC"/>
                <a:ea typeface="Noto Sans SC"/>
                <a:cs typeface="Noto Sans SC"/>
                <a:sym typeface="Noto Sans SC"/>
              </a:rPr>
              <a:t>网段：172.18.0.0/16 虚拟子网</a:t>
            </a:r>
            <a:endParaRPr lang="en-US" sz="1100"/>
          </a:p>
        </p:txBody>
      </p:sp>
      <p:sp>
        <p:nvSpPr>
          <p:cNvPr name="AutoShape 13" id="13"/>
          <p:cNvSpPr/>
          <p:nvPr/>
        </p:nvSpPr>
        <p:spPr>
          <a:xfrm rot="0" flipH="false" flipV="false">
            <a:off x="762000" y="4953000"/>
            <a:ext cx="3302000" cy="1651000"/>
          </a:xfrm>
          <a:prstGeom prst="roundRect">
            <a:avLst>
              <a:gd name="adj" fmla="val 0"/>
            </a:avLst>
          </a:prstGeom>
          <a:solidFill>
            <a:srgbClr val="FFFFFF">
              <a:alpha val="100000"/>
            </a:srgbClr>
          </a:solidFill>
          <a:ln w="12700" cmpd="sng" cap="flat">
            <a:solidFill>
              <a:srgbClr val="3B82F6">
                <a:alpha val="100000"/>
              </a:srgbClr>
            </a:solidFill>
            <a:prstDash val="solid"/>
            <a:round/>
          </a:ln>
        </p:spPr>
        <p:txBody>
          <a:bodyPr anchor="ctr" rtlCol="false" anchorCtr="false" vert="horz" wrap="square" lIns="0" rIns="0" tIns="0" bIns="0"/>
          <a:lstStyle/>
          <a:p>
            <a:pPr algn="ctr">
              <a:defRPr/>
            </a:pPr>
            <a:endParaRPr/>
          </a:p>
        </p:txBody>
      </p:sp>
      <p:sp>
        <p:nvSpPr>
          <p:cNvPr name="AutoShape 14" id="14"/>
          <p:cNvSpPr/>
          <p:nvPr/>
        </p:nvSpPr>
        <p:spPr>
          <a:xfrm rot="0" flipH="false" flipV="false">
            <a:off x="889000" y="5080000"/>
            <a:ext cx="3048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3B82F6"/>
                </a:solidFill>
                <a:latin typeface="Noto Sans SC"/>
                <a:ea typeface="Noto Sans SC"/>
                <a:cs typeface="Noto Sans SC"/>
                <a:sym typeface="Noto Sans SC"/>
              </a:rPr>
              <a:t>Spark Master 节点</a:t>
            </a:r>
            <a:endParaRPr lang="en-US" sz="1100"/>
          </a:p>
        </p:txBody>
      </p:sp>
      <p:sp>
        <p:nvSpPr>
          <p:cNvPr name="AutoShape 15" id="15"/>
          <p:cNvSpPr/>
          <p:nvPr/>
        </p:nvSpPr>
        <p:spPr>
          <a:xfrm rot="0" flipH="false" flipV="false">
            <a:off x="889000" y="5524500"/>
            <a:ext cx="30480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4B5563"/>
                </a:solidFill>
                <a:latin typeface="Noto Sans SC"/>
                <a:ea typeface="Noto Sans SC"/>
                <a:cs typeface="Noto Sans SC"/>
                <a:sym typeface="Noto Sans SC"/>
              </a:rPr>
              <a:t>核心职能：任务分发与资源仲裁</a:t>
            </a:r>
            <a:endParaRPr lang="en-US" sz="1100"/>
          </a:p>
        </p:txBody>
      </p:sp>
      <p:sp>
        <p:nvSpPr>
          <p:cNvPr name="AutoShape 16" id="16"/>
          <p:cNvSpPr/>
          <p:nvPr/>
        </p:nvSpPr>
        <p:spPr>
          <a:xfrm rot="0" flipH="false" flipV="false">
            <a:off x="889000" y="5969000"/>
            <a:ext cx="3048000" cy="381000"/>
          </a:xfrm>
          <a:prstGeom prst="roundRect">
            <a:avLst>
              <a:gd name="adj" fmla="val 0"/>
            </a:avLst>
          </a:prstGeom>
          <a:solidFill>
            <a:srgbClr val="EFF6FF">
              <a:alpha val="100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17" id="17"/>
          <p:cNvSpPr/>
          <p:nvPr/>
        </p:nvSpPr>
        <p:spPr>
          <a:xfrm rot="0" flipH="false" flipV="false">
            <a:off x="952500" y="6019800"/>
            <a:ext cx="2921000" cy="279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100">
                <a:solidFill>
                  <a:srgbClr val="1F2937"/>
                </a:solidFill>
                <a:latin typeface="Noto Sans SC"/>
                <a:ea typeface="Noto Sans SC"/>
                <a:cs typeface="Noto Sans SC"/>
                <a:sym typeface="Noto Sans SC"/>
              </a:rPr>
              <a:t>Endpoint: 172.18.0.2:7077</a:t>
            </a:r>
            <a:endParaRPr lang="en-US" sz="1100"/>
          </a:p>
        </p:txBody>
      </p:sp>
      <p:sp>
        <p:nvSpPr>
          <p:cNvPr name="AutoShape 18" id="18"/>
          <p:cNvSpPr/>
          <p:nvPr/>
        </p:nvSpPr>
        <p:spPr>
          <a:xfrm rot="0" flipH="false" flipV="false">
            <a:off x="4445000" y="4953000"/>
            <a:ext cx="3302000" cy="1651000"/>
          </a:xfrm>
          <a:prstGeom prst="roundRect">
            <a:avLst>
              <a:gd name="adj" fmla="val 0"/>
            </a:avLst>
          </a:prstGeom>
          <a:solidFill>
            <a:srgbClr val="FFFFFF">
              <a:alpha val="100000"/>
            </a:srgbClr>
          </a:solidFill>
          <a:ln w="12700" cmpd="sng" cap="flat">
            <a:solidFill>
              <a:srgbClr val="3B82F6">
                <a:alpha val="100000"/>
              </a:srgbClr>
            </a:solidFill>
            <a:prstDash val="solid"/>
            <a:round/>
          </a:ln>
        </p:spPr>
        <p:txBody>
          <a:bodyPr anchor="ctr" rtlCol="false" anchorCtr="false" vert="horz" wrap="square" lIns="0" rIns="0" tIns="0" bIns="0"/>
          <a:lstStyle/>
          <a:p>
            <a:pPr algn="ctr">
              <a:defRPr/>
            </a:pPr>
            <a:endParaRPr/>
          </a:p>
        </p:txBody>
      </p:sp>
      <p:sp>
        <p:nvSpPr>
          <p:cNvPr name="AutoShape 19" id="19"/>
          <p:cNvSpPr/>
          <p:nvPr/>
        </p:nvSpPr>
        <p:spPr>
          <a:xfrm rot="0" flipH="false" flipV="false">
            <a:off x="4572000" y="5080000"/>
            <a:ext cx="3048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3B82F6"/>
                </a:solidFill>
                <a:latin typeface="Noto Sans SC"/>
                <a:ea typeface="Noto Sans SC"/>
                <a:cs typeface="Noto Sans SC"/>
                <a:sym typeface="Noto Sans SC"/>
              </a:rPr>
              <a:t>Worker 计算集群</a:t>
            </a:r>
            <a:endParaRPr lang="en-US" sz="1100"/>
          </a:p>
        </p:txBody>
      </p:sp>
      <p:sp>
        <p:nvSpPr>
          <p:cNvPr name="AutoShape 20" id="20"/>
          <p:cNvSpPr/>
          <p:nvPr/>
        </p:nvSpPr>
        <p:spPr>
          <a:xfrm rot="0" flipH="false" flipV="false">
            <a:off x="4572000" y="5524500"/>
            <a:ext cx="30480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4B5563"/>
                </a:solidFill>
                <a:latin typeface="Noto Sans SC"/>
                <a:ea typeface="Noto Sans SC"/>
                <a:cs typeface="Noto Sans SC"/>
                <a:sym typeface="Noto Sans SC"/>
              </a:rPr>
              <a:t>执行单元：并行计算与数据处理</a:t>
            </a:r>
            <a:endParaRPr lang="en-US" sz="1100"/>
          </a:p>
        </p:txBody>
      </p:sp>
      <p:sp>
        <p:nvSpPr>
          <p:cNvPr name="AutoShape 21" id="21"/>
          <p:cNvSpPr/>
          <p:nvPr/>
        </p:nvSpPr>
        <p:spPr>
          <a:xfrm rot="0" flipH="false" flipV="false">
            <a:off x="4572000" y="5969000"/>
            <a:ext cx="3048000" cy="381000"/>
          </a:xfrm>
          <a:prstGeom prst="roundRect">
            <a:avLst>
              <a:gd name="adj" fmla="val 0"/>
            </a:avLst>
          </a:prstGeom>
          <a:solidFill>
            <a:srgbClr val="EFF6FF">
              <a:alpha val="100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22" id="22"/>
          <p:cNvSpPr/>
          <p:nvPr/>
        </p:nvSpPr>
        <p:spPr>
          <a:xfrm rot="0" flipH="false" flipV="false">
            <a:off x="4635500" y="6019800"/>
            <a:ext cx="2921000" cy="279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100">
                <a:solidFill>
                  <a:srgbClr val="1F2937"/>
                </a:solidFill>
                <a:latin typeface="Noto Sans SC"/>
                <a:ea typeface="Noto Sans SC"/>
                <a:cs typeface="Noto Sans SC"/>
                <a:sym typeface="Noto Sans SC"/>
              </a:rPr>
              <a:t>节点池: .0.3 (2C/1G) + .0.4 (2C/1G)</a:t>
            </a:r>
            <a:endParaRPr lang="en-US" sz="1100"/>
          </a:p>
        </p:txBody>
      </p:sp>
      <p:sp>
        <p:nvSpPr>
          <p:cNvPr name="AutoShape 23" id="23"/>
          <p:cNvSpPr/>
          <p:nvPr/>
        </p:nvSpPr>
        <p:spPr>
          <a:xfrm rot="0" flipH="false" flipV="false">
            <a:off x="8128000" y="4953000"/>
            <a:ext cx="3302000" cy="1651000"/>
          </a:xfrm>
          <a:prstGeom prst="roundRect">
            <a:avLst>
              <a:gd name="adj" fmla="val 0"/>
            </a:avLst>
          </a:prstGeom>
          <a:solidFill>
            <a:srgbClr val="FFFFFF">
              <a:alpha val="100000"/>
            </a:srgbClr>
          </a:solidFill>
          <a:ln w="12700" cmpd="sng" cap="flat">
            <a:solidFill>
              <a:srgbClr val="3B82F6">
                <a:alpha val="100000"/>
              </a:srgbClr>
            </a:solidFill>
            <a:prstDash val="solid"/>
            <a:round/>
          </a:ln>
        </p:spPr>
        <p:txBody>
          <a:bodyPr anchor="ctr" rtlCol="false" anchorCtr="false" vert="horz" wrap="square" lIns="0" rIns="0" tIns="0" bIns="0"/>
          <a:lstStyle/>
          <a:p>
            <a:pPr algn="ctr">
              <a:defRPr/>
            </a:pPr>
            <a:endParaRPr/>
          </a:p>
        </p:txBody>
      </p:sp>
      <p:sp>
        <p:nvSpPr>
          <p:cNvPr name="AutoShape 24" id="24"/>
          <p:cNvSpPr/>
          <p:nvPr/>
        </p:nvSpPr>
        <p:spPr>
          <a:xfrm rot="0" flipH="false" flipV="false">
            <a:off x="8255000" y="5080000"/>
            <a:ext cx="3048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3B82F6"/>
                </a:solidFill>
                <a:latin typeface="Noto Sans SC"/>
                <a:ea typeface="Noto Sans SC"/>
                <a:cs typeface="Noto Sans SC"/>
                <a:sym typeface="Noto Sans SC"/>
              </a:rPr>
              <a:t>底层网络基础设施</a:t>
            </a:r>
            <a:endParaRPr lang="en-US" sz="1100"/>
          </a:p>
        </p:txBody>
      </p:sp>
      <p:sp>
        <p:nvSpPr>
          <p:cNvPr name="AutoShape 25" id="25"/>
          <p:cNvSpPr/>
          <p:nvPr/>
        </p:nvSpPr>
        <p:spPr>
          <a:xfrm rot="0" flipH="false" flipV="false">
            <a:off x="8255000" y="5524500"/>
            <a:ext cx="30480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4B5563"/>
                </a:solidFill>
                <a:latin typeface="Noto Sans SC"/>
                <a:ea typeface="Noto Sans SC"/>
                <a:cs typeface="Noto Sans SC"/>
                <a:sym typeface="Noto Sans SC"/>
              </a:rPr>
              <a:t>通信保障：容器间高速私网互联</a:t>
            </a:r>
            <a:endParaRPr lang="en-US" sz="1100"/>
          </a:p>
        </p:txBody>
      </p:sp>
      <p:sp>
        <p:nvSpPr>
          <p:cNvPr name="AutoShape 26" id="26"/>
          <p:cNvSpPr/>
          <p:nvPr/>
        </p:nvSpPr>
        <p:spPr>
          <a:xfrm rot="0" flipH="false" flipV="false">
            <a:off x="8255000" y="5969000"/>
            <a:ext cx="3048000" cy="381000"/>
          </a:xfrm>
          <a:prstGeom prst="roundRect">
            <a:avLst>
              <a:gd name="adj" fmla="val 0"/>
            </a:avLst>
          </a:prstGeom>
          <a:solidFill>
            <a:srgbClr val="EFF6FF">
              <a:alpha val="100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27" id="27"/>
          <p:cNvSpPr/>
          <p:nvPr/>
        </p:nvSpPr>
        <p:spPr>
          <a:xfrm rot="0" flipH="false" flipV="false">
            <a:off x="8318500" y="6019800"/>
            <a:ext cx="2921000" cy="279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100">
                <a:solidFill>
                  <a:srgbClr val="1F2937"/>
                </a:solidFill>
                <a:latin typeface="Noto Sans SC"/>
                <a:ea typeface="Noto Sans SC"/>
                <a:cs typeface="Noto Sans SC"/>
                <a:sym typeface="Noto Sans SC"/>
              </a:rPr>
              <a:t>Network: 172.18.0.0/16 (Docker Bridge)</a:t>
            </a:r>
            <a:endParaRPr lang="en-US" sz="1100"/>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1F2937"/>
                </a:solidFill>
                <a:latin typeface="Noto Sans SC"/>
                <a:ea typeface="Noto Sans SC"/>
                <a:cs typeface="Noto Sans SC"/>
                <a:sym typeface="Noto Sans SC"/>
              </a:rPr>
              <a:t>04 环境部署方案</a:t>
            </a:r>
            <a:endParaRPr lang="en-US" sz="1100"/>
          </a:p>
        </p:txBody>
      </p:sp>
      <p:sp>
        <p:nvSpPr>
          <p:cNvPr name="AutoShape 3" id="3"/>
          <p:cNvSpPr/>
          <p:nvPr/>
        </p:nvSpPr>
        <p:spPr>
          <a:xfrm rot="0" flipH="false" flipV="false">
            <a:off x="762000" y="1651000"/>
            <a:ext cx="3302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B82F6"/>
                </a:solidFill>
                <a:latin typeface="Noto Sans SC"/>
                <a:ea typeface="Noto Sans SC"/>
                <a:cs typeface="Noto Sans SC"/>
                <a:sym typeface="Noto Sans SC"/>
              </a:rPr>
              <a:t>容器化架构：Docker + Compose</a:t>
            </a:r>
            <a:endParaRPr lang="en-US" sz="1100"/>
          </a:p>
        </p:txBody>
      </p:sp>
      <p:sp>
        <p:nvSpPr>
          <p:cNvPr name="AutoShape 4" id="4"/>
          <p:cNvSpPr/>
          <p:nvPr/>
        </p:nvSpPr>
        <p:spPr>
          <a:xfrm rot="0" flipH="false" flipV="false">
            <a:off x="762000" y="2222500"/>
            <a:ext cx="33020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300">
                <a:solidFill>
                  <a:srgbClr val="374151"/>
                </a:solidFill>
                <a:latin typeface="Noto Sans SC"/>
                <a:ea typeface="Noto Sans SC"/>
                <a:cs typeface="Noto Sans SC"/>
                <a:sym typeface="Noto Sans SC"/>
              </a:rPr>
              <a:t>采用业界标准的容器化技术栈，将分布式系统的复杂依赖封装为轻量级容器服务。通过 Compose 实现多服务的编排管理，彻底消除“环境不一致”问题，让集群部署流程标准化、流水线化。</a:t>
            </a:r>
            <a:endParaRPr lang="en-US" sz="1100"/>
          </a:p>
        </p:txBody>
      </p:sp>
      <p:sp>
        <p:nvSpPr>
          <p:cNvPr name="AutoShape 5" id="5"/>
          <p:cNvSpPr/>
          <p:nvPr/>
        </p:nvSpPr>
        <p:spPr>
          <a:xfrm rot="0" flipH="false" flipV="false">
            <a:off x="4445000" y="1651000"/>
            <a:ext cx="3302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B82F6"/>
                </a:solidFill>
                <a:latin typeface="Noto Sans SC"/>
                <a:ea typeface="Noto Sans SC"/>
                <a:cs typeface="Noto Sans SC"/>
                <a:sym typeface="Noto Sans SC"/>
              </a:rPr>
              <a:t>底层环境：自研纯净镜像</a:t>
            </a:r>
            <a:endParaRPr lang="en-US" sz="1100"/>
          </a:p>
        </p:txBody>
      </p:sp>
      <p:sp>
        <p:nvSpPr>
          <p:cNvPr name="AutoShape 6" id="6"/>
          <p:cNvSpPr/>
          <p:nvPr/>
        </p:nvSpPr>
        <p:spPr>
          <a:xfrm rot="0" flipH="false" flipV="false">
            <a:off x="4445000" y="2222500"/>
            <a:ext cx="33020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300">
                <a:solidFill>
                  <a:srgbClr val="374151"/>
                </a:solidFill>
                <a:latin typeface="Noto Sans SC"/>
                <a:ea typeface="Noto Sans SC"/>
                <a:cs typeface="Noto Sans SC"/>
                <a:sym typeface="Noto Sans SC"/>
              </a:rPr>
              <a:t>基于 Ubuntu 22.04 LTS 从头构建基础环境，深度集成 OpenJDK 17 运行时与 Spark 3.5.8 核心引擎。不依赖第三方公共镜像，从源头规避安全风险，确保计算环境的绝对纯净与运行时的高度可控。</a:t>
            </a:r>
            <a:endParaRPr lang="en-US" sz="1100"/>
          </a:p>
        </p:txBody>
      </p:sp>
      <p:sp>
        <p:nvSpPr>
          <p:cNvPr name="AutoShape 7" id="7"/>
          <p:cNvSpPr/>
          <p:nvPr/>
        </p:nvSpPr>
        <p:spPr>
          <a:xfrm rot="0" flipH="false" flipV="false">
            <a:off x="8128000" y="1651000"/>
            <a:ext cx="3302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B82F6"/>
                </a:solidFill>
                <a:latin typeface="Noto Sans SC"/>
                <a:ea typeface="Noto Sans SC"/>
                <a:cs typeface="Noto Sans SC"/>
                <a:sym typeface="Noto Sans SC"/>
              </a:rPr>
              <a:t>工程化交付：单命令拉起集群</a:t>
            </a:r>
            <a:endParaRPr lang="en-US" sz="1100"/>
          </a:p>
        </p:txBody>
      </p:sp>
      <p:sp>
        <p:nvSpPr>
          <p:cNvPr name="AutoShape 8" id="8"/>
          <p:cNvSpPr/>
          <p:nvPr/>
        </p:nvSpPr>
        <p:spPr>
          <a:xfrm rot="0" flipH="false" flipV="false">
            <a:off x="8128000" y="2222500"/>
            <a:ext cx="33020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300">
                <a:solidFill>
                  <a:srgbClr val="374151"/>
                </a:solidFill>
                <a:latin typeface="Noto Sans SC"/>
                <a:ea typeface="Noto Sans SC"/>
                <a:cs typeface="Noto Sans SC"/>
                <a:sym typeface="Noto Sans SC"/>
              </a:rPr>
              <a:t>开发自动化启动脚本 `./scripts/start-cluster.sh`，将节点配置、网络打通、服务注册等繁琐步骤自动化。执行者只需一条命令，即可在 30 秒内完成包含 Master 与多个 Worker 的完整分布式集群环境初始化。</a:t>
            </a:r>
            <a:endParaRPr lang="en-US" sz="1100"/>
          </a:p>
        </p:txBody>
      </p:sp>
      <p:sp>
        <p:nvSpPr>
          <p:cNvPr name="AutoShape 9" id="9"/>
          <p:cNvSpPr/>
          <p:nvPr/>
        </p:nvSpPr>
        <p:spPr>
          <a:xfrm rot="0" flipH="false" flipV="false">
            <a:off x="762000" y="4191000"/>
            <a:ext cx="1066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3B82F6"/>
                </a:solidFill>
                <a:latin typeface="Noto Sans SC"/>
                <a:ea typeface="Noto Sans SC"/>
                <a:cs typeface="Noto Sans SC"/>
                <a:sym typeface="Noto Sans SC"/>
              </a:rPr>
              <a:t>核心配置实现：docker-compose.yml 服务编排定义</a:t>
            </a:r>
            <a:endParaRPr lang="en-US" sz="1100"/>
          </a:p>
        </p:txBody>
      </p:sp>
      <p:sp>
        <p:nvSpPr>
          <p:cNvPr name="AutoShape 10" id="10"/>
          <p:cNvSpPr/>
          <p:nvPr/>
        </p:nvSpPr>
        <p:spPr>
          <a:xfrm rot="0" flipH="false" flipV="false">
            <a:off x="762000" y="4699000"/>
            <a:ext cx="10668000" cy="1778000"/>
          </a:xfrm>
          <a:prstGeom prst="roundRect">
            <a:avLst>
              <a:gd name="adj" fmla="val 0"/>
            </a:avLst>
          </a:prstGeom>
          <a:solidFill>
            <a:srgbClr val="F3F4F6">
              <a:alpha val="100000"/>
            </a:srgbClr>
          </a:solidFill>
          <a:ln w="12700" cmpd="sng" cap="flat">
            <a:solidFill>
              <a:srgbClr val="D1D5DB">
                <a:alpha val="100000"/>
              </a:srgbClr>
            </a:solidFill>
            <a:prstDash val="solid"/>
            <a:round/>
          </a:ln>
        </p:spPr>
        <p:txBody>
          <a:bodyPr anchor="ctr" rtlCol="false" anchorCtr="false" vert="horz" wrap="square" lIns="203200" rIns="203200" tIns="152400" bIns="152400"/>
          <a:lstStyle/>
          <a:p>
            <a:pPr algn="ctr" marL="0" indent="0">
              <a:lnSpc>
                <a:spcPct val="116666"/>
              </a:lnSpc>
              <a:defRPr/>
            </a:pPr>
            <a:r>
              <a:rPr lang="en-US" b="false" i="false" strike="noStrike" u="none" sz="1100">
                <a:solidFill>
                  <a:srgbClr val="1F2937"/>
                </a:solidFill>
                <a:latin typeface="Source Code Pro"/>
                <a:ea typeface="Source Code Pro"/>
                <a:cs typeface="Source Code Pro"/>
                <a:sym typeface="Source Code Pro"/>
              </a:rPr>
              <a:t>services:</a:t>
            </a:r>
            <a:r>
              <a:rPr lang="en-US" b="false" i="false" strike="noStrike" u="none" sz="1100">
                <a:solidFill>
                  <a:srgbClr val="1F2937"/>
                </a:solidFill>
                <a:latin typeface="Source Code Pro"/>
                <a:ea typeface="Source Code Pro"/>
                <a:cs typeface="Source Code Pro"/>
                <a:sym typeface="Source Code Pro"/>
              </a:rPr>
              <a:t/>
            </a:r>
            <a:endParaRPr lang="en-US" sz="1100"/>
          </a:p>
          <a:p>
            <a:pPr algn="ctr" marL="0" indent="0">
              <a:lnSpc>
                <a:spcPct val="116666"/>
              </a:lnSpc>
            </a:pPr>
            <a:r>
              <a:rPr lang="en-US" b="false" i="false" strike="noStrike" u="none" sz="1100">
                <a:solidFill>
                  <a:srgbClr val="1F2937"/>
                </a:solidFill>
                <a:latin typeface="Source Code Pro"/>
                <a:ea typeface="Source Code Pro"/>
                <a:cs typeface="Source Code Pro"/>
                <a:sym typeface="Source Code Pro"/>
              </a:rPr>
              <a:t>spark-master:</a:t>
            </a:r>
            <a:r>
              <a:rPr lang="en-US" b="false" i="false" strike="noStrike" u="none" sz="1100">
                <a:solidFill>
                  <a:srgbClr val="1F2937"/>
                </a:solidFill>
                <a:latin typeface="Source Code Pro"/>
                <a:ea typeface="Source Code Pro"/>
                <a:cs typeface="Source Code Pro"/>
                <a:sym typeface="Source Code Pro"/>
              </a:rPr>
              <a:t/>
            </a:r>
          </a:p>
          <a:p>
            <a:pPr algn="ctr" marL="0" indent="0">
              <a:lnSpc>
                <a:spcPct val="116666"/>
              </a:lnSpc>
            </a:pPr>
            <a:r>
              <a:rPr lang="en-US" b="false" i="false" strike="noStrike" u="none" sz="1100">
                <a:solidFill>
                  <a:srgbClr val="1F2937"/>
                </a:solidFill>
                <a:latin typeface="Source Code Pro"/>
                <a:ea typeface="Source Code Pro"/>
                <a:cs typeface="Source Code Pro"/>
                <a:sym typeface="Source Code Pro"/>
              </a:rPr>
              <a:t>image: spark-local:3.5.8</a:t>
            </a:r>
            <a:r>
              <a:rPr lang="en-US" b="false" i="false" strike="noStrike" u="none" sz="1100">
                <a:solidFill>
                  <a:srgbClr val="1F2937"/>
                </a:solidFill>
                <a:latin typeface="Source Code Pro"/>
                <a:ea typeface="Source Code Pro"/>
                <a:cs typeface="Source Code Pro"/>
                <a:sym typeface="Source Code Pro"/>
              </a:rPr>
              <a:t/>
            </a:r>
          </a:p>
          <a:p>
            <a:pPr algn="ctr" marL="0" indent="0">
              <a:lnSpc>
                <a:spcPct val="116666"/>
              </a:lnSpc>
            </a:pPr>
            <a:r>
              <a:rPr lang="en-US" b="false" i="false" strike="noStrike" u="none" sz="1100">
                <a:solidFill>
                  <a:srgbClr val="1F2937"/>
                </a:solidFill>
                <a:latin typeface="Source Code Pro"/>
                <a:ea typeface="Source Code Pro"/>
                <a:cs typeface="Source Code Pro"/>
                <a:sym typeface="Source Code Pro"/>
              </a:rPr>
              <a:t>command: start-master.sh</a:t>
            </a:r>
            <a:r>
              <a:rPr lang="en-US" b="false" i="false" strike="noStrike" u="none" sz="1100">
                <a:solidFill>
                  <a:srgbClr val="1F2937"/>
                </a:solidFill>
                <a:latin typeface="Source Code Pro"/>
                <a:ea typeface="Source Code Pro"/>
                <a:cs typeface="Source Code Pro"/>
                <a:sym typeface="Source Code Pro"/>
              </a:rPr>
              <a:t/>
            </a:r>
          </a:p>
          <a:p>
            <a:pPr algn="ctr" marL="0" indent="0">
              <a:lnSpc>
                <a:spcPct val="116666"/>
              </a:lnSpc>
            </a:pPr>
            <a:r>
              <a:rPr lang="en-US" b="false" i="false" strike="noStrike" u="none" sz="1100">
                <a:solidFill>
                  <a:srgbClr val="1F2937"/>
                </a:solidFill>
                <a:latin typeface="Source Code Pro"/>
                <a:ea typeface="Source Code Pro"/>
                <a:cs typeface="Source Code Pro"/>
                <a:sym typeface="Source Code Pro"/>
              </a:rPr>
              <a:t>ports:</a:t>
            </a:r>
            <a:r>
              <a:rPr lang="en-US" b="false" i="false" strike="noStrike" u="none" sz="1100">
                <a:solidFill>
                  <a:srgbClr val="1F2937"/>
                </a:solidFill>
                <a:latin typeface="Source Code Pro"/>
                <a:ea typeface="Source Code Pro"/>
                <a:cs typeface="Source Code Pro"/>
                <a:sym typeface="Source Code Pro"/>
              </a:rPr>
              <a:t/>
            </a:r>
          </a:p>
          <a:p>
            <a:pPr algn="ctr" marL="0" indent="0">
              <a:lnSpc>
                <a:spcPct val="116666"/>
              </a:lnSpc>
            </a:pPr>
            <a:r>
              <a:rPr lang="en-US" b="false" i="false" strike="noStrike" u="none" sz="1100">
                <a:solidFill>
                  <a:srgbClr val="1F2937"/>
                </a:solidFill>
                <a:latin typeface="Source Code Pro"/>
                <a:ea typeface="Source Code Pro"/>
                <a:cs typeface="Source Code Pro"/>
                <a:sym typeface="Source Code Pro"/>
              </a:rPr>
              <a:t>- "8080:8080"</a:t>
            </a:r>
            <a:r>
              <a:rPr lang="en-US" b="false" i="false" strike="noStrike" u="none" sz="1100">
                <a:solidFill>
                  <a:srgbClr val="1F2937"/>
                </a:solidFill>
                <a:latin typeface="Source Code Pro"/>
                <a:ea typeface="Source Code Pro"/>
                <a:cs typeface="Source Code Pro"/>
                <a:sym typeface="Source Code Pro"/>
              </a:rPr>
              <a:t/>
            </a:r>
          </a:p>
          <a:p>
            <a:pPr algn="ctr" marL="0" indent="0">
              <a:lnSpc>
                <a:spcPct val="116666"/>
              </a:lnSpc>
            </a:pPr>
            <a:r>
              <a:rPr lang="en-US" b="false" i="false" strike="noStrike" u="none" sz="1100">
                <a:solidFill>
                  <a:srgbClr val="1F2937"/>
                </a:solidFill>
                <a:latin typeface="Source Code Pro"/>
                <a:ea typeface="Source Code Pro"/>
                <a:cs typeface="Source Code Pro"/>
                <a:sym typeface="Source Code Pro"/>
              </a:rPr>
              <a:t>- "7077:7077"</a:t>
            </a:r>
            <a:r>
              <a:rPr lang="en-US" b="false" i="false" strike="noStrike" u="none" sz="1100">
                <a:solidFill>
                  <a:srgbClr val="1F2937"/>
                </a:solidFill>
                <a:latin typeface="Source Code Pro"/>
                <a:ea typeface="Source Code Pro"/>
                <a:cs typeface="Source Code Pro"/>
                <a:sym typeface="Source Code Pro"/>
              </a:rPr>
              <a:t/>
            </a:r>
          </a:p>
          <a:p>
            <a:pPr algn="ctr" marL="0" indent="0">
              <a:lnSpc>
                <a:spcPct val="116666"/>
              </a:lnSpc>
            </a:pPr>
            <a:r>
              <a:rPr lang="en-US" b="false" i="false" strike="noStrike" u="none" sz="1100">
                <a:solidFill>
                  <a:srgbClr val="1F2937"/>
                </a:solidFill>
                <a:latin typeface="Source Code Pro"/>
                <a:ea typeface="Source Code Pro"/>
                <a:cs typeface="Source Code Pro"/>
                <a:sym typeface="Source Code Pro"/>
              </a:rPr>
              <a:t>spark-worker-1:</a:t>
            </a:r>
            <a:r>
              <a:rPr lang="en-US" b="false" i="false" strike="noStrike" u="none" sz="1100">
                <a:solidFill>
                  <a:srgbClr val="1F2937"/>
                </a:solidFill>
                <a:latin typeface="Source Code Pro"/>
                <a:ea typeface="Source Code Pro"/>
                <a:cs typeface="Source Code Pro"/>
                <a:sym typeface="Source Code Pro"/>
              </a:rPr>
              <a:t/>
            </a:r>
          </a:p>
          <a:p>
            <a:pPr algn="ctr" marL="0" indent="0">
              <a:lnSpc>
                <a:spcPct val="116666"/>
              </a:lnSpc>
            </a:pPr>
            <a:r>
              <a:rPr lang="en-US" b="false" i="false" strike="noStrike" u="none" sz="1100">
                <a:solidFill>
                  <a:srgbClr val="1F2937"/>
                </a:solidFill>
                <a:latin typeface="Source Code Pro"/>
                <a:ea typeface="Source Code Pro"/>
                <a:cs typeface="Source Code Pro"/>
                <a:sym typeface="Source Code Pro"/>
              </a:rPr>
              <a:t>image: spark-local:3.5.8</a:t>
            </a:r>
            <a:r>
              <a:rPr lang="en-US" b="false" i="false" strike="noStrike" u="none" sz="1100">
                <a:solidFill>
                  <a:srgbClr val="1F2937"/>
                </a:solidFill>
                <a:latin typeface="Source Code Pro"/>
                <a:ea typeface="Source Code Pro"/>
                <a:cs typeface="Source Code Pro"/>
                <a:sym typeface="Source Code Pro"/>
              </a:rPr>
              <a:t/>
            </a:r>
          </a:p>
          <a:p>
            <a:pPr algn="ctr" marL="0" indent="0">
              <a:lnSpc>
                <a:spcPct val="116666"/>
              </a:lnSpc>
            </a:pPr>
            <a:r>
              <a:rPr lang="en-US" b="false" i="false" strike="noStrike" u="none" sz="1100">
                <a:solidFill>
                  <a:srgbClr val="1F2937"/>
                </a:solidFill>
                <a:latin typeface="Source Code Pro"/>
                <a:ea typeface="Source Code Pro"/>
                <a:cs typeface="Source Code Pro"/>
                <a:sym typeface="Source Code Pro"/>
              </a:rPr>
              <a:t>command: start-worker.sh spark://spark-master:7077</a:t>
            </a:r>
            <a:r>
              <a:rPr lang="en-US" b="false" i="false" strike="noStrike" u="none" sz="1100">
                <a:solidFill>
                  <a:srgbClr val="1F2937"/>
                </a:solidFill>
                <a:latin typeface="Source Code Pro"/>
                <a:ea typeface="Source Code Pro"/>
                <a:cs typeface="Source Code Pro"/>
                <a:sym typeface="Source Code Pro"/>
              </a:rPr>
              <a:t/>
            </a:r>
          </a:p>
          <a:p>
            <a:pPr algn="ctr" marL="0" indent="0">
              <a:lnSpc>
                <a:spcPct val="116666"/>
              </a:lnSpc>
            </a:pPr>
            <a:r>
              <a:rPr lang="en-US" b="false" i="false" strike="noStrike" u="none" sz="1100">
                <a:solidFill>
                  <a:srgbClr val="1F2937"/>
                </a:solidFill>
                <a:latin typeface="Source Code Pro"/>
                <a:ea typeface="Source Code Pro"/>
                <a:cs typeface="Source Code Pro"/>
                <a:sym typeface="Source Code Pro"/>
              </a:rPr>
              <a:t>depends_on:</a:t>
            </a:r>
            <a:r>
              <a:rPr lang="en-US" b="false" i="false" strike="noStrike" u="none" sz="1100">
                <a:solidFill>
                  <a:srgbClr val="1F2937"/>
                </a:solidFill>
                <a:latin typeface="Source Code Pro"/>
                <a:ea typeface="Source Code Pro"/>
                <a:cs typeface="Source Code Pro"/>
                <a:sym typeface="Source Code Pro"/>
              </a:rPr>
              <a:t/>
            </a:r>
          </a:p>
          <a:p>
            <a:pPr algn="ctr" marL="0" indent="0">
              <a:lnSpc>
                <a:spcPct val="116666"/>
              </a:lnSpc>
            </a:pPr>
            <a:r>
              <a:rPr lang="en-US" b="false" i="false" strike="noStrike" u="none" sz="1100">
                <a:solidFill>
                  <a:srgbClr val="1F2937"/>
                </a:solidFill>
                <a:latin typeface="Source Code Pro"/>
                <a:ea typeface="Source Code Pro"/>
                <a:cs typeface="Source Code Pro"/>
                <a:sym typeface="Source Code Pro"/>
              </a:rPr>
              <a:t>- spark-master</a:t>
            </a:r>
            <a:r>
              <a:rPr lang="en-US" b="false" i="false" strike="noStrike" u="none" sz="1100">
                <a:solidFill>
                  <a:srgbClr val="1F2937"/>
                </a:solidFill>
                <a:latin typeface="Source Code Pro"/>
                <a:ea typeface="Source Code Pro"/>
                <a:cs typeface="Source Code Pro"/>
                <a:sym typeface="Source Code Pro"/>
              </a:rPr>
              <a:t/>
            </a:r>
          </a:p>
          <a:p>
            <a:pPr algn="ctr" marL="0" indent="0">
              <a:lnSpc>
                <a:spcPct val="116666"/>
              </a:lnSpc>
            </a:pPr>
            <a:r>
              <a:rPr lang="en-US" b="false" i="false" strike="noStrike" u="none" sz="1100">
                <a:solidFill>
                  <a:srgbClr val="1F2937"/>
                </a:solidFill>
                <a:latin typeface="Source Code Pro"/>
                <a:ea typeface="Source Code Pro"/>
                <a:cs typeface="Source Code Pro"/>
                <a:sym typeface="Source Code Pro"/>
              </a:rPr>
              <a:t>spark-worker-2:</a:t>
            </a:r>
            <a:r>
              <a:rPr lang="en-US" b="false" i="false" strike="noStrike" u="none" sz="1100">
                <a:solidFill>
                  <a:srgbClr val="1F2937"/>
                </a:solidFill>
                <a:latin typeface="Source Code Pro"/>
                <a:ea typeface="Source Code Pro"/>
                <a:cs typeface="Source Code Pro"/>
                <a:sym typeface="Source Code Pro"/>
              </a:rPr>
              <a:t/>
            </a:r>
          </a:p>
          <a:p>
            <a:pPr algn="ctr" marL="0" indent="0">
              <a:lnSpc>
                <a:spcPct val="116666"/>
              </a:lnSpc>
            </a:pPr>
            <a:r>
              <a:rPr lang="en-US" b="false" i="false" strike="noStrike" u="none" sz="1100">
                <a:solidFill>
                  <a:srgbClr val="1F2937"/>
                </a:solidFill>
                <a:latin typeface="Source Code Pro"/>
                <a:ea typeface="Source Code Pro"/>
                <a:cs typeface="Source Code Pro"/>
                <a:sym typeface="Source Code Pro"/>
              </a:rPr>
              <a:t>image: spark-local:3.5.8</a:t>
            </a:r>
            <a:r>
              <a:rPr lang="en-US" b="false" i="false" strike="noStrike" u="none" sz="1100">
                <a:solidFill>
                  <a:srgbClr val="1F2937"/>
                </a:solidFill>
                <a:latin typeface="Source Code Pro"/>
                <a:ea typeface="Source Code Pro"/>
                <a:cs typeface="Source Code Pro"/>
                <a:sym typeface="Source Code Pro"/>
              </a:rPr>
              <a:t/>
            </a:r>
          </a:p>
          <a:p>
            <a:pPr algn="ctr" marL="0" indent="0">
              <a:lnSpc>
                <a:spcPct val="116666"/>
              </a:lnSpc>
            </a:pPr>
            <a:r>
              <a:rPr lang="en-US" b="false" i="false" strike="noStrike" u="none" sz="1100">
                <a:solidFill>
                  <a:srgbClr val="1F2937"/>
                </a:solidFill>
                <a:latin typeface="Source Code Pro"/>
                <a:ea typeface="Source Code Pro"/>
                <a:cs typeface="Source Code Pro"/>
                <a:sym typeface="Source Code Pro"/>
              </a:rPr>
              <a:t>command: start-worker.sh spark://spark-master:7077</a:t>
            </a:r>
            <a:r>
              <a:rPr lang="en-US" b="false" i="false" strike="noStrike" u="none" sz="1100">
                <a:solidFill>
                  <a:srgbClr val="1F2937"/>
                </a:solidFill>
                <a:latin typeface="Source Code Pro"/>
                <a:ea typeface="Source Code Pro"/>
                <a:cs typeface="Source Code Pro"/>
                <a:sym typeface="Source Code Pro"/>
              </a:rPr>
              <a:t/>
            </a:r>
          </a:p>
          <a:p>
            <a:pPr algn="ctr" marL="0" indent="0">
              <a:lnSpc>
                <a:spcPct val="116666"/>
              </a:lnSpc>
            </a:pPr>
            <a:r>
              <a:rPr lang="en-US" b="false" i="false" strike="noStrike" u="none" sz="1100">
                <a:solidFill>
                  <a:srgbClr val="1F2937"/>
                </a:solidFill>
                <a:latin typeface="Source Code Pro"/>
                <a:ea typeface="Source Code Pro"/>
                <a:cs typeface="Source Code Pro"/>
                <a:sym typeface="Source Code Pro"/>
              </a:rPr>
              <a:t>depends_on:</a:t>
            </a:r>
            <a:r>
              <a:rPr lang="en-US" b="false" i="false" strike="noStrike" u="none" sz="1100">
                <a:solidFill>
                  <a:srgbClr val="1F2937"/>
                </a:solidFill>
                <a:latin typeface="Source Code Pro"/>
                <a:ea typeface="Source Code Pro"/>
                <a:cs typeface="Source Code Pro"/>
                <a:sym typeface="Source Code Pro"/>
              </a:rPr>
              <a:t/>
            </a:r>
          </a:p>
          <a:p>
            <a:pPr algn="ctr" marL="0" indent="0">
              <a:lnSpc>
                <a:spcPct val="116666"/>
              </a:lnSpc>
            </a:pPr>
            <a:r>
              <a:rPr lang="en-US" b="false" i="false" strike="noStrike" u="none" sz="1100">
                <a:solidFill>
                  <a:srgbClr val="1F2937"/>
                </a:solidFill>
                <a:latin typeface="Source Code Pro"/>
                <a:ea typeface="Source Code Pro"/>
                <a:cs typeface="Source Code Pro"/>
                <a:sym typeface="Source Code Pro"/>
              </a:rPr>
              <a:t>- spark-master</a:t>
            </a: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000">
                <a:solidFill>
                  <a:srgbClr val="1F2937"/>
                </a:solidFill>
                <a:latin typeface="Noto Sans SC"/>
                <a:ea typeface="Noto Sans SC"/>
                <a:cs typeface="Noto Sans SC"/>
                <a:sym typeface="Noto Sans SC"/>
              </a:rPr>
              <a:t>04 部署验证</a:t>
            </a:r>
            <a:endParaRPr lang="en-US" sz="1100"/>
          </a:p>
        </p:txBody>
      </p:sp>
      <p:sp>
        <p:nvSpPr>
          <p:cNvPr name="AutoShape 3" id="3"/>
          <p:cNvSpPr/>
          <p:nvPr/>
        </p:nvSpPr>
        <p:spPr>
          <a:xfrm rot="0" flipH="false" flipV="false">
            <a:off x="762000" y="2032000"/>
            <a:ext cx="2286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B82F6"/>
                </a:solidFill>
                <a:latin typeface="Noto Sans SC"/>
                <a:ea typeface="Noto Sans SC"/>
                <a:cs typeface="Noto Sans SC"/>
                <a:sym typeface="Noto Sans SC"/>
              </a:rPr>
              <a:t>访问入口确认</a:t>
            </a:r>
            <a:endParaRPr lang="en-US" sz="1100"/>
          </a:p>
        </p:txBody>
      </p:sp>
      <p:sp>
        <p:nvSpPr>
          <p:cNvPr name="AutoShape 4" id="4"/>
          <p:cNvSpPr/>
          <p:nvPr/>
        </p:nvSpPr>
        <p:spPr>
          <a:xfrm rot="0" flipH="false" flipV="false">
            <a:off x="762000" y="2540000"/>
            <a:ext cx="2286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3B82F6"/>
                </a:solidFill>
                <a:latin typeface="Noto Sans SC"/>
                <a:ea typeface="Noto Sans SC"/>
                <a:cs typeface="Noto Sans SC"/>
                <a:sym typeface="Noto Sans SC"/>
              </a:rPr>
              <a:t>localhost:8080</a:t>
            </a:r>
            <a:endParaRPr lang="en-US" sz="1100"/>
          </a:p>
        </p:txBody>
      </p:sp>
      <p:sp>
        <p:nvSpPr>
          <p:cNvPr name="AutoShape 5" id="5"/>
          <p:cNvSpPr/>
          <p:nvPr/>
        </p:nvSpPr>
        <p:spPr>
          <a:xfrm rot="0" flipH="false" flipV="false">
            <a:off x="762000" y="3048000"/>
            <a:ext cx="2286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4B5563"/>
                </a:solidFill>
                <a:latin typeface="Noto Sans SC"/>
                <a:ea typeface="Noto Sans SC"/>
                <a:cs typeface="Noto Sans SC"/>
                <a:sym typeface="Noto Sans SC"/>
              </a:rPr>
              <a:t>Spark Master Web UI 控制台地址，用于实时监控集群运行状态与任务。</a:t>
            </a:r>
            <a:endParaRPr lang="en-US" sz="1100"/>
          </a:p>
        </p:txBody>
      </p:sp>
      <p:sp>
        <p:nvSpPr>
          <p:cNvPr name="AutoShape 6" id="6"/>
          <p:cNvSpPr/>
          <p:nvPr/>
        </p:nvSpPr>
        <p:spPr>
          <a:xfrm rot="0" flipH="false" flipV="false">
            <a:off x="3556000" y="2032000"/>
            <a:ext cx="2286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B82F6"/>
                </a:solidFill>
                <a:latin typeface="Noto Sans SC"/>
                <a:ea typeface="Noto Sans SC"/>
                <a:cs typeface="Noto Sans SC"/>
                <a:sym typeface="Noto Sans SC"/>
              </a:rPr>
              <a:t>Worker 存活状态</a:t>
            </a:r>
            <a:endParaRPr lang="en-US" sz="1100"/>
          </a:p>
        </p:txBody>
      </p:sp>
      <p:sp>
        <p:nvSpPr>
          <p:cNvPr name="AutoShape 7" id="7"/>
          <p:cNvSpPr/>
          <p:nvPr/>
        </p:nvSpPr>
        <p:spPr>
          <a:xfrm rot="0" flipH="false" flipV="false">
            <a:off x="3556000" y="2540000"/>
            <a:ext cx="2286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3B82F6"/>
                </a:solidFill>
                <a:latin typeface="Noto Sans SC"/>
                <a:ea typeface="Noto Sans SC"/>
                <a:cs typeface="Noto Sans SC"/>
                <a:sym typeface="Noto Sans SC"/>
              </a:rPr>
              <a:t>2 Nodes / ALIVE</a:t>
            </a:r>
            <a:endParaRPr lang="en-US" sz="1100"/>
          </a:p>
        </p:txBody>
      </p:sp>
      <p:sp>
        <p:nvSpPr>
          <p:cNvPr name="AutoShape 8" id="8"/>
          <p:cNvSpPr/>
          <p:nvPr/>
        </p:nvSpPr>
        <p:spPr>
          <a:xfrm rot="0" flipH="false" flipV="false">
            <a:off x="3556000" y="3048000"/>
            <a:ext cx="2286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4B5563"/>
                </a:solidFill>
                <a:latin typeface="Noto Sans SC"/>
                <a:ea typeface="Noto Sans SC"/>
                <a:cs typeface="Noto Sans SC"/>
                <a:sym typeface="Noto Sans SC"/>
              </a:rPr>
              <a:t>所有从节点已完成注册，心跳正常，处于活跃就绪状态，可接收计算任务。</a:t>
            </a:r>
            <a:endParaRPr lang="en-US" sz="1100"/>
          </a:p>
        </p:txBody>
      </p:sp>
      <p:sp>
        <p:nvSpPr>
          <p:cNvPr name="AutoShape 9" id="9"/>
          <p:cNvSpPr/>
          <p:nvPr/>
        </p:nvSpPr>
        <p:spPr>
          <a:xfrm rot="0" flipH="false" flipV="false">
            <a:off x="6350000" y="2032000"/>
            <a:ext cx="2286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B82F6"/>
                </a:solidFill>
                <a:latin typeface="Noto Sans SC"/>
                <a:ea typeface="Noto Sans SC"/>
                <a:cs typeface="Noto Sans SC"/>
                <a:sym typeface="Noto Sans SC"/>
              </a:rPr>
              <a:t>集群资源就绪</a:t>
            </a:r>
            <a:endParaRPr lang="en-US" sz="1100"/>
          </a:p>
        </p:txBody>
      </p:sp>
      <p:sp>
        <p:nvSpPr>
          <p:cNvPr name="AutoShape 10" id="10"/>
          <p:cNvSpPr/>
          <p:nvPr/>
        </p:nvSpPr>
        <p:spPr>
          <a:xfrm rot="0" flipH="false" flipV="false">
            <a:off x="6350000" y="2540000"/>
            <a:ext cx="2286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3B82F6"/>
                </a:solidFill>
                <a:latin typeface="Noto Sans SC"/>
                <a:ea typeface="Noto Sans SC"/>
                <a:cs typeface="Noto Sans SC"/>
                <a:sym typeface="Noto Sans SC"/>
              </a:rPr>
              <a:t>4 Cores / 2 GB</a:t>
            </a:r>
            <a:endParaRPr lang="en-US" sz="1100"/>
          </a:p>
        </p:txBody>
      </p:sp>
      <p:sp>
        <p:nvSpPr>
          <p:cNvPr name="AutoShape 11" id="11"/>
          <p:cNvSpPr/>
          <p:nvPr/>
        </p:nvSpPr>
        <p:spPr>
          <a:xfrm rot="0" flipH="false" flipV="false">
            <a:off x="6350000" y="3048000"/>
            <a:ext cx="2286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4B5563"/>
                </a:solidFill>
                <a:latin typeface="Noto Sans SC"/>
                <a:ea typeface="Noto Sans SC"/>
                <a:cs typeface="Noto Sans SC"/>
                <a:sym typeface="Noto Sans SC"/>
              </a:rPr>
              <a:t>CPU核心与内存资源已全部分配并初始化，满足小型数据处理作业的运行需求。</a:t>
            </a:r>
            <a:endParaRPr lang="en-US" sz="1100"/>
          </a:p>
        </p:txBody>
      </p:sp>
      <p:sp>
        <p:nvSpPr>
          <p:cNvPr name="AutoShape 12" id="12"/>
          <p:cNvSpPr/>
          <p:nvPr/>
        </p:nvSpPr>
        <p:spPr>
          <a:xfrm rot="0" flipH="false" flipV="false">
            <a:off x="9144000" y="2032000"/>
            <a:ext cx="2286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B82F6"/>
                </a:solidFill>
                <a:latin typeface="Noto Sans SC"/>
                <a:ea typeface="Noto Sans SC"/>
                <a:cs typeface="Noto Sans SC"/>
                <a:sym typeface="Noto Sans SC"/>
              </a:rPr>
              <a:t>当前运行负载</a:t>
            </a:r>
            <a:endParaRPr lang="en-US" sz="1100"/>
          </a:p>
        </p:txBody>
      </p:sp>
      <p:sp>
        <p:nvSpPr>
          <p:cNvPr name="AutoShape 13" id="13"/>
          <p:cNvSpPr/>
          <p:nvPr/>
        </p:nvSpPr>
        <p:spPr>
          <a:xfrm rot="0" flipH="false" flipV="false">
            <a:off x="9144000" y="2540000"/>
            <a:ext cx="2286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3B82F6"/>
                </a:solidFill>
                <a:latin typeface="Noto Sans SC"/>
                <a:ea typeface="Noto Sans SC"/>
                <a:cs typeface="Noto Sans SC"/>
                <a:sym typeface="Noto Sans SC"/>
              </a:rPr>
              <a:t>0 运行中应用</a:t>
            </a:r>
            <a:endParaRPr lang="en-US" sz="1100"/>
          </a:p>
        </p:txBody>
      </p:sp>
      <p:sp>
        <p:nvSpPr>
          <p:cNvPr name="AutoShape 14" id="14"/>
          <p:cNvSpPr/>
          <p:nvPr/>
        </p:nvSpPr>
        <p:spPr>
          <a:xfrm rot="0" flipH="false" flipV="false">
            <a:off x="9144000" y="3048000"/>
            <a:ext cx="2286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4B5563"/>
                </a:solidFill>
                <a:latin typeface="Noto Sans SC"/>
                <a:ea typeface="Noto Sans SC"/>
                <a:cs typeface="Noto Sans SC"/>
                <a:sym typeface="Noto Sans SC"/>
              </a:rPr>
              <a:t>集群处于空闲待机模式，无积压任务，环境已准备好执行用户提交的作业。</a:t>
            </a:r>
            <a:endParaRPr lang="en-US" sz="1100"/>
          </a:p>
        </p:txBody>
      </p:sp>
      <p:sp>
        <p:nvSpPr>
          <p:cNvPr name="AutoShape 15" id="15"/>
          <p:cNvSpPr/>
          <p:nvPr/>
        </p:nvSpPr>
        <p:spPr>
          <a:xfrm rot="0" flipH="false" flipV="false">
            <a:off x="762000" y="4318000"/>
            <a:ext cx="10668000" cy="2286000"/>
          </a:xfrm>
          <a:prstGeom prst="roundRect">
            <a:avLst>
              <a:gd name="adj" fmla="val 0"/>
            </a:avLst>
          </a:prstGeom>
          <a:noFill/>
          <a:ln w="12700" cmpd="sng" cap="flat">
            <a:solidFill>
              <a:srgbClr val="6B7280">
                <a:alpha val="100000"/>
              </a:srgbClr>
            </a:solidFill>
            <a:prstDash val="dash"/>
            <a:round/>
          </a:ln>
        </p:spPr>
        <p:txBody>
          <a:bodyPr anchor="ctr" rtlCol="false" anchorCtr="false" vert="horz" wrap="square" lIns="0" rIns="0" tIns="0" bIns="0"/>
          <a:lstStyle/>
          <a:p>
            <a:pPr algn="ctr" marL="0" indent="0">
              <a:lnSpc>
                <a:spcPct val="125000"/>
              </a:lnSpc>
              <a:defRPr/>
            </a:pPr>
            <a:r>
              <a:rPr lang="en-US" b="false" i="false" strike="noStrike" u="none" sz="1400">
                <a:solidFill>
                  <a:srgbClr val="6B7280"/>
                </a:solidFill>
                <a:latin typeface="Noto Sans SC"/>
                <a:ea typeface="Noto Sans SC"/>
                <a:cs typeface="Noto Sans SC"/>
                <a:sym typeface="Noto Sans SC"/>
              </a:rPr>
              <a:t>此处插入 Spark Master Web UI 实际运行截图：应清晰展示 Worker 列表中 2 个节点状态为 ALIVE，以及 Summary 栏中 Total Cores 为 4、Total Memory 为 2.0 GB 的关键信息。截图中 Running Applications 为 0 表明集群初始化成功且资源池处于纯净状态。</a:t>
            </a:r>
            <a:endParaRPr lang="en-US" sz="1100"/>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400">
                <a:solidFill>
                  <a:srgbClr val="1F2937"/>
                </a:solidFill>
                <a:latin typeface="Noto Sans SC"/>
                <a:ea typeface="Noto Sans SC"/>
                <a:cs typeface="Noto Sans SC"/>
                <a:sym typeface="Noto Sans SC"/>
              </a:rPr>
              <a:t>05 算法一：PageRank 原理</a:t>
            </a:r>
            <a:endParaRPr lang="en-US" sz="1100"/>
          </a:p>
        </p:txBody>
      </p:sp>
      <p:sp>
        <p:nvSpPr>
          <p:cNvPr name="AutoShape 3" id="3"/>
          <p:cNvSpPr/>
          <p:nvPr/>
        </p:nvSpPr>
        <p:spPr>
          <a:xfrm rot="0" flipH="false" flipV="false">
            <a:off x="762000" y="1778000"/>
            <a:ext cx="6096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3B82F6"/>
                </a:solidFill>
                <a:latin typeface="Noto Sans SC"/>
                <a:ea typeface="Noto Sans SC"/>
                <a:cs typeface="Noto Sans SC"/>
                <a:sym typeface="Noto Sans SC"/>
              </a:rPr>
              <a:t>核心思想：链接的民主投票</a:t>
            </a:r>
            <a:endParaRPr lang="en-US" sz="1100"/>
          </a:p>
        </p:txBody>
      </p:sp>
      <p:sp>
        <p:nvSpPr>
          <p:cNvPr name="AutoShape 4" id="4"/>
          <p:cNvSpPr/>
          <p:nvPr/>
        </p:nvSpPr>
        <p:spPr>
          <a:xfrm rot="0" flipH="false" flipV="false">
            <a:off x="762000" y="2349500"/>
            <a:ext cx="6096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400">
                <a:solidFill>
                  <a:srgbClr val="374151"/>
                </a:solidFill>
                <a:latin typeface="Noto Sans SC"/>
                <a:ea typeface="Noto Sans SC"/>
                <a:cs typeface="Noto Sans SC"/>
                <a:sym typeface="Noto Sans SC"/>
              </a:rPr>
              <a:t>PageRank 是 Google 于 1998 年提出的革命性网页排名算法，其本质是将互联网视为一个巨大的有向图，通过图论方法计算节点的重要性，彻底改变了搜索引擎对网页价值的评估方式。</a:t>
            </a:r>
            <a:endParaRPr lang="en-US" sz="1100"/>
          </a:p>
        </p:txBody>
      </p:sp>
      <p:sp>
        <p:nvSpPr>
          <p:cNvPr name="AutoShape 5" id="5"/>
          <p:cNvSpPr/>
          <p:nvPr/>
        </p:nvSpPr>
        <p:spPr>
          <a:xfrm rot="0" flipH="false" flipV="false">
            <a:off x="762000" y="3556000"/>
            <a:ext cx="6096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4B5563"/>
                </a:solidFill>
                <a:latin typeface="Noto Sans SC"/>
                <a:ea typeface="Noto Sans SC"/>
                <a:cs typeface="Noto Sans SC"/>
                <a:sym typeface="Noto Sans SC"/>
              </a:rPr>
              <a:t>关键逻辑：一个页面的重要性取决于指向它的页面的重要性，重要页面的链接具有更高的“投票权重”。</a:t>
            </a:r>
            <a:endParaRPr lang="en-US" sz="1100"/>
          </a:p>
        </p:txBody>
      </p:sp>
      <p:sp>
        <p:nvSpPr>
          <p:cNvPr name="AutoShape 6" id="6"/>
          <p:cNvSpPr/>
          <p:nvPr/>
        </p:nvSpPr>
        <p:spPr>
          <a:xfrm rot="0" flipH="false" flipV="false">
            <a:off x="762000" y="4445000"/>
            <a:ext cx="6096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3B82F6"/>
                </a:solidFill>
                <a:latin typeface="Noto Sans SC"/>
                <a:ea typeface="Noto Sans SC"/>
                <a:cs typeface="Noto Sans SC"/>
                <a:sym typeface="Noto Sans SC"/>
              </a:rPr>
              <a:t>迭代计算模型</a:t>
            </a:r>
            <a:endParaRPr lang="en-US" sz="1100"/>
          </a:p>
        </p:txBody>
      </p:sp>
      <p:sp>
        <p:nvSpPr>
          <p:cNvPr name="AutoShape 7" id="7"/>
          <p:cNvSpPr/>
          <p:nvPr/>
        </p:nvSpPr>
        <p:spPr>
          <a:xfrm rot="0" flipH="false" flipV="false">
            <a:off x="762000" y="5016500"/>
            <a:ext cx="6096000" cy="609600"/>
          </a:xfrm>
          <a:prstGeom prst="roundRect">
            <a:avLst>
              <a:gd name="adj" fmla="val 0"/>
            </a:avLst>
          </a:prstGeom>
          <a:solidFill>
            <a:srgbClr val="F3F4F6">
              <a:alpha val="100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8" id="8"/>
          <p:cNvSpPr/>
          <p:nvPr/>
        </p:nvSpPr>
        <p:spPr>
          <a:xfrm rot="0" flipH="false" flipV="false">
            <a:off x="889000" y="5080000"/>
            <a:ext cx="5842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PR(A) = (1-d)/N + d × Σ(PR(Ti) / C(Ti))</a:t>
            </a:r>
            <a:endParaRPr lang="en-US" sz="1100"/>
          </a:p>
        </p:txBody>
      </p:sp>
      <p:sp>
        <p:nvSpPr>
          <p:cNvPr name="AutoShape 9" id="9"/>
          <p:cNvSpPr/>
          <p:nvPr/>
        </p:nvSpPr>
        <p:spPr>
          <a:xfrm rot="0" flipH="false" flipV="false">
            <a:off x="762000" y="5842000"/>
            <a:ext cx="2921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3B82F6"/>
                </a:solidFill>
                <a:latin typeface="Noto Sans SC"/>
                <a:ea typeface="Noto Sans SC"/>
                <a:cs typeface="Noto Sans SC"/>
                <a:sym typeface="Noto Sans SC"/>
              </a:rPr>
              <a:t>阻尼系数 (d ≈ 0.85)</a:t>
            </a:r>
            <a:endParaRPr lang="en-US" sz="1100"/>
          </a:p>
        </p:txBody>
      </p:sp>
      <p:sp>
        <p:nvSpPr>
          <p:cNvPr name="AutoShape 10" id="10"/>
          <p:cNvSpPr/>
          <p:nvPr/>
        </p:nvSpPr>
        <p:spPr>
          <a:xfrm rot="0" flipH="false" flipV="false">
            <a:off x="762000" y="6197600"/>
            <a:ext cx="2921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6B7280"/>
                </a:solidFill>
                <a:latin typeface="Noto Sans SC"/>
                <a:ea typeface="Noto Sans SC"/>
                <a:cs typeface="Noto Sans SC"/>
                <a:sym typeface="Noto Sans SC"/>
              </a:rPr>
              <a:t>模拟用户继续点击链接的概率，避免“终止点”导致的计算死循环。</a:t>
            </a:r>
            <a:endParaRPr lang="en-US" sz="1100"/>
          </a:p>
        </p:txBody>
      </p:sp>
      <p:sp>
        <p:nvSpPr>
          <p:cNvPr name="AutoShape 11" id="11"/>
          <p:cNvSpPr/>
          <p:nvPr/>
        </p:nvSpPr>
        <p:spPr>
          <a:xfrm rot="0" flipH="false" flipV="false">
            <a:off x="3937000" y="5842000"/>
            <a:ext cx="2921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3B82F6"/>
                </a:solidFill>
                <a:latin typeface="Noto Sans SC"/>
                <a:ea typeface="Noto Sans SC"/>
                <a:cs typeface="Noto Sans SC"/>
                <a:sym typeface="Noto Sans SC"/>
              </a:rPr>
              <a:t>节点总数 (N)</a:t>
            </a:r>
            <a:endParaRPr lang="en-US" sz="1100"/>
          </a:p>
        </p:txBody>
      </p:sp>
      <p:sp>
        <p:nvSpPr>
          <p:cNvPr name="AutoShape 12" id="12"/>
          <p:cNvSpPr/>
          <p:nvPr/>
        </p:nvSpPr>
        <p:spPr>
          <a:xfrm rot="0" flipH="false" flipV="false">
            <a:off x="3937000" y="6197600"/>
            <a:ext cx="2921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6B7280"/>
                </a:solidFill>
                <a:latin typeface="Noto Sans SC"/>
                <a:ea typeface="Noto Sans SC"/>
                <a:cs typeface="Noto Sans SC"/>
                <a:sym typeface="Noto Sans SC"/>
              </a:rPr>
              <a:t>图中所有网页的总量，代表随机跳转的基础概率。</a:t>
            </a:r>
            <a:endParaRPr lang="en-US" sz="1100"/>
          </a:p>
        </p:txBody>
      </p:sp>
      <p:pic>
        <p:nvPicPr>
          <p:cNvPr name="Picture 13" id="13"/>
          <p:cNvPicPr>
            <a:picLocks noChangeAspect="true"/>
          </p:cNvPicPr>
          <p:nvPr/>
        </p:nvPicPr>
        <p:blipFill>
          <a:blip r:embed="rId2"/>
          <a:srcRect l="0" r="0" t="7177" b="7177"/>
          <a:stretch>
            <a:fillRect/>
          </a:stretch>
        </p:blipFill>
        <p:spPr>
          <a:xfrm rot="0" flipH="false" flipV="false">
            <a:off x="8001000" y="1905000"/>
            <a:ext cx="3556000" cy="2540000"/>
          </a:xfrm>
          <a:prstGeom prst="rect">
            <a:avLst/>
          </a:prstGeom>
          <a:noFill/>
          <a:ln w="25400" cmpd="sng" cap="flat">
            <a:noFill/>
            <a:prstDash val="solid"/>
            <a:round/>
          </a:ln>
        </p:spPr>
      </p:pic>
      <p:sp>
        <p:nvSpPr>
          <p:cNvPr name="AutoShape 14" id="14"/>
          <p:cNvSpPr/>
          <p:nvPr/>
        </p:nvSpPr>
        <p:spPr>
          <a:xfrm rot="0" flipH="false" flipV="false">
            <a:off x="8001000" y="4699000"/>
            <a:ext cx="3556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3B82F6"/>
                </a:solidFill>
                <a:latin typeface="Noto Sans SC"/>
                <a:ea typeface="Noto Sans SC"/>
                <a:cs typeface="Noto Sans SC"/>
                <a:sym typeface="Noto Sans SC"/>
              </a:rPr>
              <a:t>网络结构的价值映射</a:t>
            </a:r>
            <a:endParaRPr lang="en-US" sz="1100"/>
          </a:p>
        </p:txBody>
      </p:sp>
      <p:sp>
        <p:nvSpPr>
          <p:cNvPr name="AutoShape 15" id="15"/>
          <p:cNvSpPr/>
          <p:nvPr/>
        </p:nvSpPr>
        <p:spPr>
          <a:xfrm rot="0" flipH="false" flipV="false">
            <a:off x="8001000" y="5181600"/>
            <a:ext cx="35560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374151"/>
                </a:solidFill>
                <a:latin typeface="Noto Sans SC"/>
                <a:ea typeface="Noto Sans SC"/>
                <a:cs typeface="Noto Sans SC"/>
                <a:sym typeface="Noto Sans SC"/>
              </a:rPr>
              <a:t>示意图中，节点大小代表PR值权重，箭头代表引用关系。其核心优势在于无需人工干预，完全基于网络自身的链接结构自动计算，让 Google 能在海量信息中快速筛选高价值内容。</a:t>
            </a:r>
            <a:endParaRPr lang="en-US" sz="1100"/>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000">
                <a:solidFill>
                  <a:srgbClr val="1F2937"/>
                </a:solidFill>
                <a:latin typeface="Noto Sans SC"/>
                <a:ea typeface="Noto Sans SC"/>
                <a:cs typeface="Noto Sans SC"/>
                <a:sym typeface="Noto Sans SC"/>
              </a:rPr>
              <a:t>05 PageRank 分布式实现</a:t>
            </a:r>
            <a:endParaRPr lang="en-US" sz="1100"/>
          </a:p>
        </p:txBody>
      </p:sp>
      <p:sp>
        <p:nvSpPr>
          <p:cNvPr name="AutoShape 3" id="3"/>
          <p:cNvSpPr/>
          <p:nvPr/>
        </p:nvSpPr>
        <p:spPr>
          <a:xfrm rot="0" flipH="false" flipV="false">
            <a:off x="762000" y="1778000"/>
            <a:ext cx="3302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B82F6"/>
                </a:solidFill>
                <a:latin typeface="Noto Sans SC"/>
                <a:ea typeface="Noto Sans SC"/>
                <a:cs typeface="Noto Sans SC"/>
                <a:sym typeface="Noto Sans SC"/>
              </a:rPr>
              <a:t>数据读取与邻接表构建</a:t>
            </a:r>
            <a:endParaRPr lang="en-US" sz="1100"/>
          </a:p>
        </p:txBody>
      </p:sp>
      <p:sp>
        <p:nvSpPr>
          <p:cNvPr name="AutoShape 4" id="4"/>
          <p:cNvSpPr/>
          <p:nvPr/>
        </p:nvSpPr>
        <p:spPr>
          <a:xfrm rot="0" flipH="false" flipV="false">
            <a:off x="762000" y="2209800"/>
            <a:ext cx="33020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374151"/>
                </a:solidFill>
                <a:latin typeface="Noto Sans SC"/>
                <a:ea typeface="Noto Sans SC"/>
                <a:cs typeface="Noto Sans SC"/>
                <a:sym typeface="Noto Sans SC"/>
              </a:rPr>
              <a:t>通过 `textFile` 分布式读取原始边列表，利用 `groupByKey` 按源节点分组，构建图的邻接表结构。这一步将离散数据转化为图计算所需的节点与出链映射关系。</a:t>
            </a:r>
            <a:endParaRPr lang="en-US" sz="1100"/>
          </a:p>
        </p:txBody>
      </p:sp>
      <p:sp>
        <p:nvSpPr>
          <p:cNvPr name="AutoShape 5" id="5"/>
          <p:cNvSpPr/>
          <p:nvPr/>
        </p:nvSpPr>
        <p:spPr>
          <a:xfrm rot="0" flipH="false" flipV="false">
            <a:off x="4445000" y="1778000"/>
            <a:ext cx="3302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B82F6"/>
                </a:solidFill>
                <a:latin typeface="Noto Sans SC"/>
                <a:ea typeface="Noto Sans SC"/>
                <a:cs typeface="Noto Sans SC"/>
                <a:sym typeface="Noto Sans SC"/>
              </a:rPr>
              <a:t>全局 PR 值初始化</a:t>
            </a:r>
            <a:endParaRPr lang="en-US" sz="1100"/>
          </a:p>
        </p:txBody>
      </p:sp>
      <p:sp>
        <p:nvSpPr>
          <p:cNvPr name="AutoShape 6" id="6"/>
          <p:cNvSpPr/>
          <p:nvPr/>
        </p:nvSpPr>
        <p:spPr>
          <a:xfrm rot="0" flipH="false" flipV="false">
            <a:off x="4445000" y="2209800"/>
            <a:ext cx="33020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374151"/>
                </a:solidFill>
                <a:latin typeface="Noto Sans SC"/>
                <a:ea typeface="Noto Sans SC"/>
                <a:cs typeface="Noto Sans SC"/>
                <a:sym typeface="Noto Sans SC"/>
              </a:rPr>
              <a:t>对所有参与排名的节点赋予初始权重 1/N（N为总节点数）。这是迭代计算的基准起点，确保每个节点在未进行任何传播计算前拥有平等的初始重要性得分。</a:t>
            </a:r>
            <a:endParaRPr lang="en-US" sz="1100"/>
          </a:p>
        </p:txBody>
      </p:sp>
      <p:sp>
        <p:nvSpPr>
          <p:cNvPr name="AutoShape 7" id="7"/>
          <p:cNvSpPr/>
          <p:nvPr/>
        </p:nvSpPr>
        <p:spPr>
          <a:xfrm rot="0" flipH="false" flipV="false">
            <a:off x="8128000" y="1778000"/>
            <a:ext cx="3302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B82F6"/>
                </a:solidFill>
                <a:latin typeface="Noto Sans SC"/>
                <a:ea typeface="Noto Sans SC"/>
                <a:cs typeface="Noto Sans SC"/>
                <a:sym typeface="Noto Sans SC"/>
              </a:rPr>
              <a:t>迭代收敛机制设定</a:t>
            </a:r>
            <a:endParaRPr lang="en-US" sz="1100"/>
          </a:p>
        </p:txBody>
      </p:sp>
      <p:sp>
        <p:nvSpPr>
          <p:cNvPr name="AutoShape 8" id="8"/>
          <p:cNvSpPr/>
          <p:nvPr/>
        </p:nvSpPr>
        <p:spPr>
          <a:xfrm rot="0" flipH="false" flipV="false">
            <a:off x="8128000" y="2209800"/>
            <a:ext cx="33020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374151"/>
                </a:solidFill>
                <a:latin typeface="Noto Sans SC"/>
                <a:ea typeface="Noto Sans SC"/>
                <a:cs typeface="Noto Sans SC"/>
                <a:sym typeface="Noto Sans SC"/>
              </a:rPr>
              <a:t>设定固定迭代次数（通常取10次）。PageRank 算法通过多次迭代让 PR 值在节点间传播，随着迭代次数增加，结果逐渐收敛并逼近真实的网页重要性排名。</a:t>
            </a:r>
            <a:endParaRPr lang="en-US" sz="1100"/>
          </a:p>
        </p:txBody>
      </p:sp>
      <p:sp>
        <p:nvSpPr>
          <p:cNvPr name="AutoShape 9" id="9"/>
          <p:cNvSpPr/>
          <p:nvPr/>
        </p:nvSpPr>
        <p:spPr>
          <a:xfrm rot="0" flipH="false" flipV="false">
            <a:off x="762000" y="3810000"/>
            <a:ext cx="24765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3B82F6"/>
                </a:solidFill>
                <a:latin typeface="Noto Sans SC"/>
                <a:ea typeface="Noto Sans SC"/>
                <a:cs typeface="Noto Sans SC"/>
                <a:sym typeface="Noto Sans SC"/>
              </a:rPr>
              <a:t>关联阶段 (Join)</a:t>
            </a:r>
            <a:endParaRPr lang="en-US" sz="1100"/>
          </a:p>
        </p:txBody>
      </p:sp>
      <p:sp>
        <p:nvSpPr>
          <p:cNvPr name="AutoShape 10" id="10"/>
          <p:cNvSpPr/>
          <p:nvPr/>
        </p:nvSpPr>
        <p:spPr>
          <a:xfrm rot="0" flipH="false" flipV="false">
            <a:off x="762000" y="4241800"/>
            <a:ext cx="24765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100">
                <a:solidFill>
                  <a:srgbClr val="374151"/>
                </a:solidFill>
                <a:latin typeface="Noto Sans SC"/>
                <a:ea typeface="Noto Sans SC"/>
                <a:cs typeface="Noto Sans SC"/>
                <a:sym typeface="Noto Sans SC"/>
              </a:rPr>
              <a:t>将当前迭代的 PR 值与静态邻接表进行关联，获取每个节点的出链结构与当前权重，为后续贡献值分配提供完整上下文。</a:t>
            </a:r>
            <a:endParaRPr lang="en-US" sz="1100"/>
          </a:p>
        </p:txBody>
      </p:sp>
      <p:sp>
        <p:nvSpPr>
          <p:cNvPr name="AutoShape 11" id="11"/>
          <p:cNvSpPr/>
          <p:nvPr/>
        </p:nvSpPr>
        <p:spPr>
          <a:xfrm rot="0" flipH="false" flipV="false">
            <a:off x="3492500" y="3810000"/>
            <a:ext cx="24765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3B82F6"/>
                </a:solidFill>
                <a:latin typeface="Noto Sans SC"/>
                <a:ea typeface="Noto Sans SC"/>
                <a:cs typeface="Noto Sans SC"/>
                <a:sym typeface="Noto Sans SC"/>
              </a:rPr>
              <a:t>贡献分发 (flatMap)</a:t>
            </a:r>
            <a:endParaRPr lang="en-US" sz="1100"/>
          </a:p>
        </p:txBody>
      </p:sp>
      <p:sp>
        <p:nvSpPr>
          <p:cNvPr name="AutoShape 12" id="12"/>
          <p:cNvSpPr/>
          <p:nvPr/>
        </p:nvSpPr>
        <p:spPr>
          <a:xfrm rot="0" flipH="false" flipV="false">
            <a:off x="3492500" y="4241800"/>
            <a:ext cx="24765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100">
                <a:solidFill>
                  <a:srgbClr val="374151"/>
                </a:solidFill>
                <a:latin typeface="Noto Sans SC"/>
                <a:ea typeface="Noto Sans SC"/>
                <a:cs typeface="Noto Sans SC"/>
                <a:sym typeface="Noto Sans SC"/>
              </a:rPr>
              <a:t>按出链数量均分当前节点的 PR 值，生成每个目标节点的贡献值流。这是实现大规模并行计算的关键，将计算任务拆解为独立子任务。</a:t>
            </a:r>
            <a:endParaRPr lang="en-US" sz="1100"/>
          </a:p>
        </p:txBody>
      </p:sp>
      <p:sp>
        <p:nvSpPr>
          <p:cNvPr name="AutoShape 13" id="13"/>
          <p:cNvSpPr/>
          <p:nvPr/>
        </p:nvSpPr>
        <p:spPr>
          <a:xfrm rot="0" flipH="false" flipV="false">
            <a:off x="6223000" y="3810000"/>
            <a:ext cx="24765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3B82F6"/>
                </a:solidFill>
                <a:latin typeface="Noto Sans SC"/>
                <a:ea typeface="Noto Sans SC"/>
                <a:cs typeface="Noto Sans SC"/>
                <a:sym typeface="Noto Sans SC"/>
              </a:rPr>
              <a:t>聚合汇总 (reduceByKey)</a:t>
            </a:r>
            <a:endParaRPr lang="en-US" sz="1100"/>
          </a:p>
        </p:txBody>
      </p:sp>
      <p:sp>
        <p:nvSpPr>
          <p:cNvPr name="AutoShape 14" id="14"/>
          <p:cNvSpPr/>
          <p:nvPr/>
        </p:nvSpPr>
        <p:spPr>
          <a:xfrm rot="0" flipH="false" flipV="false">
            <a:off x="6223000" y="4241800"/>
            <a:ext cx="24765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100">
                <a:solidFill>
                  <a:srgbClr val="374151"/>
                </a:solidFill>
                <a:latin typeface="Noto Sans SC"/>
                <a:ea typeface="Noto Sans SC"/>
                <a:cs typeface="Noto Sans SC"/>
                <a:sym typeface="Noto Sans SC"/>
              </a:rPr>
              <a:t>按目标节点 Key 聚合所有传入贡献值。利用 Shuffle 机制完成分布式数据的全局洗牌与归约，得到各节点本轮的总贡献值。</a:t>
            </a:r>
            <a:endParaRPr lang="en-US" sz="1100"/>
          </a:p>
        </p:txBody>
      </p:sp>
      <p:sp>
        <p:nvSpPr>
          <p:cNvPr name="AutoShape 15" id="15"/>
          <p:cNvSpPr/>
          <p:nvPr/>
        </p:nvSpPr>
        <p:spPr>
          <a:xfrm rot="0" flipH="false" flipV="false">
            <a:off x="8953500" y="3810000"/>
            <a:ext cx="24765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3B82F6"/>
                </a:solidFill>
                <a:latin typeface="Noto Sans SC"/>
                <a:ea typeface="Noto Sans SC"/>
                <a:cs typeface="Noto Sans SC"/>
                <a:sym typeface="Noto Sans SC"/>
              </a:rPr>
              <a:t>阻尼更新 (mapValues)</a:t>
            </a:r>
            <a:endParaRPr lang="en-US" sz="1100"/>
          </a:p>
        </p:txBody>
      </p:sp>
      <p:sp>
        <p:nvSpPr>
          <p:cNvPr name="AutoShape 16" id="16"/>
          <p:cNvSpPr/>
          <p:nvPr/>
        </p:nvSpPr>
        <p:spPr>
          <a:xfrm rot="0" flipH="false" flipV="false">
            <a:off x="8953500" y="4241800"/>
            <a:ext cx="24765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100">
                <a:solidFill>
                  <a:srgbClr val="374151"/>
                </a:solidFill>
                <a:latin typeface="Noto Sans SC"/>
                <a:ea typeface="Noto Sans SC"/>
                <a:cs typeface="Noto Sans SC"/>
                <a:sym typeface="Noto Sans SC"/>
              </a:rPr>
              <a:t>应用阻尼系数公式：新 PR = 0.15/N + 0.85 × 总贡献。引入随机跳转因子，避免“排名陷阱”，完成单轮迭代的最终更新。</a:t>
            </a:r>
            <a:endParaRPr lang="en-US" sz="1100"/>
          </a:p>
        </p:txBody>
      </p:sp>
      <p:sp>
        <p:nvSpPr>
          <p:cNvPr name="AutoShape 17" id="17"/>
          <p:cNvSpPr/>
          <p:nvPr/>
        </p:nvSpPr>
        <p:spPr>
          <a:xfrm rot="0" flipH="false" flipV="false">
            <a:off x="762000" y="5524500"/>
            <a:ext cx="5080000" cy="279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3B82F6"/>
                </a:solidFill>
                <a:latin typeface="Noto Sans SC"/>
                <a:ea typeface="Noto Sans SC"/>
                <a:cs typeface="Noto Sans SC"/>
                <a:sym typeface="Noto Sans SC"/>
              </a:rPr>
              <a:t>核心：MapReduce 分布式计算范式</a:t>
            </a:r>
            <a:endParaRPr lang="en-US" sz="1100"/>
          </a:p>
        </p:txBody>
      </p:sp>
      <p:sp>
        <p:nvSpPr>
          <p:cNvPr name="AutoShape 18" id="18"/>
          <p:cNvSpPr/>
          <p:nvPr/>
        </p:nvSpPr>
        <p:spPr>
          <a:xfrm rot="0" flipH="false" flipV="false">
            <a:off x="762000" y="5905500"/>
            <a:ext cx="5080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100">
                <a:solidFill>
                  <a:srgbClr val="374151"/>
                </a:solidFill>
                <a:latin typeface="Noto Sans SC"/>
                <a:ea typeface="Noto Sans SC"/>
                <a:cs typeface="Noto Sans SC"/>
                <a:sym typeface="Noto Sans SC"/>
              </a:rPr>
              <a:t>通过 `flatMap` 将复杂的图结构计算拆分为细粒度的并行任务，配合 `reduceByKey` 实现全局结果的高效聚合。这种“拆分-聚合”模式最大化了集群的分布式处理能力，是处理海量图数据的标准工程实践。</a:t>
            </a:r>
            <a:endParaRPr lang="en-US" sz="1100"/>
          </a:p>
        </p:txBody>
      </p:sp>
      <p:sp>
        <p:nvSpPr>
          <p:cNvPr name="AutoShape 19" id="19"/>
          <p:cNvSpPr/>
          <p:nvPr/>
        </p:nvSpPr>
        <p:spPr>
          <a:xfrm rot="0" flipH="false" flipV="false">
            <a:off x="6350000" y="5524500"/>
            <a:ext cx="5080000" cy="279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3B82F6"/>
                </a:solidFill>
                <a:latin typeface="Noto Sans SC"/>
                <a:ea typeface="Noto Sans SC"/>
                <a:cs typeface="Noto Sans SC"/>
                <a:sym typeface="Noto Sans SC"/>
              </a:rPr>
              <a:t>提速：静态数据缓存 (cache)</a:t>
            </a:r>
            <a:endParaRPr lang="en-US" sz="1100"/>
          </a:p>
        </p:txBody>
      </p:sp>
      <p:sp>
        <p:nvSpPr>
          <p:cNvPr name="AutoShape 20" id="20"/>
          <p:cNvSpPr/>
          <p:nvPr/>
        </p:nvSpPr>
        <p:spPr>
          <a:xfrm rot="0" flipH="false" flipV="false">
            <a:off x="6350000" y="5905500"/>
            <a:ext cx="5080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100">
                <a:solidFill>
                  <a:srgbClr val="374151"/>
                </a:solidFill>
                <a:latin typeface="Noto Sans SC"/>
                <a:ea typeface="Noto Sans SC"/>
                <a:cs typeface="Noto Sans SC"/>
                <a:sym typeface="Noto Sans SC"/>
              </a:rPr>
              <a:t>对不变的邻接表数据执行 `cache()` 缓存。在多次迭代中，避免了重复的磁盘 I/O 和网络传输开销，这一优化手段能显著降低计算延迟，是让 PageRank 在生产环境中实用化的关键技术决策。</a:t>
            </a:r>
            <a:endParaRPr lang="en-US" sz="1100"/>
          </a:p>
        </p:txBody>
      </p:sp>
    </p:spTree>
  </p:cSld>
  <p:clrMapOvr>
    <a:masterClrMapping/>
  </p:clrMapOvr>
</p:sld>
</file>

<file path=ppt/slides/slide11.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1F2937"/>
                </a:solidFill>
                <a:latin typeface="Noto Sans SC"/>
                <a:ea typeface="Noto Sans SC"/>
                <a:cs typeface="Noto Sans SC"/>
                <a:sym typeface="Noto Sans SC"/>
              </a:rPr>
              <a:t>05 PageRank 实验结果</a:t>
            </a:r>
            <a:endParaRPr lang="en-US" sz="1100"/>
          </a:p>
        </p:txBody>
      </p:sp>
      <p:sp>
        <p:nvSpPr>
          <p:cNvPr name="AutoShape 3" id="3"/>
          <p:cNvSpPr/>
          <p:nvPr/>
        </p:nvSpPr>
        <p:spPr>
          <a:xfrm rot="0" flipH="false" flipV="false">
            <a:off x="762000" y="1397000"/>
            <a:ext cx="2476500" cy="279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3B82F6"/>
                </a:solidFill>
                <a:latin typeface="Noto Sans SC"/>
                <a:ea typeface="Noto Sans SC"/>
                <a:cs typeface="Noto Sans SC"/>
                <a:sym typeface="Noto Sans SC"/>
              </a:rPr>
              <a:t>测试数据集规模</a:t>
            </a:r>
            <a:endParaRPr lang="en-US" sz="1100"/>
          </a:p>
        </p:txBody>
      </p:sp>
      <p:sp>
        <p:nvSpPr>
          <p:cNvPr name="AutoShape 4" id="4"/>
          <p:cNvSpPr/>
          <p:nvPr/>
        </p:nvSpPr>
        <p:spPr>
          <a:xfrm rot="0" flipH="false" flipV="false">
            <a:off x="762000" y="1752600"/>
            <a:ext cx="24765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Noto Sans SC"/>
                <a:ea typeface="Noto Sans SC"/>
                <a:cs typeface="Noto Sans SC"/>
                <a:sym typeface="Noto Sans SC"/>
              </a:rPr>
              <a:t>20节点 / 84边</a:t>
            </a:r>
            <a:endParaRPr lang="en-US" sz="1100"/>
          </a:p>
        </p:txBody>
      </p:sp>
      <p:sp>
        <p:nvSpPr>
          <p:cNvPr name="AutoShape 5" id="5"/>
          <p:cNvSpPr/>
          <p:nvPr/>
        </p:nvSpPr>
        <p:spPr>
          <a:xfrm rot="0" flipH="false" flipV="false">
            <a:off x="762000" y="2159000"/>
            <a:ext cx="24765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B5563"/>
                </a:solidFill>
                <a:latin typeface="Noto Sans SC"/>
                <a:ea typeface="Noto Sans SC"/>
                <a:cs typeface="Noto Sans SC"/>
                <a:sym typeface="Noto Sans SC"/>
              </a:rPr>
              <a:t>构建小型网络拓扑结构，用于算法核心逻辑的正确性验证</a:t>
            </a:r>
            <a:endParaRPr lang="en-US" sz="1100"/>
          </a:p>
        </p:txBody>
      </p:sp>
      <p:sp>
        <p:nvSpPr>
          <p:cNvPr name="AutoShape 6" id="6"/>
          <p:cNvSpPr/>
          <p:nvPr/>
        </p:nvSpPr>
        <p:spPr>
          <a:xfrm rot="0" flipH="false" flipV="false">
            <a:off x="3492500" y="1397000"/>
            <a:ext cx="2476500" cy="279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3B82F6"/>
                </a:solidFill>
                <a:latin typeface="Noto Sans SC"/>
                <a:ea typeface="Noto Sans SC"/>
                <a:cs typeface="Noto Sans SC"/>
                <a:sym typeface="Noto Sans SC"/>
              </a:rPr>
              <a:t>迭代收敛阈值</a:t>
            </a:r>
            <a:endParaRPr lang="en-US" sz="1100"/>
          </a:p>
        </p:txBody>
      </p:sp>
      <p:sp>
        <p:nvSpPr>
          <p:cNvPr name="AutoShape 7" id="7"/>
          <p:cNvSpPr/>
          <p:nvPr/>
        </p:nvSpPr>
        <p:spPr>
          <a:xfrm rot="0" flipH="false" flipV="false">
            <a:off x="3492500" y="1752600"/>
            <a:ext cx="24765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Noto Sans SC"/>
                <a:ea typeface="Noto Sans SC"/>
                <a:cs typeface="Noto Sans SC"/>
                <a:sym typeface="Noto Sans SC"/>
              </a:rPr>
              <a:t>10 次循环</a:t>
            </a:r>
            <a:endParaRPr lang="en-US" sz="1100"/>
          </a:p>
        </p:txBody>
      </p:sp>
      <p:sp>
        <p:nvSpPr>
          <p:cNvPr name="AutoShape 8" id="8"/>
          <p:cNvSpPr/>
          <p:nvPr/>
        </p:nvSpPr>
        <p:spPr>
          <a:xfrm rot="0" flipH="false" flipV="false">
            <a:off x="3492500" y="2159000"/>
            <a:ext cx="24765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B5563"/>
                </a:solidFill>
                <a:latin typeface="Noto Sans SC"/>
                <a:ea typeface="Noto Sans SC"/>
                <a:cs typeface="Noto Sans SC"/>
                <a:sym typeface="Noto Sans SC"/>
              </a:rPr>
              <a:t>在预设的误差范围内，系统快速完成了权重的迭代计算</a:t>
            </a:r>
            <a:endParaRPr lang="en-US" sz="1100"/>
          </a:p>
        </p:txBody>
      </p:sp>
      <p:sp>
        <p:nvSpPr>
          <p:cNvPr name="AutoShape 9" id="9"/>
          <p:cNvSpPr/>
          <p:nvPr/>
        </p:nvSpPr>
        <p:spPr>
          <a:xfrm rot="0" flipH="false" flipV="false">
            <a:off x="6223000" y="1397000"/>
            <a:ext cx="2476500" cy="279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3B82F6"/>
                </a:solidFill>
                <a:latin typeface="Noto Sans SC"/>
                <a:ea typeface="Noto Sans SC"/>
                <a:cs typeface="Noto Sans SC"/>
                <a:sym typeface="Noto Sans SC"/>
              </a:rPr>
              <a:t>程序执行耗时</a:t>
            </a:r>
            <a:endParaRPr lang="en-US" sz="1100"/>
          </a:p>
        </p:txBody>
      </p:sp>
      <p:sp>
        <p:nvSpPr>
          <p:cNvPr name="AutoShape 10" id="10"/>
          <p:cNvSpPr/>
          <p:nvPr/>
        </p:nvSpPr>
        <p:spPr>
          <a:xfrm rot="0" flipH="false" flipV="false">
            <a:off x="6223000" y="1752600"/>
            <a:ext cx="24765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Noto Sans SC"/>
                <a:ea typeface="Noto Sans SC"/>
                <a:cs typeface="Noto Sans SC"/>
                <a:sym typeface="Noto Sans SC"/>
              </a:rPr>
              <a:t>8.95 秒</a:t>
            </a:r>
            <a:endParaRPr lang="en-US" sz="1100"/>
          </a:p>
        </p:txBody>
      </p:sp>
      <p:sp>
        <p:nvSpPr>
          <p:cNvPr name="AutoShape 11" id="11"/>
          <p:cNvSpPr/>
          <p:nvPr/>
        </p:nvSpPr>
        <p:spPr>
          <a:xfrm rot="0" flipH="false" flipV="false">
            <a:off x="6223000" y="2159000"/>
            <a:ext cx="24765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B5563"/>
                </a:solidFill>
                <a:latin typeface="Noto Sans SC"/>
                <a:ea typeface="Noto Sans SC"/>
                <a:cs typeface="Noto Sans SC"/>
                <a:sym typeface="Noto Sans SC"/>
              </a:rPr>
              <a:t>单线程环境下的运算效率，满足实验测试场景的性能预期</a:t>
            </a:r>
            <a:endParaRPr lang="en-US" sz="1100"/>
          </a:p>
        </p:txBody>
      </p:sp>
      <p:sp>
        <p:nvSpPr>
          <p:cNvPr name="AutoShape 12" id="12"/>
          <p:cNvSpPr/>
          <p:nvPr/>
        </p:nvSpPr>
        <p:spPr>
          <a:xfrm rot="0" flipH="false" flipV="false">
            <a:off x="8953500" y="1397000"/>
            <a:ext cx="2476500" cy="279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3B82F6"/>
                </a:solidFill>
                <a:latin typeface="Noto Sans SC"/>
                <a:ea typeface="Noto Sans SC"/>
                <a:cs typeface="Noto Sans SC"/>
                <a:sym typeface="Noto Sans SC"/>
              </a:rPr>
              <a:t>PR值归一化总和</a:t>
            </a:r>
            <a:endParaRPr lang="en-US" sz="1100"/>
          </a:p>
        </p:txBody>
      </p:sp>
      <p:sp>
        <p:nvSpPr>
          <p:cNvPr name="AutoShape 13" id="13"/>
          <p:cNvSpPr/>
          <p:nvPr/>
        </p:nvSpPr>
        <p:spPr>
          <a:xfrm rot="0" flipH="false" flipV="false">
            <a:off x="8953500" y="1752600"/>
            <a:ext cx="24765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Noto Sans SC"/>
                <a:ea typeface="Noto Sans SC"/>
                <a:cs typeface="Noto Sans SC"/>
                <a:sym typeface="Noto Sans SC"/>
              </a:rPr>
              <a:t>1.000000</a:t>
            </a:r>
            <a:endParaRPr lang="en-US" sz="1100"/>
          </a:p>
        </p:txBody>
      </p:sp>
      <p:sp>
        <p:nvSpPr>
          <p:cNvPr name="AutoShape 14" id="14"/>
          <p:cNvSpPr/>
          <p:nvPr/>
        </p:nvSpPr>
        <p:spPr>
          <a:xfrm rot="0" flipH="false" flipV="false">
            <a:off x="8953500" y="2159000"/>
            <a:ext cx="24765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B5563"/>
                </a:solidFill>
                <a:latin typeface="Noto Sans SC"/>
                <a:ea typeface="Noto Sans SC"/>
                <a:cs typeface="Noto Sans SC"/>
                <a:sym typeface="Noto Sans SC"/>
              </a:rPr>
              <a:t>完全符合算法理论定义，证明代码实现无逻辑偏差</a:t>
            </a:r>
            <a:endParaRPr lang="en-US" sz="1100"/>
          </a:p>
        </p:txBody>
      </p:sp>
      <p:sp>
        <p:nvSpPr>
          <p:cNvPr name="AutoShape 15" id="15"/>
          <p:cNvSpPr/>
          <p:nvPr/>
        </p:nvSpPr>
        <p:spPr>
          <a:xfrm rot="0" flipH="false" flipV="false">
            <a:off x="762000" y="3048000"/>
            <a:ext cx="6858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B82F6"/>
                </a:solidFill>
                <a:latin typeface="Noto Sans SC"/>
                <a:ea typeface="Noto Sans SC"/>
                <a:cs typeface="Noto Sans SC"/>
                <a:sym typeface="Noto Sans SC"/>
              </a:rPr>
              <a:t>核心节点影响力榜单 (Top 10)</a:t>
            </a:r>
            <a:endParaRPr lang="en-US" sz="1100"/>
          </a:p>
        </p:txBody>
      </p:sp>
      <p:graphicFrame>
        <p:nvGraphicFramePr>
          <p:cNvPr name="Table 16" id="16"/>
          <p:cNvGraphicFramePr>
            <a:graphicFrameLocks noGrp="true"/>
          </p:cNvGraphicFramePr>
          <p:nvPr/>
        </p:nvGraphicFramePr>
        <p:xfrm>
          <a:off x="762000" y="3556000"/>
          <a:ext cx="6858000" cy="2743200"/>
        </p:xfrm>
        <a:graphic>
          <a:graphicData uri="http://schemas.openxmlformats.org/drawingml/2006/table">
            <a:tbl>
              <a:tblPr>
                <a:effectLst/>
              </a:tblPr>
              <a:tblGrid>
                <a:gridCol w="1270000"/>
                <a:gridCol w="2286000"/>
                <a:gridCol w="3302000"/>
              </a:tblGrid>
              <a:tr h="457200">
                <a:tc>
                  <a:txBody>
                    <a:bodyPr anchor="t" rtlCol="false"/>
                    <a:lstStyle/>
                    <a:p>
                      <a:pPr algn="ctr" marL="0" indent="0">
                        <a:lnSpc>
                          <a:spcPct val="100000"/>
                        </a:lnSpc>
                        <a:defRPr/>
                      </a:pPr>
                      <a:r>
                        <a:rPr lang="en-US" b="true" i="false" strike="noStrike" u="none" sz="1300">
                          <a:solidFill>
                            <a:srgbClr val="FFFFFF"/>
                          </a:solidFill>
                          <a:latin typeface="Noto Sans SC"/>
                          <a:ea typeface="Noto Sans SC"/>
                          <a:cs typeface="Noto Sans SC"/>
                          <a:sym typeface="Noto Sans SC"/>
                        </a:rPr>
                        <a:t>排名</a:t>
                      </a:r>
                      <a:endParaRPr lang="en-US" sz="1100"/>
                    </a:p>
                  </a:txBody>
                  <a:tcPr anchor="ctr" anchorCtr="false" marL="101600" marR="101600" marT="101600" marB="101600">
                    <a:lnL>
                      <a:noFill/>
                    </a:lnL>
                    <a:lnR>
                      <a:noFill/>
                    </a:lnR>
                    <a:lnT>
                      <a:noFill/>
                    </a:lnT>
                    <a:lnB>
                      <a:noFill/>
                    </a:lnB>
                    <a:solidFill>
                      <a:srgbClr val="3B82F6">
                        <a:alpha val="100000"/>
                      </a:srgbClr>
                    </a:solidFill>
                  </a:tcPr>
                </a:tc>
                <a:tc>
                  <a:txBody>
                    <a:bodyPr anchor="t" rtlCol="false"/>
                    <a:lstStyle/>
                    <a:p>
                      <a:pPr algn="ctr" marL="0" indent="0">
                        <a:lnSpc>
                          <a:spcPct val="100000"/>
                        </a:lnSpc>
                        <a:defRPr/>
                      </a:pPr>
                      <a:r>
                        <a:rPr lang="en-US" b="true" i="false" strike="noStrike" u="none" sz="1300">
                          <a:solidFill>
                            <a:srgbClr val="FFFFFF"/>
                          </a:solidFill>
                          <a:latin typeface="Noto Sans SC"/>
                          <a:ea typeface="Noto Sans SC"/>
                          <a:cs typeface="Noto Sans SC"/>
                          <a:sym typeface="Noto Sans SC"/>
                        </a:rPr>
                        <a:t>节点标识</a:t>
                      </a:r>
                      <a:endParaRPr lang="en-US" sz="1100"/>
                    </a:p>
                  </a:txBody>
                  <a:tcPr anchor="ctr" anchorCtr="false" marL="101600" marR="101600" marT="101600" marB="101600">
                    <a:lnL>
                      <a:noFill/>
                    </a:lnL>
                    <a:lnR>
                      <a:noFill/>
                    </a:lnR>
                    <a:lnT>
                      <a:noFill/>
                    </a:lnT>
                    <a:lnB>
                      <a:noFill/>
                    </a:lnB>
                    <a:solidFill>
                      <a:srgbClr val="3B82F6">
                        <a:alpha val="100000"/>
                      </a:srgbClr>
                    </a:solidFill>
                  </a:tcPr>
                </a:tc>
                <a:tc>
                  <a:txBody>
                    <a:bodyPr anchor="t" rtlCol="false"/>
                    <a:lstStyle/>
                    <a:p>
                      <a:pPr algn="ctr" marL="0" indent="0">
                        <a:lnSpc>
                          <a:spcPct val="100000"/>
                        </a:lnSpc>
                        <a:defRPr/>
                      </a:pPr>
                      <a:r>
                        <a:rPr lang="en-US" b="true" i="false" strike="noStrike" u="none" sz="1300">
                          <a:solidFill>
                            <a:srgbClr val="FFFFFF"/>
                          </a:solidFill>
                          <a:latin typeface="Noto Sans SC"/>
                          <a:ea typeface="Noto Sans SC"/>
                          <a:cs typeface="Noto Sans SC"/>
                          <a:sym typeface="Noto Sans SC"/>
                        </a:rPr>
                        <a:t>PageRank 权重值</a:t>
                      </a:r>
                      <a:endParaRPr lang="en-US" sz="1100"/>
                    </a:p>
                  </a:txBody>
                  <a:tcPr anchor="ctr" anchorCtr="false" marL="101600" marR="101600" marT="101600" marB="101600">
                    <a:lnL>
                      <a:noFill/>
                    </a:lnL>
                    <a:lnR>
                      <a:noFill/>
                    </a:lnR>
                    <a:lnT>
                      <a:noFill/>
                    </a:lnT>
                    <a:lnB>
                      <a:noFill/>
                    </a:lnB>
                    <a:solidFill>
                      <a:srgbClr val="3B82F6">
                        <a:alpha val="100000"/>
                      </a:srgbClr>
                    </a:solidFill>
                  </a:tcPr>
                </a:tc>
              </a:tr>
              <a:tr h="381000">
                <a:tc>
                  <a:txBody>
                    <a:bodyPr anchor="t" rtlCol="false"/>
                    <a:lstStyle/>
                    <a:p>
                      <a:pPr algn="ctr" marL="0" indent="0">
                        <a:lnSpc>
                          <a:spcPct val="100000"/>
                        </a:lnSpc>
                        <a:defRPr/>
                      </a:pPr>
                      <a:r>
                        <a:rPr lang="en-US" b="false" i="false" strike="noStrike" u="none" sz="1200">
                          <a:solidFill>
                            <a:srgbClr val="374151"/>
                          </a:solidFill>
                          <a:latin typeface="Noto Sans SC"/>
                          <a:ea typeface="Noto Sans SC"/>
                          <a:cs typeface="Noto Sans SC"/>
                          <a:sym typeface="Noto Sans SC"/>
                        </a:rPr>
                        <a:t>1</a:t>
                      </a:r>
                      <a:endParaRPr lang="en-US" sz="1100"/>
                    </a:p>
                  </a:txBody>
                  <a:tcPr anchor="ctr" anchorCtr="false" marL="101600" marR="101600" marT="101600" marB="101600">
                    <a:lnL>
                      <a:noFill/>
                    </a:lnL>
                    <a:lnR>
                      <a:noFill/>
                    </a:lnR>
                    <a:lnT>
                      <a:noFill/>
                    </a:lnT>
                    <a:lnB>
                      <a:noFill/>
                    </a:lnB>
                    <a:solidFill>
                      <a:srgbClr val="F9FAFB">
                        <a:alpha val="100000"/>
                      </a:srgbClr>
                    </a:solidFill>
                  </a:tcPr>
                </a:tc>
                <a:tc>
                  <a:txBody>
                    <a:bodyPr anchor="t" rtlCol="false"/>
                    <a:lstStyle/>
                    <a:p>
                      <a:pPr algn="ctr" marL="0" indent="0">
                        <a:lnSpc>
                          <a:spcPct val="100000"/>
                        </a:lnSpc>
                        <a:defRPr/>
                      </a:pPr>
                      <a:r>
                        <a:rPr lang="en-US" b="false" i="false" strike="noStrike" u="none" sz="1200">
                          <a:solidFill>
                            <a:srgbClr val="374151"/>
                          </a:solidFill>
                          <a:latin typeface="Noto Sans SC"/>
                          <a:ea typeface="Noto Sans SC"/>
                          <a:cs typeface="Noto Sans SC"/>
                          <a:sym typeface="Noto Sans SC"/>
                        </a:rPr>
                        <a:t>G</a:t>
                      </a:r>
                      <a:endParaRPr lang="en-US" sz="1100"/>
                    </a:p>
                  </a:txBody>
                  <a:tcPr anchor="ctr" anchorCtr="false" marL="101600" marR="101600" marT="101600" marB="101600">
                    <a:lnL>
                      <a:noFill/>
                    </a:lnL>
                    <a:lnR>
                      <a:noFill/>
                    </a:lnR>
                    <a:lnT>
                      <a:noFill/>
                    </a:lnT>
                    <a:lnB>
                      <a:noFill/>
                    </a:lnB>
                    <a:solidFill>
                      <a:srgbClr val="F9FAFB">
                        <a:alpha val="100000"/>
                      </a:srgbClr>
                    </a:solidFill>
                  </a:tcPr>
                </a:tc>
                <a:tc>
                  <a:txBody>
                    <a:bodyPr anchor="t" rtlCol="false"/>
                    <a:lstStyle/>
                    <a:p>
                      <a:pPr algn="ctr" marL="0" indent="0">
                        <a:lnSpc>
                          <a:spcPct val="100000"/>
                        </a:lnSpc>
                        <a:defRPr/>
                      </a:pPr>
                      <a:r>
                        <a:rPr lang="en-US" b="false" i="false" strike="noStrike" u="none" sz="1200">
                          <a:solidFill>
                            <a:srgbClr val="374151"/>
                          </a:solidFill>
                          <a:latin typeface="Noto Sans SC"/>
                          <a:ea typeface="Noto Sans SC"/>
                          <a:cs typeface="Noto Sans SC"/>
                          <a:sym typeface="Noto Sans SC"/>
                        </a:rPr>
                        <a:t>0.06781 (榜首)</a:t>
                      </a:r>
                      <a:endParaRPr lang="en-US" sz="1100"/>
                    </a:p>
                  </a:txBody>
                  <a:tcPr anchor="ctr" anchorCtr="false" marL="101600" marR="101600" marT="101600" marB="101600">
                    <a:lnL>
                      <a:noFill/>
                    </a:lnL>
                    <a:lnR>
                      <a:noFill/>
                    </a:lnR>
                    <a:lnT>
                      <a:noFill/>
                    </a:lnT>
                    <a:lnB>
                      <a:noFill/>
                    </a:lnB>
                    <a:solidFill>
                      <a:srgbClr val="F9FAFB">
                        <a:alpha val="100000"/>
                      </a:srgbClr>
                    </a:solidFill>
                  </a:tcPr>
                </a:tc>
              </a:tr>
              <a:tr h="381000">
                <a:tc>
                  <a:txBody>
                    <a:bodyPr anchor="t" rtlCol="false"/>
                    <a:lstStyle/>
                    <a:p>
                      <a:pPr algn="ctr" marL="0" indent="0">
                        <a:lnSpc>
                          <a:spcPct val="100000"/>
                        </a:lnSpc>
                        <a:defRPr/>
                      </a:pPr>
                      <a:r>
                        <a:rPr lang="en-US" b="false" i="false" strike="noStrike" u="none" sz="1200">
                          <a:solidFill>
                            <a:srgbClr val="374151"/>
                          </a:solidFill>
                          <a:latin typeface="Noto Sans SC"/>
                          <a:ea typeface="Noto Sans SC"/>
                          <a:cs typeface="Noto Sans SC"/>
                          <a:sym typeface="Noto Sans SC"/>
                        </a:rPr>
                        <a:t>2</a:t>
                      </a:r>
                      <a:endParaRPr lang="en-US" sz="1100"/>
                    </a:p>
                  </a:txBody>
                  <a:tcPr anchor="ctr" anchorCtr="false" marL="101600" marR="101600" marT="101600" marB="101600">
                    <a:lnL>
                      <a:noFill/>
                    </a:lnL>
                    <a:lnR>
                      <a:noFill/>
                    </a:lnR>
                    <a:lnT>
                      <a:noFill/>
                    </a:lnT>
                    <a:lnB>
                      <a:noFill/>
                    </a:lnB>
                    <a:solidFill>
                      <a:srgbClr val="FFFFFF">
                        <a:alpha val="100000"/>
                      </a:srgbClr>
                    </a:solidFill>
                  </a:tcPr>
                </a:tc>
                <a:tc>
                  <a:txBody>
                    <a:bodyPr anchor="t" rtlCol="false"/>
                    <a:lstStyle/>
                    <a:p>
                      <a:pPr algn="ctr" marL="0" indent="0">
                        <a:lnSpc>
                          <a:spcPct val="100000"/>
                        </a:lnSpc>
                        <a:defRPr/>
                      </a:pPr>
                      <a:r>
                        <a:rPr lang="en-US" b="false" i="false" strike="noStrike" u="none" sz="1200">
                          <a:solidFill>
                            <a:srgbClr val="374151"/>
                          </a:solidFill>
                          <a:latin typeface="Noto Sans SC"/>
                          <a:ea typeface="Noto Sans SC"/>
                          <a:cs typeface="Noto Sans SC"/>
                          <a:sym typeface="Noto Sans SC"/>
                        </a:rPr>
                        <a:t>I</a:t>
                      </a:r>
                      <a:endParaRPr lang="en-US" sz="1100"/>
                    </a:p>
                  </a:txBody>
                  <a:tcPr anchor="ctr" anchorCtr="false" marL="101600" marR="101600" marT="101600" marB="101600">
                    <a:lnL>
                      <a:noFill/>
                    </a:lnL>
                    <a:lnR>
                      <a:noFill/>
                    </a:lnR>
                    <a:lnT>
                      <a:noFill/>
                    </a:lnT>
                    <a:lnB>
                      <a:noFill/>
                    </a:lnB>
                    <a:solidFill>
                      <a:srgbClr val="FFFFFF">
                        <a:alpha val="100000"/>
                      </a:srgbClr>
                    </a:solidFill>
                  </a:tcPr>
                </a:tc>
                <a:tc>
                  <a:txBody>
                    <a:bodyPr anchor="t" rtlCol="false"/>
                    <a:lstStyle/>
                    <a:p>
                      <a:pPr algn="ctr" marL="0" indent="0">
                        <a:lnSpc>
                          <a:spcPct val="100000"/>
                        </a:lnSpc>
                        <a:defRPr/>
                      </a:pPr>
                      <a:r>
                        <a:rPr lang="en-US" b="false" i="false" strike="noStrike" u="none" sz="1200">
                          <a:solidFill>
                            <a:srgbClr val="374151"/>
                          </a:solidFill>
                          <a:latin typeface="Noto Sans SC"/>
                          <a:ea typeface="Noto Sans SC"/>
                          <a:cs typeface="Noto Sans SC"/>
                          <a:sym typeface="Noto Sans SC"/>
                        </a:rPr>
                        <a:t>0.06373</a:t>
                      </a:r>
                      <a:endParaRPr lang="en-US" sz="1100"/>
                    </a:p>
                  </a:txBody>
                  <a:tcPr anchor="ctr" anchorCtr="false" marL="101600" marR="101600" marT="101600" marB="101600">
                    <a:lnL>
                      <a:noFill/>
                    </a:lnL>
                    <a:lnR>
                      <a:noFill/>
                    </a:lnR>
                    <a:lnT>
                      <a:noFill/>
                    </a:lnT>
                    <a:lnB>
                      <a:noFill/>
                    </a:lnB>
                    <a:solidFill>
                      <a:srgbClr val="FFFFFF">
                        <a:alpha val="100000"/>
                      </a:srgbClr>
                    </a:solidFill>
                  </a:tcPr>
                </a:tc>
              </a:tr>
              <a:tr h="381000">
                <a:tc>
                  <a:txBody>
                    <a:bodyPr anchor="t" rtlCol="false"/>
                    <a:lstStyle/>
                    <a:p>
                      <a:pPr algn="ctr" marL="0" indent="0">
                        <a:lnSpc>
                          <a:spcPct val="100000"/>
                        </a:lnSpc>
                        <a:defRPr/>
                      </a:pPr>
                      <a:r>
                        <a:rPr lang="en-US" b="false" i="false" strike="noStrike" u="none" sz="1200">
                          <a:solidFill>
                            <a:srgbClr val="374151"/>
                          </a:solidFill>
                          <a:latin typeface="Noto Sans SC"/>
                          <a:ea typeface="Noto Sans SC"/>
                          <a:cs typeface="Noto Sans SC"/>
                          <a:sym typeface="Noto Sans SC"/>
                        </a:rPr>
                        <a:t>3</a:t>
                      </a:r>
                      <a:endParaRPr lang="en-US" sz="1100"/>
                    </a:p>
                  </a:txBody>
                  <a:tcPr anchor="ctr" anchorCtr="false" marL="101600" marR="101600" marT="101600" marB="101600">
                    <a:lnL>
                      <a:noFill/>
                    </a:lnL>
                    <a:lnR>
                      <a:noFill/>
                    </a:lnR>
                    <a:lnT>
                      <a:noFill/>
                    </a:lnT>
                    <a:lnB>
                      <a:noFill/>
                    </a:lnB>
                    <a:solidFill>
                      <a:srgbClr val="F9FAFB">
                        <a:alpha val="100000"/>
                      </a:srgbClr>
                    </a:solidFill>
                  </a:tcPr>
                </a:tc>
                <a:tc>
                  <a:txBody>
                    <a:bodyPr anchor="t" rtlCol="false"/>
                    <a:lstStyle/>
                    <a:p>
                      <a:pPr algn="ctr" marL="0" indent="0">
                        <a:lnSpc>
                          <a:spcPct val="100000"/>
                        </a:lnSpc>
                        <a:defRPr/>
                      </a:pPr>
                      <a:r>
                        <a:rPr lang="en-US" b="false" i="false" strike="noStrike" u="none" sz="1200">
                          <a:solidFill>
                            <a:srgbClr val="374151"/>
                          </a:solidFill>
                          <a:latin typeface="Noto Sans SC"/>
                          <a:ea typeface="Noto Sans SC"/>
                          <a:cs typeface="Noto Sans SC"/>
                          <a:sym typeface="Noto Sans SC"/>
                        </a:rPr>
                        <a:t>D</a:t>
                      </a:r>
                      <a:endParaRPr lang="en-US" sz="1100"/>
                    </a:p>
                  </a:txBody>
                  <a:tcPr anchor="ctr" anchorCtr="false" marL="101600" marR="101600" marT="101600" marB="101600">
                    <a:lnL>
                      <a:noFill/>
                    </a:lnL>
                    <a:lnR>
                      <a:noFill/>
                    </a:lnR>
                    <a:lnT>
                      <a:noFill/>
                    </a:lnT>
                    <a:lnB>
                      <a:noFill/>
                    </a:lnB>
                    <a:solidFill>
                      <a:srgbClr val="F9FAFB">
                        <a:alpha val="100000"/>
                      </a:srgbClr>
                    </a:solidFill>
                  </a:tcPr>
                </a:tc>
                <a:tc>
                  <a:txBody>
                    <a:bodyPr anchor="t" rtlCol="false"/>
                    <a:lstStyle/>
                    <a:p>
                      <a:pPr algn="ctr" marL="0" indent="0">
                        <a:lnSpc>
                          <a:spcPct val="100000"/>
                        </a:lnSpc>
                        <a:defRPr/>
                      </a:pPr>
                      <a:r>
                        <a:rPr lang="en-US" b="false" i="false" strike="noStrike" u="none" sz="1200">
                          <a:solidFill>
                            <a:srgbClr val="374151"/>
                          </a:solidFill>
                          <a:latin typeface="Noto Sans SC"/>
                          <a:ea typeface="Noto Sans SC"/>
                          <a:cs typeface="Noto Sans SC"/>
                          <a:sym typeface="Noto Sans SC"/>
                        </a:rPr>
                        <a:t>0.06157</a:t>
                      </a:r>
                      <a:endParaRPr lang="en-US" sz="1100"/>
                    </a:p>
                  </a:txBody>
                  <a:tcPr anchor="ctr" anchorCtr="false" marL="101600" marR="101600" marT="101600" marB="101600">
                    <a:lnL>
                      <a:noFill/>
                    </a:lnL>
                    <a:lnR>
                      <a:noFill/>
                    </a:lnR>
                    <a:lnT>
                      <a:noFill/>
                    </a:lnT>
                    <a:lnB>
                      <a:noFill/>
                    </a:lnB>
                    <a:solidFill>
                      <a:srgbClr val="F9FAFB">
                        <a:alpha val="100000"/>
                      </a:srgbClr>
                    </a:solidFill>
                  </a:tcPr>
                </a:tc>
              </a:tr>
              <a:tr h="381000">
                <a:tc>
                  <a:txBody>
                    <a:bodyPr anchor="t" rtlCol="false"/>
                    <a:lstStyle/>
                    <a:p>
                      <a:pPr algn="ctr" marL="0" indent="0">
                        <a:lnSpc>
                          <a:spcPct val="100000"/>
                        </a:lnSpc>
                        <a:defRPr/>
                      </a:pPr>
                      <a:r>
                        <a:rPr lang="en-US" b="false" i="false" strike="noStrike" u="none" sz="1200">
                          <a:solidFill>
                            <a:srgbClr val="374151"/>
                          </a:solidFill>
                          <a:latin typeface="Noto Sans SC"/>
                          <a:ea typeface="Noto Sans SC"/>
                          <a:cs typeface="Noto Sans SC"/>
                          <a:sym typeface="Noto Sans SC"/>
                        </a:rPr>
                        <a:t>4</a:t>
                      </a:r>
                      <a:endParaRPr lang="en-US" sz="1100"/>
                    </a:p>
                  </a:txBody>
                  <a:tcPr anchor="ctr" anchorCtr="false" marL="101600" marR="101600" marT="101600" marB="101600">
                    <a:lnL>
                      <a:noFill/>
                    </a:lnL>
                    <a:lnR>
                      <a:noFill/>
                    </a:lnR>
                    <a:lnT>
                      <a:noFill/>
                    </a:lnT>
                    <a:lnB>
                      <a:noFill/>
                    </a:lnB>
                    <a:solidFill>
                      <a:srgbClr val="FFFFFF">
                        <a:alpha val="100000"/>
                      </a:srgbClr>
                    </a:solidFill>
                  </a:tcPr>
                </a:tc>
                <a:tc>
                  <a:txBody>
                    <a:bodyPr anchor="t" rtlCol="false"/>
                    <a:lstStyle/>
                    <a:p>
                      <a:pPr algn="ctr" marL="0" indent="0">
                        <a:lnSpc>
                          <a:spcPct val="100000"/>
                        </a:lnSpc>
                        <a:defRPr/>
                      </a:pPr>
                      <a:r>
                        <a:rPr lang="en-US" b="false" i="false" strike="noStrike" u="none" sz="1200">
                          <a:solidFill>
                            <a:srgbClr val="374151"/>
                          </a:solidFill>
                          <a:latin typeface="Noto Sans SC"/>
                          <a:ea typeface="Noto Sans SC"/>
                          <a:cs typeface="Noto Sans SC"/>
                          <a:sym typeface="Noto Sans SC"/>
                        </a:rPr>
                        <a:t>E</a:t>
                      </a:r>
                      <a:endParaRPr lang="en-US" sz="1100"/>
                    </a:p>
                  </a:txBody>
                  <a:tcPr anchor="ctr" anchorCtr="false" marL="101600" marR="101600" marT="101600" marB="101600">
                    <a:lnL>
                      <a:noFill/>
                    </a:lnL>
                    <a:lnR>
                      <a:noFill/>
                    </a:lnR>
                    <a:lnT>
                      <a:noFill/>
                    </a:lnT>
                    <a:lnB>
                      <a:noFill/>
                    </a:lnB>
                    <a:solidFill>
                      <a:srgbClr val="FFFFFF">
                        <a:alpha val="100000"/>
                      </a:srgbClr>
                    </a:solidFill>
                  </a:tcPr>
                </a:tc>
                <a:tc>
                  <a:txBody>
                    <a:bodyPr anchor="t" rtlCol="false"/>
                    <a:lstStyle/>
                    <a:p>
                      <a:pPr algn="ctr" marL="0" indent="0">
                        <a:lnSpc>
                          <a:spcPct val="100000"/>
                        </a:lnSpc>
                        <a:defRPr/>
                      </a:pPr>
                      <a:r>
                        <a:rPr lang="en-US" b="false" i="false" strike="noStrike" u="none" sz="1200">
                          <a:solidFill>
                            <a:srgbClr val="374151"/>
                          </a:solidFill>
                          <a:latin typeface="Noto Sans SC"/>
                          <a:ea typeface="Noto Sans SC"/>
                          <a:cs typeface="Noto Sans SC"/>
                          <a:sym typeface="Noto Sans SC"/>
                        </a:rPr>
                        <a:t>0.05980</a:t>
                      </a:r>
                      <a:endParaRPr lang="en-US" sz="1100"/>
                    </a:p>
                  </a:txBody>
                  <a:tcPr anchor="ctr" anchorCtr="false" marL="101600" marR="101600" marT="101600" marB="101600">
                    <a:lnL>
                      <a:noFill/>
                    </a:lnL>
                    <a:lnR>
                      <a:noFill/>
                    </a:lnR>
                    <a:lnT>
                      <a:noFill/>
                    </a:lnT>
                    <a:lnB>
                      <a:noFill/>
                    </a:lnB>
                    <a:solidFill>
                      <a:srgbClr val="FFFFFF">
                        <a:alpha val="100000"/>
                      </a:srgbClr>
                    </a:solidFill>
                  </a:tcPr>
                </a:tc>
              </a:tr>
              <a:tr h="381000">
                <a:tc>
                  <a:txBody>
                    <a:bodyPr anchor="t" rtlCol="false"/>
                    <a:lstStyle/>
                    <a:p>
                      <a:pPr algn="ctr" marL="0" indent="0">
                        <a:lnSpc>
                          <a:spcPct val="100000"/>
                        </a:lnSpc>
                        <a:defRPr/>
                      </a:pPr>
                      <a:r>
                        <a:rPr lang="en-US" b="false" i="false" strike="noStrike" u="none" sz="1200">
                          <a:solidFill>
                            <a:srgbClr val="374151"/>
                          </a:solidFill>
                          <a:latin typeface="Noto Sans SC"/>
                          <a:ea typeface="Noto Sans SC"/>
                          <a:cs typeface="Noto Sans SC"/>
                          <a:sym typeface="Noto Sans SC"/>
                        </a:rPr>
                        <a:t>5</a:t>
                      </a:r>
                      <a:endParaRPr lang="en-US" sz="1100"/>
                    </a:p>
                  </a:txBody>
                  <a:tcPr anchor="ctr" anchorCtr="false" marL="101600" marR="101600" marT="101600" marB="101600">
                    <a:lnL>
                      <a:noFill/>
                    </a:lnL>
                    <a:lnR>
                      <a:noFill/>
                    </a:lnR>
                    <a:lnT>
                      <a:noFill/>
                    </a:lnT>
                    <a:lnB>
                      <a:noFill/>
                    </a:lnB>
                    <a:solidFill>
                      <a:srgbClr val="F9FAFB">
                        <a:alpha val="100000"/>
                      </a:srgbClr>
                    </a:solidFill>
                  </a:tcPr>
                </a:tc>
                <a:tc>
                  <a:txBody>
                    <a:bodyPr anchor="t" rtlCol="false"/>
                    <a:lstStyle/>
                    <a:p>
                      <a:pPr algn="ctr" marL="0" indent="0">
                        <a:lnSpc>
                          <a:spcPct val="100000"/>
                        </a:lnSpc>
                        <a:defRPr/>
                      </a:pPr>
                      <a:r>
                        <a:rPr lang="en-US" b="false" i="false" strike="noStrike" u="none" sz="1200">
                          <a:solidFill>
                            <a:srgbClr val="374151"/>
                          </a:solidFill>
                          <a:latin typeface="Noto Sans SC"/>
                          <a:ea typeface="Noto Sans SC"/>
                          <a:cs typeface="Noto Sans SC"/>
                          <a:sym typeface="Noto Sans SC"/>
                        </a:rPr>
                        <a:t>R</a:t>
                      </a:r>
                      <a:endParaRPr lang="en-US" sz="1100"/>
                    </a:p>
                  </a:txBody>
                  <a:tcPr anchor="ctr" anchorCtr="false" marL="101600" marR="101600" marT="101600" marB="101600">
                    <a:lnL>
                      <a:noFill/>
                    </a:lnL>
                    <a:lnR>
                      <a:noFill/>
                    </a:lnR>
                    <a:lnT>
                      <a:noFill/>
                    </a:lnT>
                    <a:lnB>
                      <a:noFill/>
                    </a:lnB>
                    <a:solidFill>
                      <a:srgbClr val="F9FAFB">
                        <a:alpha val="100000"/>
                      </a:srgbClr>
                    </a:solidFill>
                  </a:tcPr>
                </a:tc>
                <a:tc>
                  <a:txBody>
                    <a:bodyPr anchor="t" rtlCol="false"/>
                    <a:lstStyle/>
                    <a:p>
                      <a:pPr algn="ctr" marL="0" indent="0">
                        <a:lnSpc>
                          <a:spcPct val="100000"/>
                        </a:lnSpc>
                        <a:defRPr/>
                      </a:pPr>
                      <a:r>
                        <a:rPr lang="en-US" b="false" i="false" strike="noStrike" u="none" sz="1200">
                          <a:solidFill>
                            <a:srgbClr val="374151"/>
                          </a:solidFill>
                          <a:latin typeface="Noto Sans SC"/>
                          <a:ea typeface="Noto Sans SC"/>
                          <a:cs typeface="Noto Sans SC"/>
                          <a:sym typeface="Noto Sans SC"/>
                        </a:rPr>
                        <a:t>0.05642</a:t>
                      </a:r>
                      <a:endParaRPr lang="en-US" sz="1100"/>
                    </a:p>
                  </a:txBody>
                  <a:tcPr anchor="ctr" anchorCtr="false" marL="101600" marR="101600" marT="101600" marB="101600">
                    <a:lnL>
                      <a:noFill/>
                    </a:lnL>
                    <a:lnR>
                      <a:noFill/>
                    </a:lnR>
                    <a:lnT>
                      <a:noFill/>
                    </a:lnT>
                    <a:lnB>
                      <a:noFill/>
                    </a:lnB>
                    <a:solidFill>
                      <a:srgbClr val="F9FAFB">
                        <a:alpha val="100000"/>
                      </a:srgbClr>
                    </a:solidFill>
                  </a:tcPr>
                </a:tc>
              </a:tr>
              <a:tr h="381000">
                <a:tc>
                  <a:txBody>
                    <a:bodyPr anchor="t" rtlCol="false"/>
                    <a:lstStyle/>
                    <a:p>
                      <a:pPr algn="ctr" marL="0" indent="0">
                        <a:lnSpc>
                          <a:spcPct val="100000"/>
                        </a:lnSpc>
                        <a:defRPr/>
                      </a:pPr>
                      <a:r>
                        <a:rPr lang="en-US" b="false" i="false" strike="noStrike" u="none" sz="1200">
                          <a:solidFill>
                            <a:srgbClr val="374151"/>
                          </a:solidFill>
                          <a:latin typeface="Noto Sans SC"/>
                          <a:ea typeface="Noto Sans SC"/>
                          <a:cs typeface="Noto Sans SC"/>
                          <a:sym typeface="Noto Sans SC"/>
                        </a:rPr>
                        <a:t>6-10</a:t>
                      </a:r>
                      <a:endParaRPr lang="en-US" sz="1100"/>
                    </a:p>
                  </a:txBody>
                  <a:tcPr anchor="ctr" anchorCtr="false" marL="101600" marR="101600" marT="101600" marB="101600">
                    <a:lnL>
                      <a:noFill/>
                    </a:lnL>
                    <a:lnR>
                      <a:noFill/>
                    </a:lnR>
                    <a:lnT>
                      <a:noFill/>
                    </a:lnT>
                    <a:lnB>
                      <a:noFill/>
                    </a:lnB>
                    <a:solidFill>
                      <a:srgbClr val="FFFFFF">
                        <a:alpha val="100000"/>
                      </a:srgbClr>
                    </a:solidFill>
                  </a:tcPr>
                </a:tc>
                <a:tc>
                  <a:txBody>
                    <a:bodyPr anchor="t" rtlCol="false"/>
                    <a:lstStyle/>
                    <a:p>
                      <a:pPr algn="ctr" marL="0" indent="0">
                        <a:lnSpc>
                          <a:spcPct val="100000"/>
                        </a:lnSpc>
                        <a:defRPr/>
                      </a:pPr>
                      <a:r>
                        <a:rPr lang="en-US" b="false" i="false" strike="noStrike" u="none" sz="1200">
                          <a:solidFill>
                            <a:srgbClr val="374151"/>
                          </a:solidFill>
                          <a:latin typeface="Noto Sans SC"/>
                          <a:ea typeface="Noto Sans SC"/>
                          <a:cs typeface="Noto Sans SC"/>
                          <a:sym typeface="Noto Sans SC"/>
                        </a:rPr>
                        <a:t>B / C / F / A / H</a:t>
                      </a:r>
                      <a:endParaRPr lang="en-US" sz="1100"/>
                    </a:p>
                  </a:txBody>
                  <a:tcPr anchor="ctr" anchorCtr="false" marL="101600" marR="101600" marT="101600" marB="101600">
                    <a:lnL>
                      <a:noFill/>
                    </a:lnL>
                    <a:lnR>
                      <a:noFill/>
                    </a:lnR>
                    <a:lnT>
                      <a:noFill/>
                    </a:lnT>
                    <a:lnB>
                      <a:noFill/>
                    </a:lnB>
                    <a:solidFill>
                      <a:srgbClr val="FFFFFF">
                        <a:alpha val="100000"/>
                      </a:srgbClr>
                    </a:solidFill>
                  </a:tcPr>
                </a:tc>
                <a:tc>
                  <a:txBody>
                    <a:bodyPr anchor="t" rtlCol="false"/>
                    <a:lstStyle/>
                    <a:p>
                      <a:pPr algn="ctr" marL="0" indent="0">
                        <a:lnSpc>
                          <a:spcPct val="100000"/>
                        </a:lnSpc>
                        <a:defRPr/>
                      </a:pPr>
                      <a:r>
                        <a:rPr lang="en-US" b="false" i="false" strike="noStrike" u="none" sz="1200">
                          <a:solidFill>
                            <a:srgbClr val="374151"/>
                          </a:solidFill>
                          <a:latin typeface="Noto Sans SC"/>
                          <a:ea typeface="Noto Sans SC"/>
                          <a:cs typeface="Noto Sans SC"/>
                          <a:sym typeface="Noto Sans SC"/>
                        </a:rPr>
                        <a:t>0.05198 - 0.05418</a:t>
                      </a:r>
                      <a:endParaRPr lang="en-US" sz="1100"/>
                    </a:p>
                  </a:txBody>
                  <a:tcPr anchor="ctr" anchorCtr="false" marL="101600" marR="101600" marT="101600" marB="101600">
                    <a:lnL>
                      <a:noFill/>
                    </a:lnL>
                    <a:lnR>
                      <a:noFill/>
                    </a:lnR>
                    <a:lnT>
                      <a:noFill/>
                    </a:lnT>
                    <a:lnB>
                      <a:noFill/>
                    </a:lnB>
                    <a:solidFill>
                      <a:srgbClr val="FFFFFF">
                        <a:alpha val="100000"/>
                      </a:srgbClr>
                    </a:solidFill>
                  </a:tcPr>
                </a:tc>
              </a:tr>
            </a:tbl>
          </a:graphicData>
        </a:graphic>
      </p:graphicFrame>
      <p:sp>
        <p:nvSpPr>
          <p:cNvPr name="AutoShape 17" id="17"/>
          <p:cNvSpPr/>
          <p:nvPr/>
        </p:nvSpPr>
        <p:spPr>
          <a:xfrm rot="0" flipH="false" flipV="false">
            <a:off x="8128000" y="3048000"/>
            <a:ext cx="3302000" cy="3175000"/>
          </a:xfrm>
          <a:prstGeom prst="roundRect">
            <a:avLst>
              <a:gd name="adj" fmla="val 0"/>
            </a:avLst>
          </a:prstGeom>
          <a:noFill/>
          <a:ln w="12700" cmpd="sng" cap="flat">
            <a:solidFill>
              <a:srgbClr val="9CA3AF">
                <a:alpha val="100000"/>
              </a:srgbClr>
            </a:solidFill>
            <a:prstDash val="dash"/>
            <a:round/>
          </a:ln>
        </p:spPr>
        <p:txBody>
          <a:bodyPr anchor="ctr" rtlCol="false" anchorCtr="false" vert="horz" wrap="square" lIns="0" rIns="0" tIns="0" bIns="0"/>
          <a:lstStyle/>
          <a:p>
            <a:pPr algn="ctr" marL="0" indent="0">
              <a:lnSpc>
                <a:spcPct val="125000"/>
              </a:lnSpc>
              <a:defRPr/>
            </a:pPr>
            <a:r>
              <a:rPr lang="en-US" b="false" i="false" strike="noStrike" u="none" sz="1400">
                <a:solidFill>
                  <a:srgbClr val="6B7280"/>
                </a:solidFill>
                <a:latin typeface="Noto Sans SC"/>
                <a:ea typeface="Noto Sans SC"/>
                <a:cs typeface="Noto Sans SC"/>
                <a:sym typeface="Noto Sans SC"/>
              </a:rPr>
              <a:t>程序运行日志 (Terminal Output)</a:t>
            </a:r>
            <a:endParaRPr lang="en-US" sz="1100"/>
          </a:p>
        </p:txBody>
      </p:sp>
      <p:sp>
        <p:nvSpPr>
          <p:cNvPr name="AutoShape 18" id="18"/>
          <p:cNvSpPr/>
          <p:nvPr/>
        </p:nvSpPr>
        <p:spPr>
          <a:xfrm rot="0" flipH="false" flipV="false">
            <a:off x="8255000" y="3683000"/>
            <a:ext cx="3048000" cy="190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4B5563"/>
                </a:solidFill>
                <a:latin typeface="Noto Sans SC"/>
                <a:ea typeface="Noto Sans SC"/>
                <a:cs typeface="Noto Sans SC"/>
                <a:sym typeface="Noto Sans SC"/>
              </a:rPr>
              <a:t>Loading dataset... OK (20 nodes loaded)</a:t>
            </a:r>
            <a:r>
              <a:rPr lang="en-US" b="false" i="false" strike="noStrike" u="none" sz="1200">
                <a:solidFill>
                  <a:srgbClr val="374151"/>
                </a:solidFill>
                <a:latin typeface="Noto Sans SC"/>
                <a:ea typeface="Noto Sans SC"/>
                <a:cs typeface="Noto Sans SC"/>
                <a:sym typeface="Noto Sans SC"/>
              </a:rPr>
              <a:t/>
            </a:r>
            <a:br>
              <a:rPr lang="en-US" b="false" i="false" strike="noStrike" u="none" sz="1200">
                <a:solidFill>
                  <a:srgbClr val="374151"/>
                </a:solidFill>
                <a:latin typeface="Noto Sans SC"/>
                <a:ea typeface="Noto Sans SC"/>
                <a:cs typeface="Noto Sans SC"/>
                <a:sym typeface="Noto Sans SC"/>
              </a:rPr>
            </a:br>
            <a:r>
              <a:rPr lang="en-US" b="false" i="false" strike="noStrike" u="none" sz="1200">
                <a:solidFill>
                  <a:srgbClr val="4B5563"/>
                </a:solidFill>
                <a:latin typeface="Noto Sans SC"/>
                <a:ea typeface="Noto Sans SC"/>
                <a:cs typeface="Noto Sans SC"/>
                <a:sym typeface="Noto Sans SC"/>
              </a:rPr>
              <a:t>Start iteration (max=10)... Done.</a:t>
            </a:r>
            <a:r>
              <a:rPr lang="en-US" b="false" i="false" strike="noStrike" u="none" sz="1200">
                <a:solidFill>
                  <a:srgbClr val="374151"/>
                </a:solidFill>
                <a:latin typeface="Noto Sans SC"/>
                <a:ea typeface="Noto Sans SC"/>
                <a:cs typeface="Noto Sans SC"/>
                <a:sym typeface="Noto Sans SC"/>
              </a:rPr>
              <a:t/>
            </a:r>
            <a:br>
              <a:rPr lang="en-US" b="false" i="false" strike="noStrike" u="none" sz="1200">
                <a:solidFill>
                  <a:srgbClr val="374151"/>
                </a:solidFill>
                <a:latin typeface="Noto Sans SC"/>
                <a:ea typeface="Noto Sans SC"/>
                <a:cs typeface="Noto Sans SC"/>
                <a:sym typeface="Noto Sans SC"/>
              </a:rPr>
            </a:br>
            <a:r>
              <a:rPr lang="en-US" b="true" i="false" strike="noStrike" u="none" sz="1200">
                <a:solidFill>
                  <a:srgbClr val="1F2937"/>
                </a:solidFill>
                <a:latin typeface="Noto Sans SC"/>
                <a:ea typeface="Noto Sans SC"/>
                <a:cs typeface="Noto Sans SC"/>
                <a:sym typeface="Noto Sans SC"/>
              </a:rPr>
              <a:t>[RESULT] Rank 1: Node G (0.06781)</a:t>
            </a:r>
            <a:r>
              <a:rPr lang="en-US" b="false" i="false" strike="noStrike" u="none" sz="1200">
                <a:solidFill>
                  <a:srgbClr val="374151"/>
                </a:solidFill>
                <a:latin typeface="Noto Sans SC"/>
                <a:ea typeface="Noto Sans SC"/>
                <a:cs typeface="Noto Sans SC"/>
                <a:sym typeface="Noto Sans SC"/>
              </a:rPr>
              <a:t/>
            </a:r>
            <a:br>
              <a:rPr lang="en-US" b="false" i="false" strike="noStrike" u="none" sz="1200">
                <a:solidFill>
                  <a:srgbClr val="374151"/>
                </a:solidFill>
                <a:latin typeface="Noto Sans SC"/>
                <a:ea typeface="Noto Sans SC"/>
                <a:cs typeface="Noto Sans SC"/>
                <a:sym typeface="Noto Sans SC"/>
              </a:rPr>
            </a:br>
            <a:r>
              <a:rPr lang="en-US" b="false" i="false" strike="noStrike" u="none" sz="1200">
                <a:solidFill>
                  <a:srgbClr val="4B5563"/>
                </a:solidFill>
                <a:latin typeface="Noto Sans SC"/>
                <a:ea typeface="Noto Sans SC"/>
                <a:cs typeface="Noto Sans SC"/>
                <a:sym typeface="Noto Sans SC"/>
              </a:rPr>
              <a:t>Total PR Sum = 1.000000 | Time: 8.95s</a:t>
            </a:r>
            <a:endParaRPr lang="en-US" sz="1100"/>
          </a:p>
        </p:txBody>
      </p:sp>
      <p:sp>
        <p:nvSpPr>
          <p:cNvPr name="AutoShape 19" id="19"/>
          <p:cNvSpPr/>
          <p:nvPr/>
        </p:nvSpPr>
        <p:spPr>
          <a:xfrm rot="0" flipH="false" flipV="false">
            <a:off x="8255000" y="5334000"/>
            <a:ext cx="304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200">
                <a:solidFill>
                  <a:srgbClr val="1F2937"/>
                </a:solidFill>
                <a:latin typeface="Noto Sans SC"/>
                <a:ea typeface="Noto Sans SC"/>
                <a:cs typeface="Noto Sans SC"/>
                <a:sym typeface="Noto Sans SC"/>
              </a:rPr>
              <a:t>实验结论：</a:t>
            </a:r>
            <a:r>
              <a:rPr lang="en-US" b="false" i="false" strike="noStrike" u="none" sz="1200">
                <a:solidFill>
                  <a:srgbClr val="4B5563"/>
                </a:solidFill>
                <a:latin typeface="Noto Sans SC"/>
                <a:ea typeface="Noto Sans SC"/>
                <a:cs typeface="Noto Sans SC"/>
                <a:sym typeface="Noto Sans SC"/>
              </a:rPr>
              <a:t>算法运行稳定，节点G在该拓扑中拥有最高的链接权重，且数值归一化结果正确，符合实验预期。</a:t>
            </a:r>
            <a:endParaRPr lang="en-US" sz="1100"/>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1F2937"/>
                </a:solidFill>
                <a:latin typeface="Noto Sans SC"/>
                <a:ea typeface="Noto Sans SC"/>
                <a:cs typeface="Noto Sans SC"/>
                <a:sym typeface="Noto Sans SC"/>
              </a:rPr>
              <a:t>06 算法二：TF-IDF 原理</a:t>
            </a:r>
            <a:endParaRPr lang="en-US" sz="1100"/>
          </a:p>
        </p:txBody>
      </p:sp>
      <p:sp>
        <p:nvSpPr>
          <p:cNvPr name="AutoShape 3" id="3"/>
          <p:cNvSpPr/>
          <p:nvPr/>
        </p:nvSpPr>
        <p:spPr>
          <a:xfrm rot="0" flipH="false" flipV="false">
            <a:off x="762000" y="1778000"/>
            <a:ext cx="254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3B82F6"/>
                </a:solidFill>
                <a:latin typeface="Noto Sans SC"/>
                <a:ea typeface="Noto Sans SC"/>
                <a:cs typeface="Noto Sans SC"/>
                <a:sym typeface="Noto Sans SC"/>
              </a:rPr>
              <a:t>TF (词频)</a:t>
            </a:r>
            <a:endParaRPr lang="en-US" sz="1100"/>
          </a:p>
        </p:txBody>
      </p:sp>
      <p:sp>
        <p:nvSpPr>
          <p:cNvPr name="AutoShape 4" id="4"/>
          <p:cNvSpPr/>
          <p:nvPr/>
        </p:nvSpPr>
        <p:spPr>
          <a:xfrm rot="0" flipH="false" flipV="false">
            <a:off x="762000" y="2286000"/>
            <a:ext cx="25400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1F2937"/>
                </a:solidFill>
                <a:latin typeface="Noto Sans SC"/>
                <a:ea typeface="Noto Sans SC"/>
                <a:cs typeface="Noto Sans SC"/>
                <a:sym typeface="Noto Sans SC"/>
              </a:rPr>
              <a:t>词t在文档d中的出现频率。直观反映了该词汇在当前单篇文档中的局部重要性——出现的次数越多，往往代表它对该文档主题的贡献越大。</a:t>
            </a:r>
            <a:endParaRPr lang="en-US" sz="1100"/>
          </a:p>
        </p:txBody>
      </p:sp>
      <p:sp>
        <p:nvSpPr>
          <p:cNvPr name="AutoShape 5" id="5"/>
          <p:cNvSpPr/>
          <p:nvPr/>
        </p:nvSpPr>
        <p:spPr>
          <a:xfrm rot="0" flipH="false" flipV="false">
            <a:off x="3492500" y="1778000"/>
            <a:ext cx="254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3B82F6"/>
                </a:solidFill>
                <a:latin typeface="Noto Sans SC"/>
                <a:ea typeface="Noto Sans SC"/>
                <a:cs typeface="Noto Sans SC"/>
                <a:sym typeface="Noto Sans SC"/>
              </a:rPr>
              <a:t>IDF (逆文档频率)</a:t>
            </a:r>
            <a:endParaRPr lang="en-US" sz="1100"/>
          </a:p>
        </p:txBody>
      </p:sp>
      <p:sp>
        <p:nvSpPr>
          <p:cNvPr name="AutoShape 6" id="6"/>
          <p:cNvSpPr/>
          <p:nvPr/>
        </p:nvSpPr>
        <p:spPr>
          <a:xfrm rot="0" flipH="false" flipV="false">
            <a:off x="3492500" y="2286000"/>
            <a:ext cx="25400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1F2937"/>
                </a:solidFill>
                <a:latin typeface="Noto Sans SC"/>
                <a:ea typeface="Noto Sans SC"/>
                <a:cs typeface="Noto Sans SC"/>
                <a:sym typeface="Noto Sans SC"/>
              </a:rPr>
              <a:t>衡量词汇在全局文档集中的稀有程度。包含该词的文档数量越少，IDF值越高，说明这个词具有更强的类别区分能力。</a:t>
            </a:r>
            <a:endParaRPr lang="en-US" sz="1100"/>
          </a:p>
        </p:txBody>
      </p:sp>
      <p:sp>
        <p:nvSpPr>
          <p:cNvPr name="AutoShape 7" id="7"/>
          <p:cNvSpPr/>
          <p:nvPr/>
        </p:nvSpPr>
        <p:spPr>
          <a:xfrm rot="0" flipH="false" flipV="false">
            <a:off x="6223000" y="1778000"/>
            <a:ext cx="254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3B82F6"/>
                </a:solidFill>
                <a:latin typeface="Noto Sans SC"/>
                <a:ea typeface="Noto Sans SC"/>
                <a:cs typeface="Noto Sans SC"/>
                <a:sym typeface="Noto Sans SC"/>
              </a:rPr>
              <a:t>核心判定逻辑</a:t>
            </a:r>
            <a:endParaRPr lang="en-US" sz="1100"/>
          </a:p>
        </p:txBody>
      </p:sp>
      <p:sp>
        <p:nvSpPr>
          <p:cNvPr name="AutoShape 8" id="8"/>
          <p:cNvSpPr/>
          <p:nvPr/>
        </p:nvSpPr>
        <p:spPr>
          <a:xfrm rot="0" flipH="false" flipV="false">
            <a:off x="6223000" y="2286000"/>
            <a:ext cx="25400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1F2937"/>
                </a:solidFill>
                <a:latin typeface="Noto Sans SC"/>
                <a:ea typeface="Noto Sans SC"/>
                <a:cs typeface="Noto Sans SC"/>
                <a:sym typeface="Noto Sans SC"/>
              </a:rPr>
              <a:t>高频且稀有即核心。若一个词在目标文档中出现频率高，同时在其他文档中很少出现，则它极有可能是该文档的核心关键词。</a:t>
            </a:r>
            <a:endParaRPr lang="en-US" sz="1100"/>
          </a:p>
        </p:txBody>
      </p:sp>
      <p:sp>
        <p:nvSpPr>
          <p:cNvPr name="AutoShape 9" id="9"/>
          <p:cNvSpPr/>
          <p:nvPr/>
        </p:nvSpPr>
        <p:spPr>
          <a:xfrm rot="0" flipH="false" flipV="false">
            <a:off x="8953500" y="1778000"/>
            <a:ext cx="254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3B82F6"/>
                </a:solidFill>
                <a:latin typeface="Noto Sans SC"/>
                <a:ea typeface="Noto Sans SC"/>
                <a:cs typeface="Noto Sans SC"/>
                <a:sym typeface="Noto Sans SC"/>
              </a:rPr>
              <a:t>余弦相似度</a:t>
            </a:r>
            <a:endParaRPr lang="en-US" sz="1100"/>
          </a:p>
        </p:txBody>
      </p:sp>
      <p:sp>
        <p:nvSpPr>
          <p:cNvPr name="AutoShape 10" id="10"/>
          <p:cNvSpPr/>
          <p:nvPr/>
        </p:nvSpPr>
        <p:spPr>
          <a:xfrm rot="0" flipH="false" flipV="false">
            <a:off x="8953500" y="2286000"/>
            <a:ext cx="25400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1F2937"/>
                </a:solidFill>
                <a:latin typeface="Noto Sans SC"/>
                <a:ea typeface="Noto Sans SC"/>
                <a:cs typeface="Noto Sans SC"/>
                <a:sym typeface="Noto Sans SC"/>
              </a:rPr>
              <a:t>基于TF-IDF向量空间模型，通过计算向量夹角的余弦值来度量文档间的相似性。数值越接近1，代表文档内容越相似。</a:t>
            </a:r>
            <a:endParaRPr lang="en-US" sz="1100"/>
          </a:p>
        </p:txBody>
      </p:sp>
      <p:pic>
        <p:nvPicPr>
          <p:cNvPr name="Picture 11" id="11"/>
          <p:cNvPicPr>
            <a:picLocks noChangeAspect="true"/>
          </p:cNvPicPr>
          <p:nvPr/>
        </p:nvPicPr>
        <p:blipFill>
          <a:blip r:embed="rId2"/>
          <a:srcRect l="11004" r="11004" t="0" b="0"/>
          <a:stretch>
            <a:fillRect/>
          </a:stretch>
        </p:blipFill>
        <p:spPr>
          <a:xfrm rot="0" flipH="false" flipV="false">
            <a:off x="762000" y="4064000"/>
            <a:ext cx="4572000" cy="2349500"/>
          </a:xfrm>
          <a:prstGeom prst="rect">
            <a:avLst/>
          </a:prstGeom>
          <a:noFill/>
          <a:ln w="25400" cmpd="sng" cap="flat">
            <a:noFill/>
            <a:prstDash val="solid"/>
            <a:round/>
          </a:ln>
        </p:spPr>
      </p:pic>
      <p:cxnSp>
        <p:nvCxnSpPr>
          <p:cNvPr name="Connector 12" id="12"/>
          <p:cNvCxnSpPr/>
          <p:nvPr/>
        </p:nvCxnSpPr>
        <p:spPr>
          <a:xfrm rot="5381417" flipH="false" flipV="false">
            <a:off x="4540250" y="5232417"/>
            <a:ext cx="2349500" cy="12700"/>
          </a:xfrm>
          <a:prstGeom prst="straightConnector1">
            <a:avLst/>
          </a:prstGeom>
          <a:solidFill>
            <a:srgbClr val="DEE0E3">
              <a:alpha val="100000"/>
            </a:srgbClr>
          </a:solidFill>
          <a:ln w="12700" cmpd="sng" cap="flat">
            <a:solidFill>
              <a:srgbClr val="9CA3AF">
                <a:alpha val="100000"/>
              </a:srgbClr>
            </a:solidFill>
            <a:prstDash val="dash"/>
            <a:round/>
            <a:headEnd type="none" w="med" len="med"/>
            <a:tailEnd type="none" w="med" len="med"/>
          </a:ln>
        </p:spPr>
      </p:cxnSp>
      <p:sp>
        <p:nvSpPr>
          <p:cNvPr name="AutoShape 13" id="13"/>
          <p:cNvSpPr/>
          <p:nvPr/>
        </p:nvSpPr>
        <p:spPr>
          <a:xfrm rot="0" flipH="false" flipV="false">
            <a:off x="5969000" y="4064000"/>
            <a:ext cx="5334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B82F6"/>
                </a:solidFill>
                <a:latin typeface="Noto Sans SC"/>
                <a:ea typeface="Noto Sans SC"/>
                <a:cs typeface="Noto Sans SC"/>
                <a:sym typeface="Noto Sans SC"/>
              </a:rPr>
              <a:t>算法应用与核心价值</a:t>
            </a:r>
            <a:endParaRPr lang="en-US" sz="1100"/>
          </a:p>
        </p:txBody>
      </p:sp>
      <p:sp>
        <p:nvSpPr>
          <p:cNvPr name="AutoShape 14" id="14"/>
          <p:cNvSpPr/>
          <p:nvPr/>
        </p:nvSpPr>
        <p:spPr>
          <a:xfrm rot="0" flipH="false" flipV="false">
            <a:off x="5969000" y="4572000"/>
            <a:ext cx="5334000" cy="190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1F2937"/>
                </a:solidFill>
                <a:latin typeface="Noto Sans SC"/>
                <a:ea typeface="Noto Sans SC"/>
                <a:cs typeface="Noto Sans SC"/>
                <a:sym typeface="Noto Sans SC"/>
              </a:rPr>
              <a:t>TF-IDF 是信息检索与自然语言处理领域的经典基础算法。它将非结构化的文本数据转化为可计算的数值向量，通过量化词汇的重要性，帮助机器“理解”文本的核心语义。这一算法不仅是搜索引擎（如谷歌、百度）进行结果排序的核心依据之一，还广泛应用于关键词自动提取、文档聚类、垃圾邮件识别以及个性化内容推荐系统中，是连接人类语言与机器计算的关键桥梁。</a:t>
            </a:r>
            <a:endParaRPr lang="en-US" sz="1100"/>
          </a:p>
        </p:txBody>
      </p:sp>
    </p:spTree>
  </p:cSld>
  <p:clrMapOvr>
    <a:masterClrMapping/>
  </p:clrMapOvr>
</p:sld>
</file>

<file path=ppt/slides/slide13.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508000" y="635000"/>
            <a:ext cx="11176000" cy="762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2800">
                <a:solidFill>
                  <a:srgbClr val="1F2937"/>
                </a:solidFill>
                <a:latin typeface="Noto Sans SC"/>
                <a:ea typeface="Noto Sans SC"/>
                <a:cs typeface="Noto Sans SC"/>
                <a:sym typeface="Noto Sans SC"/>
              </a:rPr>
              <a:t>06 TF-IDF 分布式实现</a:t>
            </a:r>
            <a:endParaRPr lang="en-US" sz="1100"/>
          </a:p>
        </p:txBody>
      </p:sp>
      <p:sp>
        <p:nvSpPr>
          <p:cNvPr name="AutoShape 3" id="3"/>
          <p:cNvSpPr/>
          <p:nvPr/>
        </p:nvSpPr>
        <p:spPr>
          <a:xfrm rot="0" flipH="false" flipV="false">
            <a:off x="508000" y="2032000"/>
            <a:ext cx="254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B82F6"/>
                </a:solidFill>
                <a:latin typeface="Noto Sans SC"/>
                <a:ea typeface="Noto Sans SC"/>
                <a:cs typeface="Noto Sans SC"/>
                <a:sym typeface="Noto Sans SC"/>
              </a:rPr>
              <a:t>数据并行读取</a:t>
            </a:r>
            <a:endParaRPr lang="en-US" sz="1100"/>
          </a:p>
        </p:txBody>
      </p:sp>
      <p:sp>
        <p:nvSpPr>
          <p:cNvPr name="AutoShape 4" id="4"/>
          <p:cNvSpPr/>
          <p:nvPr/>
        </p:nvSpPr>
        <p:spPr>
          <a:xfrm rot="0" flipH="false" flipV="false">
            <a:off x="508000" y="2540000"/>
            <a:ext cx="2540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200">
                <a:solidFill>
                  <a:srgbClr val="374151"/>
                </a:solidFill>
                <a:latin typeface="Noto Sans SC"/>
                <a:ea typeface="Noto Sans SC"/>
                <a:cs typeface="Noto Sans SC"/>
                <a:sym typeface="Noto Sans SC"/>
              </a:rPr>
              <a:t>wholeTextFiles 接口</a:t>
            </a:r>
            <a:endParaRPr lang="en-US" sz="1100"/>
          </a:p>
        </p:txBody>
      </p:sp>
      <p:sp>
        <p:nvSpPr>
          <p:cNvPr name="AutoShape 5" id="5"/>
          <p:cNvSpPr/>
          <p:nvPr/>
        </p:nvSpPr>
        <p:spPr>
          <a:xfrm rot="0" flipH="false" flipV="false">
            <a:off x="508000" y="2984500"/>
            <a:ext cx="25400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100">
                <a:solidFill>
                  <a:srgbClr val="374151"/>
                </a:solidFill>
                <a:latin typeface="Noto Sans SC"/>
                <a:ea typeface="Noto Sans SC"/>
                <a:cs typeface="Noto Sans SC"/>
                <a:sym typeface="Noto Sans SC"/>
              </a:rPr>
              <a:t>对分散存储的海量文档目录进行分布式读取，将文件内容与路径封装为键值对。这种方式打破了单机IO的性能瓶颈，为后续全流程的并行计算奠定了数据基础。</a:t>
            </a:r>
            <a:endParaRPr lang="en-US" sz="1100"/>
          </a:p>
        </p:txBody>
      </p:sp>
      <p:sp>
        <p:nvSpPr>
          <p:cNvPr name="AutoShape 6" id="6"/>
          <p:cNvSpPr/>
          <p:nvPr/>
        </p:nvSpPr>
        <p:spPr>
          <a:xfrm rot="0" flipH="false" flipV="false">
            <a:off x="3467100" y="2032000"/>
            <a:ext cx="254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B82F6"/>
                </a:solidFill>
                <a:latin typeface="Noto Sans SC"/>
                <a:ea typeface="Noto Sans SC"/>
                <a:cs typeface="Noto Sans SC"/>
                <a:sym typeface="Noto Sans SC"/>
              </a:rPr>
              <a:t>文本清洗预处理</a:t>
            </a:r>
            <a:endParaRPr lang="en-US" sz="1100"/>
          </a:p>
        </p:txBody>
      </p:sp>
      <p:sp>
        <p:nvSpPr>
          <p:cNvPr name="AutoShape 7" id="7"/>
          <p:cNvSpPr/>
          <p:nvPr/>
        </p:nvSpPr>
        <p:spPr>
          <a:xfrm rot="0" flipH="false" flipV="false">
            <a:off x="3467100" y="2540000"/>
            <a:ext cx="2540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200">
                <a:solidFill>
                  <a:srgbClr val="374151"/>
                </a:solidFill>
                <a:latin typeface="Noto Sans SC"/>
                <a:ea typeface="Noto Sans SC"/>
                <a:cs typeface="Noto Sans SC"/>
                <a:sym typeface="Noto Sans SC"/>
              </a:rPr>
              <a:t>Pipeline 链式清洗</a:t>
            </a:r>
            <a:endParaRPr lang="en-US" sz="1100"/>
          </a:p>
        </p:txBody>
      </p:sp>
      <p:sp>
        <p:nvSpPr>
          <p:cNvPr name="AutoShape 8" id="8"/>
          <p:cNvSpPr/>
          <p:nvPr/>
        </p:nvSpPr>
        <p:spPr>
          <a:xfrm rot="0" flipH="false" flipV="false">
            <a:off x="3467100" y="2984500"/>
            <a:ext cx="25400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100">
                <a:solidFill>
                  <a:srgbClr val="374151"/>
                </a:solidFill>
                <a:latin typeface="Noto Sans SC"/>
                <a:ea typeface="Noto Sans SC"/>
                <a:cs typeface="Noto Sans SC"/>
                <a:sym typeface="Noto Sans SC"/>
              </a:rPr>
              <a:t>执行转小写、去标点的标准化操作；利用Tokenizer进行分词后，通过StopWordsRemover过滤“的、是、在”等高频无意义词汇，最终产出纯净、结构化的词序列。</a:t>
            </a:r>
            <a:endParaRPr lang="en-US" sz="1100"/>
          </a:p>
        </p:txBody>
      </p:sp>
      <p:sp>
        <p:nvSpPr>
          <p:cNvPr name="AutoShape 9" id="9"/>
          <p:cNvSpPr/>
          <p:nvPr/>
        </p:nvSpPr>
        <p:spPr>
          <a:xfrm rot="0" flipH="false" flipV="false">
            <a:off x="6426200" y="2032000"/>
            <a:ext cx="254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B82F6"/>
                </a:solidFill>
                <a:latin typeface="Noto Sans SC"/>
                <a:ea typeface="Noto Sans SC"/>
                <a:cs typeface="Noto Sans SC"/>
                <a:sym typeface="Noto Sans SC"/>
              </a:rPr>
              <a:t>核心向量化计算</a:t>
            </a:r>
            <a:endParaRPr lang="en-US" sz="1100"/>
          </a:p>
        </p:txBody>
      </p:sp>
      <p:sp>
        <p:nvSpPr>
          <p:cNvPr name="AutoShape 10" id="10"/>
          <p:cNvSpPr/>
          <p:nvPr/>
        </p:nvSpPr>
        <p:spPr>
          <a:xfrm rot="0" flipH="false" flipV="false">
            <a:off x="6426200" y="2540000"/>
            <a:ext cx="2540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200">
                <a:solidFill>
                  <a:srgbClr val="374151"/>
                </a:solidFill>
                <a:latin typeface="Noto Sans SC"/>
                <a:ea typeface="Noto Sans SC"/>
                <a:cs typeface="Noto Sans SC"/>
                <a:sym typeface="Noto Sans SC"/>
              </a:rPr>
              <a:t>HashingTF + IDF</a:t>
            </a:r>
            <a:endParaRPr lang="en-US" sz="1100"/>
          </a:p>
        </p:txBody>
      </p:sp>
      <p:sp>
        <p:nvSpPr>
          <p:cNvPr name="AutoShape 11" id="11"/>
          <p:cNvSpPr/>
          <p:nvPr/>
        </p:nvSpPr>
        <p:spPr>
          <a:xfrm rot="0" flipH="false" flipV="false">
            <a:off x="6426200" y="2984500"/>
            <a:ext cx="25400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100">
                <a:solidFill>
                  <a:srgbClr val="374151"/>
                </a:solidFill>
                <a:latin typeface="Noto Sans SC"/>
                <a:ea typeface="Noto Sans SC"/>
                <a:cs typeface="Noto Sans SC"/>
                <a:sym typeface="Noto Sans SC"/>
              </a:rPr>
              <a:t>通过HashingTF将词汇哈希映射到固定特征空间；IDF模型基于全局语料库统计逆文档频率，对词频进行加权修正。生成的TF-IDF向量客观反映了词汇在文档中的重要程度。</a:t>
            </a:r>
            <a:endParaRPr lang="en-US" sz="1100"/>
          </a:p>
        </p:txBody>
      </p:sp>
      <p:sp>
        <p:nvSpPr>
          <p:cNvPr name="AutoShape 12" id="12"/>
          <p:cNvSpPr/>
          <p:nvPr/>
        </p:nvSpPr>
        <p:spPr>
          <a:xfrm rot="0" flipH="false" flipV="false">
            <a:off x="9385300" y="2032000"/>
            <a:ext cx="254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B82F6"/>
                </a:solidFill>
                <a:latin typeface="Noto Sans SC"/>
                <a:ea typeface="Noto Sans SC"/>
                <a:cs typeface="Noto Sans SC"/>
                <a:sym typeface="Noto Sans SC"/>
              </a:rPr>
              <a:t>检索结果生成</a:t>
            </a:r>
            <a:endParaRPr lang="en-US" sz="1100"/>
          </a:p>
        </p:txBody>
      </p:sp>
      <p:sp>
        <p:nvSpPr>
          <p:cNvPr name="AutoShape 13" id="13"/>
          <p:cNvSpPr/>
          <p:nvPr/>
        </p:nvSpPr>
        <p:spPr>
          <a:xfrm rot="0" flipH="false" flipV="false">
            <a:off x="9385300" y="2540000"/>
            <a:ext cx="2540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200">
                <a:solidFill>
                  <a:srgbClr val="374151"/>
                </a:solidFill>
                <a:latin typeface="Noto Sans SC"/>
                <a:ea typeface="Noto Sans SC"/>
                <a:cs typeface="Noto Sans SC"/>
                <a:sym typeface="Noto Sans SC"/>
              </a:rPr>
              <a:t>相似度与Top-K</a:t>
            </a:r>
            <a:endParaRPr lang="en-US" sz="1100"/>
          </a:p>
        </p:txBody>
      </p:sp>
      <p:sp>
        <p:nvSpPr>
          <p:cNvPr name="AutoShape 14" id="14"/>
          <p:cNvSpPr/>
          <p:nvPr/>
        </p:nvSpPr>
        <p:spPr>
          <a:xfrm rot="0" flipH="false" flipV="false">
            <a:off x="9385300" y="2984500"/>
            <a:ext cx="25400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100">
                <a:solidFill>
                  <a:srgbClr val="374151"/>
                </a:solidFill>
                <a:latin typeface="Noto Sans SC"/>
                <a:ea typeface="Noto Sans SC"/>
                <a:cs typeface="Noto Sans SC"/>
                <a:sym typeface="Noto Sans SC"/>
              </a:rPr>
              <a:t>基于余弦相似度算法计算文档向量间的距离，快速定位Top-K最相似文档对。同时提取高权重关键词，为文档聚类、智能推荐或重复内容检测提供可解释的依据。</a:t>
            </a:r>
            <a:endParaRPr lang="en-US" sz="1100"/>
          </a:p>
        </p:txBody>
      </p:sp>
      <p:sp>
        <p:nvSpPr>
          <p:cNvPr name="AutoShape 15" id="15"/>
          <p:cNvSpPr/>
          <p:nvPr/>
        </p:nvSpPr>
        <p:spPr>
          <a:xfrm rot="0" flipH="false" flipV="false">
            <a:off x="508000" y="4953000"/>
            <a:ext cx="5334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B82F6"/>
                </a:solidFill>
                <a:latin typeface="Noto Sans SC"/>
                <a:ea typeface="Noto Sans SC"/>
                <a:cs typeface="Noto Sans SC"/>
                <a:sym typeface="Noto Sans SC"/>
              </a:rPr>
              <a:t>Spark MLlib：工业级机器学习引擎</a:t>
            </a:r>
            <a:endParaRPr lang="en-US" sz="1100"/>
          </a:p>
        </p:txBody>
      </p:sp>
      <p:sp>
        <p:nvSpPr>
          <p:cNvPr name="AutoShape 16" id="16"/>
          <p:cNvSpPr/>
          <p:nvPr/>
        </p:nvSpPr>
        <p:spPr>
          <a:xfrm rot="0" flipH="false" flipV="false">
            <a:off x="508000" y="5397500"/>
            <a:ext cx="53340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374151"/>
                </a:solidFill>
                <a:latin typeface="Noto Sans SC"/>
                <a:ea typeface="Noto Sans SC"/>
                <a:cs typeface="Noto Sans SC"/>
                <a:sym typeface="Noto Sans SC"/>
              </a:rPr>
              <a:t>直接调用经过生产环境验证的Spark官方组件，替代手工编写的算法逻辑。内置的分布式调度与容错机制，不仅大幅降低了开发复杂度，更能稳定支撑TB级大规模语料的离线批处理任务，确保在海量数据场景下的计算精度与系统吞吐量。</a:t>
            </a:r>
            <a:endParaRPr lang="en-US" sz="1100"/>
          </a:p>
        </p:txBody>
      </p:sp>
      <p:sp>
        <p:nvSpPr>
          <p:cNvPr name="AutoShape 17" id="17"/>
          <p:cNvSpPr/>
          <p:nvPr/>
        </p:nvSpPr>
        <p:spPr>
          <a:xfrm rot="0" flipH="false" flipV="false">
            <a:off x="6350000" y="4953000"/>
            <a:ext cx="5334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B82F6"/>
                </a:solidFill>
                <a:latin typeface="Noto Sans SC"/>
                <a:ea typeface="Noto Sans SC"/>
                <a:cs typeface="Noto Sans SC"/>
                <a:sym typeface="Noto Sans SC"/>
              </a:rPr>
              <a:t>HashingTF：突破维度灾难的特征工程</a:t>
            </a:r>
            <a:endParaRPr lang="en-US" sz="1100"/>
          </a:p>
        </p:txBody>
      </p:sp>
      <p:sp>
        <p:nvSpPr>
          <p:cNvPr name="AutoShape 18" id="18"/>
          <p:cNvSpPr/>
          <p:nvPr/>
        </p:nvSpPr>
        <p:spPr>
          <a:xfrm rot="0" flipH="false" flipV="false">
            <a:off x="6350000" y="5397500"/>
            <a:ext cx="53340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374151"/>
                </a:solidFill>
                <a:latin typeface="Noto Sans SC"/>
                <a:ea typeface="Noto Sans SC"/>
                <a:cs typeface="Noto Sans SC"/>
                <a:sym typeface="Noto Sans SC"/>
              </a:rPr>
              <a:t>采用特征哈希（Feature Hashing）策略，将高维词汇映射到低维固定长度空间。这种“无词典”的方式彻底规避了全局词典构建的高昂成本与更新滞后问题，是处理流式数据或超大规模静态语料时，平衡计算效率与内存消耗的最优技术选择。</a:t>
            </a:r>
            <a:endParaRPr lang="en-US" sz="1100"/>
          </a:p>
        </p:txBody>
      </p:sp>
    </p:spTree>
  </p:cSld>
  <p:clrMapOvr>
    <a:masterClrMapping/>
  </p:clrMapOvr>
</p:sld>
</file>

<file path=ppt/slides/slide14.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1F2937"/>
                </a:solidFill>
                <a:latin typeface="Noto Sans SC"/>
                <a:ea typeface="Noto Sans SC"/>
                <a:cs typeface="Noto Sans SC"/>
                <a:sym typeface="Noto Sans SC"/>
              </a:rPr>
              <a:t>06 TF-IDF 实验结果</a:t>
            </a:r>
            <a:endParaRPr lang="en-US" sz="1100"/>
          </a:p>
        </p:txBody>
      </p:sp>
      <p:graphicFrame>
        <p:nvGraphicFramePr>
          <p:cNvPr name="Table 3" id="3"/>
          <p:cNvGraphicFramePr>
            <a:graphicFrameLocks noGrp="true"/>
          </p:cNvGraphicFramePr>
          <p:nvPr/>
        </p:nvGraphicFramePr>
        <p:xfrm>
          <a:off x="762000" y="1524000"/>
          <a:ext cx="7620000" cy="2286000"/>
        </p:xfrm>
        <a:graphic>
          <a:graphicData uri="http://schemas.openxmlformats.org/drawingml/2006/table">
            <a:tbl>
              <a:tblPr>
                <a:effectLst/>
              </a:tblPr>
              <a:tblGrid>
                <a:gridCol w="1016000"/>
                <a:gridCol w="2286000"/>
                <a:gridCol w="2286000"/>
                <a:gridCol w="2032000"/>
              </a:tblGrid>
              <a:tr h="457200">
                <a:tc>
                  <a:txBody>
                    <a:bodyPr anchor="t" rtlCol="false"/>
                    <a:lstStyle/>
                    <a:p>
                      <a:pPr algn="ctr" marL="0" indent="0">
                        <a:lnSpc>
                          <a:spcPct val="100000"/>
                        </a:lnSpc>
                        <a:defRPr/>
                      </a:pPr>
                      <a:r>
                        <a:rPr lang="en-US" b="true" i="false" strike="noStrike" u="none" sz="1300">
                          <a:solidFill>
                            <a:srgbClr val="FFFFFF"/>
                          </a:solidFill>
                          <a:latin typeface="Noto Sans SC"/>
                          <a:ea typeface="Noto Sans SC"/>
                          <a:cs typeface="Noto Sans SC"/>
                          <a:sym typeface="Noto Sans SC"/>
                        </a:rPr>
                        <a:t>排名</a:t>
                      </a:r>
                      <a:endParaRPr lang="en-US" sz="1100"/>
                    </a:p>
                  </a:txBody>
                  <a:tcPr anchor="ctr" anchorCtr="false" marL="101600" marR="101600" marT="101600" marB="101600">
                    <a:lnL>
                      <a:noFill/>
                    </a:lnL>
                    <a:lnR>
                      <a:noFill/>
                    </a:lnR>
                    <a:lnT>
                      <a:noFill/>
                    </a:lnT>
                    <a:lnB>
                      <a:noFill/>
                    </a:lnB>
                    <a:solidFill>
                      <a:srgbClr val="3B82F6">
                        <a:alpha val="100000"/>
                      </a:srgbClr>
                    </a:solidFill>
                  </a:tcPr>
                </a:tc>
                <a:tc>
                  <a:txBody>
                    <a:bodyPr anchor="t" rtlCol="false"/>
                    <a:lstStyle/>
                    <a:p>
                      <a:pPr algn="ctr" marL="0" indent="0">
                        <a:lnSpc>
                          <a:spcPct val="100000"/>
                        </a:lnSpc>
                        <a:defRPr/>
                      </a:pPr>
                      <a:r>
                        <a:rPr lang="en-US" b="true" i="false" strike="noStrike" u="none" sz="1300">
                          <a:solidFill>
                            <a:srgbClr val="FFFFFF"/>
                          </a:solidFill>
                          <a:latin typeface="Noto Sans SC"/>
                          <a:ea typeface="Noto Sans SC"/>
                          <a:cs typeface="Noto Sans SC"/>
                          <a:sym typeface="Noto Sans SC"/>
                        </a:rPr>
                        <a:t>文档 A (主题)</a:t>
                      </a:r>
                      <a:endParaRPr lang="en-US" sz="1100"/>
                    </a:p>
                  </a:txBody>
                  <a:tcPr anchor="ctr" anchorCtr="false" marL="101600" marR="101600" marT="101600" marB="101600">
                    <a:lnL>
                      <a:noFill/>
                    </a:lnL>
                    <a:lnR>
                      <a:noFill/>
                    </a:lnR>
                    <a:lnT>
                      <a:noFill/>
                    </a:lnT>
                    <a:lnB>
                      <a:noFill/>
                    </a:lnB>
                    <a:solidFill>
                      <a:srgbClr val="3B82F6">
                        <a:alpha val="100000"/>
                      </a:srgbClr>
                    </a:solidFill>
                  </a:tcPr>
                </a:tc>
                <a:tc>
                  <a:txBody>
                    <a:bodyPr anchor="t" rtlCol="false"/>
                    <a:lstStyle/>
                    <a:p>
                      <a:pPr algn="ctr" marL="0" indent="0">
                        <a:lnSpc>
                          <a:spcPct val="100000"/>
                        </a:lnSpc>
                        <a:defRPr/>
                      </a:pPr>
                      <a:r>
                        <a:rPr lang="en-US" b="true" i="false" strike="noStrike" u="none" sz="1300">
                          <a:solidFill>
                            <a:srgbClr val="FFFFFF"/>
                          </a:solidFill>
                          <a:latin typeface="Noto Sans SC"/>
                          <a:ea typeface="Noto Sans SC"/>
                          <a:cs typeface="Noto Sans SC"/>
                          <a:sym typeface="Noto Sans SC"/>
                        </a:rPr>
                        <a:t>文档 B (对比)</a:t>
                      </a:r>
                      <a:endParaRPr lang="en-US" sz="1100"/>
                    </a:p>
                  </a:txBody>
                  <a:tcPr anchor="ctr" anchorCtr="false" marL="101600" marR="101600" marT="101600" marB="101600">
                    <a:lnL>
                      <a:noFill/>
                    </a:lnL>
                    <a:lnR>
                      <a:noFill/>
                    </a:lnR>
                    <a:lnT>
                      <a:noFill/>
                    </a:lnT>
                    <a:lnB>
                      <a:noFill/>
                    </a:lnB>
                    <a:solidFill>
                      <a:srgbClr val="3B82F6">
                        <a:alpha val="100000"/>
                      </a:srgbClr>
                    </a:solidFill>
                  </a:tcPr>
                </a:tc>
                <a:tc>
                  <a:txBody>
                    <a:bodyPr anchor="t" rtlCol="false"/>
                    <a:lstStyle/>
                    <a:p>
                      <a:pPr algn="ctr" marL="0" indent="0">
                        <a:lnSpc>
                          <a:spcPct val="100000"/>
                        </a:lnSpc>
                        <a:defRPr/>
                      </a:pPr>
                      <a:r>
                        <a:rPr lang="en-US" b="true" i="false" strike="noStrike" u="none" sz="1300">
                          <a:solidFill>
                            <a:srgbClr val="FFFFFF"/>
                          </a:solidFill>
                          <a:latin typeface="Noto Sans SC"/>
                          <a:ea typeface="Noto Sans SC"/>
                          <a:cs typeface="Noto Sans SC"/>
                          <a:sym typeface="Noto Sans SC"/>
                        </a:rPr>
                        <a:t>余弦相似度</a:t>
                      </a:r>
                      <a:endParaRPr lang="en-US" sz="1100"/>
                    </a:p>
                  </a:txBody>
                  <a:tcPr anchor="ctr" anchorCtr="false" marL="101600" marR="101600" marT="101600" marB="101600">
                    <a:lnL>
                      <a:noFill/>
                    </a:lnL>
                    <a:lnR>
                      <a:noFill/>
                    </a:lnR>
                    <a:lnT>
                      <a:noFill/>
                    </a:lnT>
                    <a:lnB>
                      <a:noFill/>
                    </a:lnB>
                    <a:solidFill>
                      <a:srgbClr val="3B82F6">
                        <a:alpha val="100000"/>
                      </a:srgbClr>
                    </a:solidFill>
                  </a:tcPr>
                </a:tc>
              </a:tr>
              <a:tr h="457200">
                <a:tc>
                  <a:txBody>
                    <a:bodyPr anchor="t" rtlCol="false"/>
                    <a:lstStyle/>
                    <a:p>
                      <a:pPr algn="ctr" marL="0" indent="0">
                        <a:lnSpc>
                          <a:spcPct val="100000"/>
                        </a:lnSpc>
                        <a:defRPr/>
                      </a:pPr>
                      <a:r>
                        <a:rPr lang="en-US" b="false" i="false" strike="noStrike" u="none" sz="1200">
                          <a:solidFill>
                            <a:srgbClr val="374151"/>
                          </a:solidFill>
                          <a:latin typeface="Noto Sans SC"/>
                          <a:ea typeface="Noto Sans SC"/>
                          <a:cs typeface="Noto Sans SC"/>
                          <a:sym typeface="Noto Sans SC"/>
                        </a:rPr>
                        <a:t>01</a:t>
                      </a:r>
                      <a:endParaRPr lang="en-US" sz="1100"/>
                    </a:p>
                  </a:txBody>
                  <a:tcPr anchor="ctr" anchorCtr="false" marL="101600" marR="101600" marT="101600" marB="101600">
                    <a:lnL>
                      <a:noFill/>
                    </a:lnL>
                    <a:lnR>
                      <a:noFill/>
                    </a:lnR>
                    <a:lnT>
                      <a:noFill/>
                    </a:lnT>
                    <a:lnB cmpd="sng" algn="ctr" cap="flat" w="12700">
                      <a:solidFill>
                        <a:srgbClr val="E5E7EB"/>
                      </a:solidFill>
                      <a:prstDash val="solid"/>
                      <a:round/>
                      <a:headEnd type="none" w="med" len="med"/>
                      <a:tailEnd type="none" w="med" len="med"/>
                    </a:lnB>
                    <a:solidFill>
                      <a:srgbClr val="FFFFFF">
                        <a:alpha val="100000"/>
                      </a:srgbClr>
                    </a:solidFill>
                  </a:tcPr>
                </a:tc>
                <a:tc>
                  <a:txBody>
                    <a:bodyPr anchor="t" rtlCol="false"/>
                    <a:lstStyle/>
                    <a:p>
                      <a:pPr algn="ctr" marL="0" indent="0">
                        <a:lnSpc>
                          <a:spcPct val="100000"/>
                        </a:lnSpc>
                        <a:defRPr/>
                      </a:pPr>
                      <a:r>
                        <a:rPr lang="en-US" b="false" i="false" strike="noStrike" u="none" sz="1200">
                          <a:solidFill>
                            <a:srgbClr val="374151"/>
                          </a:solidFill>
                          <a:latin typeface="Noto Sans SC"/>
                          <a:ea typeface="Noto Sans SC"/>
                          <a:cs typeface="Noto Sans SC"/>
                          <a:sym typeface="Noto Sans SC"/>
                        </a:rPr>
                        <a:t>机器学习理论</a:t>
                      </a:r>
                      <a:endParaRPr lang="en-US" sz="1100"/>
                    </a:p>
                  </a:txBody>
                  <a:tcPr anchor="ctr" anchorCtr="false" marL="101600" marR="101600" marT="101600" marB="101600">
                    <a:lnL>
                      <a:noFill/>
                    </a:lnL>
                    <a:lnR>
                      <a:noFill/>
                    </a:lnR>
                    <a:lnT>
                      <a:noFill/>
                    </a:lnT>
                    <a:lnB cmpd="sng" algn="ctr" cap="flat" w="12700">
                      <a:solidFill>
                        <a:srgbClr val="E5E7EB"/>
                      </a:solidFill>
                      <a:prstDash val="solid"/>
                      <a:round/>
                      <a:headEnd type="none" w="med" len="med"/>
                      <a:tailEnd type="none" w="med" len="med"/>
                    </a:lnB>
                    <a:solidFill>
                      <a:srgbClr val="FFFFFF">
                        <a:alpha val="100000"/>
                      </a:srgbClr>
                    </a:solidFill>
                  </a:tcPr>
                </a:tc>
                <a:tc>
                  <a:txBody>
                    <a:bodyPr anchor="t" rtlCol="false"/>
                    <a:lstStyle/>
                    <a:p>
                      <a:pPr algn="ctr" marL="0" indent="0">
                        <a:lnSpc>
                          <a:spcPct val="100000"/>
                        </a:lnSpc>
                        <a:defRPr/>
                      </a:pPr>
                      <a:r>
                        <a:rPr lang="en-US" b="false" i="false" strike="noStrike" u="none" sz="1200">
                          <a:solidFill>
                            <a:srgbClr val="374151"/>
                          </a:solidFill>
                          <a:latin typeface="Noto Sans SC"/>
                          <a:ea typeface="Noto Sans SC"/>
                          <a:cs typeface="Noto Sans SC"/>
                          <a:sym typeface="Noto Sans SC"/>
                        </a:rPr>
                        <a:t>神经网络架构</a:t>
                      </a:r>
                      <a:endParaRPr lang="en-US" sz="1100"/>
                    </a:p>
                  </a:txBody>
                  <a:tcPr anchor="ctr" anchorCtr="false" marL="101600" marR="101600" marT="101600" marB="101600">
                    <a:lnL>
                      <a:noFill/>
                    </a:lnL>
                    <a:lnR>
                      <a:noFill/>
                    </a:lnR>
                    <a:lnT>
                      <a:noFill/>
                    </a:lnT>
                    <a:lnB cmpd="sng" algn="ctr" cap="flat" w="12700">
                      <a:solidFill>
                        <a:srgbClr val="E5E7EB"/>
                      </a:solidFill>
                      <a:prstDash val="solid"/>
                      <a:round/>
                      <a:headEnd type="none" w="med" len="med"/>
                      <a:tailEnd type="none" w="med" len="med"/>
                    </a:lnB>
                    <a:solidFill>
                      <a:srgbClr val="FFFFFF">
                        <a:alpha val="100000"/>
                      </a:srgbClr>
                    </a:solidFill>
                  </a:tcPr>
                </a:tc>
                <a:tc>
                  <a:txBody>
                    <a:bodyPr anchor="t" rtlCol="false"/>
                    <a:lstStyle/>
                    <a:p>
                      <a:pPr algn="ctr" marL="0" indent="0">
                        <a:lnSpc>
                          <a:spcPct val="100000"/>
                        </a:lnSpc>
                        <a:defRPr/>
                      </a:pPr>
                      <a:r>
                        <a:rPr lang="en-US" b="false" i="false" strike="noStrike" u="none" sz="1200">
                          <a:solidFill>
                            <a:srgbClr val="374151"/>
                          </a:solidFill>
                          <a:latin typeface="Noto Sans SC"/>
                          <a:ea typeface="Noto Sans SC"/>
                          <a:cs typeface="Noto Sans SC"/>
                          <a:sym typeface="Noto Sans SC"/>
                        </a:rPr>
                        <a:t>0.1854</a:t>
                      </a:r>
                      <a:endParaRPr lang="en-US" sz="1100"/>
                    </a:p>
                  </a:txBody>
                  <a:tcPr anchor="ctr" anchorCtr="false" marL="101600" marR="101600" marT="101600" marB="101600">
                    <a:lnL>
                      <a:noFill/>
                    </a:lnL>
                    <a:lnR>
                      <a:noFill/>
                    </a:lnR>
                    <a:lnT>
                      <a:noFill/>
                    </a:lnT>
                    <a:lnB cmpd="sng" algn="ctr" cap="flat" w="12700">
                      <a:solidFill>
                        <a:srgbClr val="E5E7EB"/>
                      </a:solidFill>
                      <a:prstDash val="solid"/>
                      <a:round/>
                      <a:headEnd type="none" w="med" len="med"/>
                      <a:tailEnd type="none" w="med" len="med"/>
                    </a:lnB>
                    <a:solidFill>
                      <a:srgbClr val="FFFFFF">
                        <a:alpha val="100000"/>
                      </a:srgbClr>
                    </a:solidFill>
                  </a:tcPr>
                </a:tc>
              </a:tr>
              <a:tr h="457200">
                <a:tc>
                  <a:txBody>
                    <a:bodyPr anchor="t" rtlCol="false"/>
                    <a:lstStyle/>
                    <a:p>
                      <a:pPr algn="ctr" marL="0" indent="0">
                        <a:lnSpc>
                          <a:spcPct val="100000"/>
                        </a:lnSpc>
                        <a:defRPr/>
                      </a:pPr>
                      <a:r>
                        <a:rPr lang="en-US" b="false" i="false" strike="noStrike" u="none" sz="1200">
                          <a:solidFill>
                            <a:srgbClr val="374151"/>
                          </a:solidFill>
                          <a:latin typeface="Noto Sans SC"/>
                          <a:ea typeface="Noto Sans SC"/>
                          <a:cs typeface="Noto Sans SC"/>
                          <a:sym typeface="Noto Sans SC"/>
                        </a:rPr>
                        <a:t>02</a:t>
                      </a:r>
                      <a:endParaRPr lang="en-US" sz="1100"/>
                    </a:p>
                  </a:txBody>
                  <a:tcPr anchor="ctr" anchorCtr="false" marL="101600" marR="101600" marT="101600" marB="101600">
                    <a:lnL>
                      <a:noFill/>
                    </a:lnL>
                    <a:lnR>
                      <a:noFill/>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solidFill>
                      <a:srgbClr val="FFFFFF">
                        <a:alpha val="100000"/>
                      </a:srgbClr>
                    </a:solidFill>
                  </a:tcPr>
                </a:tc>
                <a:tc>
                  <a:txBody>
                    <a:bodyPr anchor="t" rtlCol="false"/>
                    <a:lstStyle/>
                    <a:p>
                      <a:pPr algn="ctr" marL="0" indent="0">
                        <a:lnSpc>
                          <a:spcPct val="100000"/>
                        </a:lnSpc>
                        <a:defRPr/>
                      </a:pPr>
                      <a:r>
                        <a:rPr lang="en-US" b="false" i="false" strike="noStrike" u="none" sz="1200">
                          <a:solidFill>
                            <a:srgbClr val="374151"/>
                          </a:solidFill>
                          <a:latin typeface="Noto Sans SC"/>
                          <a:ea typeface="Noto Sans SC"/>
                          <a:cs typeface="Noto Sans SC"/>
                          <a:sym typeface="Noto Sans SC"/>
                        </a:rPr>
                        <a:t>大数据处理</a:t>
                      </a:r>
                      <a:endParaRPr lang="en-US" sz="1100"/>
                    </a:p>
                  </a:txBody>
                  <a:tcPr anchor="ctr" anchorCtr="false" marL="101600" marR="101600" marT="101600" marB="101600">
                    <a:lnL>
                      <a:noFill/>
                    </a:lnL>
                    <a:lnR>
                      <a:noFill/>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solidFill>
                      <a:srgbClr val="FFFFFF">
                        <a:alpha val="100000"/>
                      </a:srgbClr>
                    </a:solidFill>
                  </a:tcPr>
                </a:tc>
                <a:tc>
                  <a:txBody>
                    <a:bodyPr anchor="t" rtlCol="false"/>
                    <a:lstStyle/>
                    <a:p>
                      <a:pPr algn="ctr" marL="0" indent="0">
                        <a:lnSpc>
                          <a:spcPct val="100000"/>
                        </a:lnSpc>
                        <a:defRPr/>
                      </a:pPr>
                      <a:r>
                        <a:rPr lang="en-US" b="false" i="false" strike="noStrike" u="none" sz="1200">
                          <a:solidFill>
                            <a:srgbClr val="374151"/>
                          </a:solidFill>
                          <a:latin typeface="Noto Sans SC"/>
                          <a:ea typeface="Noto Sans SC"/>
                          <a:cs typeface="Noto Sans SC"/>
                          <a:sym typeface="Noto Sans SC"/>
                        </a:rPr>
                        <a:t>Spark 框架</a:t>
                      </a:r>
                      <a:endParaRPr lang="en-US" sz="1100"/>
                    </a:p>
                  </a:txBody>
                  <a:tcPr anchor="ctr" anchorCtr="false" marL="101600" marR="101600" marT="101600" marB="101600">
                    <a:lnL>
                      <a:noFill/>
                    </a:lnL>
                    <a:lnR>
                      <a:noFill/>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solidFill>
                      <a:srgbClr val="FFFFFF">
                        <a:alpha val="100000"/>
                      </a:srgbClr>
                    </a:solidFill>
                  </a:tcPr>
                </a:tc>
                <a:tc>
                  <a:txBody>
                    <a:bodyPr anchor="t" rtlCol="false"/>
                    <a:lstStyle/>
                    <a:p>
                      <a:pPr algn="ctr" marL="0" indent="0">
                        <a:lnSpc>
                          <a:spcPct val="100000"/>
                        </a:lnSpc>
                        <a:defRPr/>
                      </a:pPr>
                      <a:r>
                        <a:rPr lang="en-US" b="false" i="false" strike="noStrike" u="none" sz="1200">
                          <a:solidFill>
                            <a:srgbClr val="374151"/>
                          </a:solidFill>
                          <a:latin typeface="Noto Sans SC"/>
                          <a:ea typeface="Noto Sans SC"/>
                          <a:cs typeface="Noto Sans SC"/>
                          <a:sym typeface="Noto Sans SC"/>
                        </a:rPr>
                        <a:t>0.1665</a:t>
                      </a:r>
                      <a:endParaRPr lang="en-US" sz="1100"/>
                    </a:p>
                  </a:txBody>
                  <a:tcPr anchor="ctr" anchorCtr="false" marL="101600" marR="101600" marT="101600" marB="101600">
                    <a:lnL>
                      <a:noFill/>
                    </a:lnL>
                    <a:lnR>
                      <a:noFill/>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solidFill>
                      <a:srgbClr val="FFFFFF">
                        <a:alpha val="100000"/>
                      </a:srgbClr>
                    </a:solidFill>
                  </a:tcPr>
                </a:tc>
              </a:tr>
              <a:tr h="457200">
                <a:tc>
                  <a:txBody>
                    <a:bodyPr anchor="t" rtlCol="false"/>
                    <a:lstStyle/>
                    <a:p>
                      <a:pPr algn="ctr" marL="0" indent="0">
                        <a:lnSpc>
                          <a:spcPct val="100000"/>
                        </a:lnSpc>
                        <a:defRPr/>
                      </a:pPr>
                      <a:r>
                        <a:rPr lang="en-US" b="false" i="false" strike="noStrike" u="none" sz="1200">
                          <a:solidFill>
                            <a:srgbClr val="374151"/>
                          </a:solidFill>
                          <a:latin typeface="Noto Sans SC"/>
                          <a:ea typeface="Noto Sans SC"/>
                          <a:cs typeface="Noto Sans SC"/>
                          <a:sym typeface="Noto Sans SC"/>
                        </a:rPr>
                        <a:t>03</a:t>
                      </a:r>
                      <a:endParaRPr lang="en-US" sz="1100"/>
                    </a:p>
                  </a:txBody>
                  <a:tcPr anchor="ctr" anchorCtr="false" marL="101600" marR="101600" marT="101600" marB="101600">
                    <a:lnL>
                      <a:noFill/>
                    </a:lnL>
                    <a:lnR>
                      <a:noFill/>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solidFill>
                      <a:srgbClr val="FFFFFF">
                        <a:alpha val="100000"/>
                      </a:srgbClr>
                    </a:solidFill>
                  </a:tcPr>
                </a:tc>
                <a:tc>
                  <a:txBody>
                    <a:bodyPr anchor="t" rtlCol="false"/>
                    <a:lstStyle/>
                    <a:p>
                      <a:pPr algn="ctr" marL="0" indent="0">
                        <a:lnSpc>
                          <a:spcPct val="100000"/>
                        </a:lnSpc>
                        <a:defRPr/>
                      </a:pPr>
                      <a:r>
                        <a:rPr lang="en-US" b="false" i="false" strike="noStrike" u="none" sz="1200">
                          <a:solidFill>
                            <a:srgbClr val="374151"/>
                          </a:solidFill>
                          <a:latin typeface="Noto Sans SC"/>
                          <a:ea typeface="Noto Sans SC"/>
                          <a:cs typeface="Noto Sans SC"/>
                          <a:sym typeface="Noto Sans SC"/>
                        </a:rPr>
                        <a:t>云计算基础</a:t>
                      </a:r>
                      <a:endParaRPr lang="en-US" sz="1100"/>
                    </a:p>
                  </a:txBody>
                  <a:tcPr anchor="ctr" anchorCtr="false" marL="101600" marR="101600" marT="101600" marB="101600">
                    <a:lnL>
                      <a:noFill/>
                    </a:lnL>
                    <a:lnR>
                      <a:noFill/>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solidFill>
                      <a:srgbClr val="FFFFFF">
                        <a:alpha val="100000"/>
                      </a:srgbClr>
                    </a:solidFill>
                  </a:tcPr>
                </a:tc>
                <a:tc>
                  <a:txBody>
                    <a:bodyPr anchor="t" rtlCol="false"/>
                    <a:lstStyle/>
                    <a:p>
                      <a:pPr algn="ctr" marL="0" indent="0">
                        <a:lnSpc>
                          <a:spcPct val="100000"/>
                        </a:lnSpc>
                        <a:defRPr/>
                      </a:pPr>
                      <a:r>
                        <a:rPr lang="en-US" b="false" i="false" strike="noStrike" u="none" sz="1200">
                          <a:solidFill>
                            <a:srgbClr val="374151"/>
                          </a:solidFill>
                          <a:latin typeface="Noto Sans SC"/>
                          <a:ea typeface="Noto Sans SC"/>
                          <a:cs typeface="Noto Sans SC"/>
                          <a:sym typeface="Noto Sans SC"/>
                        </a:rPr>
                        <a:t>大数据生态</a:t>
                      </a:r>
                      <a:endParaRPr lang="en-US" sz="1100"/>
                    </a:p>
                  </a:txBody>
                  <a:tcPr anchor="ctr" anchorCtr="false" marL="101600" marR="101600" marT="101600" marB="101600">
                    <a:lnL>
                      <a:noFill/>
                    </a:lnL>
                    <a:lnR>
                      <a:noFill/>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solidFill>
                      <a:srgbClr val="FFFFFF">
                        <a:alpha val="100000"/>
                      </a:srgbClr>
                    </a:solidFill>
                  </a:tcPr>
                </a:tc>
                <a:tc>
                  <a:txBody>
                    <a:bodyPr anchor="t" rtlCol="false"/>
                    <a:lstStyle/>
                    <a:p>
                      <a:pPr algn="ctr" marL="0" indent="0">
                        <a:lnSpc>
                          <a:spcPct val="100000"/>
                        </a:lnSpc>
                        <a:defRPr/>
                      </a:pPr>
                      <a:r>
                        <a:rPr lang="en-US" b="false" i="false" strike="noStrike" u="none" sz="1200">
                          <a:solidFill>
                            <a:srgbClr val="374151"/>
                          </a:solidFill>
                          <a:latin typeface="Noto Sans SC"/>
                          <a:ea typeface="Noto Sans SC"/>
                          <a:cs typeface="Noto Sans SC"/>
                          <a:sym typeface="Noto Sans SC"/>
                        </a:rPr>
                        <a:t>0.0892</a:t>
                      </a:r>
                      <a:endParaRPr lang="en-US" sz="1100"/>
                    </a:p>
                  </a:txBody>
                  <a:tcPr anchor="ctr" anchorCtr="false" marL="101600" marR="101600" marT="101600" marB="101600">
                    <a:lnL>
                      <a:noFill/>
                    </a:lnL>
                    <a:lnR>
                      <a:noFill/>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solidFill>
                      <a:srgbClr val="FFFFFF">
                        <a:alpha val="100000"/>
                      </a:srgbClr>
                    </a:solidFill>
                  </a:tcPr>
                </a:tc>
              </a:tr>
              <a:tr h="457200">
                <a:tc>
                  <a:txBody>
                    <a:bodyPr anchor="t" rtlCol="false"/>
                    <a:lstStyle/>
                    <a:p>
                      <a:pPr algn="ctr" marL="0" indent="0">
                        <a:lnSpc>
                          <a:spcPct val="100000"/>
                        </a:lnSpc>
                        <a:defRPr/>
                      </a:pPr>
                      <a:r>
                        <a:rPr lang="en-US" b="false" i="false" strike="noStrike" u="none" sz="1200">
                          <a:solidFill>
                            <a:srgbClr val="374151"/>
                          </a:solidFill>
                          <a:latin typeface="Noto Sans SC"/>
                          <a:ea typeface="Noto Sans SC"/>
                          <a:cs typeface="Noto Sans SC"/>
                          <a:sym typeface="Noto Sans SC"/>
                        </a:rPr>
                        <a:t>04</a:t>
                      </a:r>
                      <a:endParaRPr lang="en-US" sz="1100"/>
                    </a:p>
                  </a:txBody>
                  <a:tcPr anchor="ctr" anchorCtr="false" marL="101600" marR="101600" marT="101600" marB="101600">
                    <a:lnL>
                      <a:noFill/>
                    </a:lnL>
                    <a:lnR>
                      <a:noFill/>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solidFill>
                      <a:srgbClr val="FFFFFF">
                        <a:alpha val="100000"/>
                      </a:srgbClr>
                    </a:solidFill>
                  </a:tcPr>
                </a:tc>
                <a:tc>
                  <a:txBody>
                    <a:bodyPr anchor="t" rtlCol="false"/>
                    <a:lstStyle/>
                    <a:p>
                      <a:pPr algn="ctr" marL="0" indent="0">
                        <a:lnSpc>
                          <a:spcPct val="100000"/>
                        </a:lnSpc>
                        <a:defRPr/>
                      </a:pPr>
                      <a:r>
                        <a:rPr lang="en-US" b="false" i="false" strike="noStrike" u="none" sz="1200">
                          <a:solidFill>
                            <a:srgbClr val="374151"/>
                          </a:solidFill>
                          <a:latin typeface="Noto Sans SC"/>
                          <a:ea typeface="Noto Sans SC"/>
                          <a:cs typeface="Noto Sans SC"/>
                          <a:sym typeface="Noto Sans SC"/>
                        </a:rPr>
                        <a:t>深度学习网络</a:t>
                      </a:r>
                      <a:endParaRPr lang="en-US" sz="1100"/>
                    </a:p>
                  </a:txBody>
                  <a:tcPr anchor="ctr" anchorCtr="false" marL="101600" marR="101600" marT="101600" marB="101600">
                    <a:lnL>
                      <a:noFill/>
                    </a:lnL>
                    <a:lnR>
                      <a:noFill/>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solidFill>
                      <a:srgbClr val="FFFFFF">
                        <a:alpha val="100000"/>
                      </a:srgbClr>
                    </a:solidFill>
                  </a:tcPr>
                </a:tc>
                <a:tc>
                  <a:txBody>
                    <a:bodyPr anchor="t" rtlCol="false"/>
                    <a:lstStyle/>
                    <a:p>
                      <a:pPr algn="ctr" marL="0" indent="0">
                        <a:lnSpc>
                          <a:spcPct val="100000"/>
                        </a:lnSpc>
                        <a:defRPr/>
                      </a:pPr>
                      <a:r>
                        <a:rPr lang="en-US" b="false" i="false" strike="noStrike" u="none" sz="1200">
                          <a:solidFill>
                            <a:srgbClr val="374151"/>
                          </a:solidFill>
                          <a:latin typeface="Noto Sans SC"/>
                          <a:ea typeface="Noto Sans SC"/>
                          <a:cs typeface="Noto Sans SC"/>
                          <a:sym typeface="Noto Sans SC"/>
                        </a:rPr>
                        <a:t>分布式计算</a:t>
                      </a:r>
                      <a:endParaRPr lang="en-US" sz="1100"/>
                    </a:p>
                  </a:txBody>
                  <a:tcPr anchor="ctr" anchorCtr="false" marL="101600" marR="101600" marT="101600" marB="101600">
                    <a:lnL>
                      <a:noFill/>
                    </a:lnL>
                    <a:lnR>
                      <a:noFill/>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solidFill>
                      <a:srgbClr val="FFFFFF">
                        <a:alpha val="100000"/>
                      </a:srgbClr>
                    </a:solidFill>
                  </a:tcPr>
                </a:tc>
                <a:tc>
                  <a:txBody>
                    <a:bodyPr anchor="t" rtlCol="false"/>
                    <a:lstStyle/>
                    <a:p>
                      <a:pPr algn="ctr" marL="0" indent="0">
                        <a:lnSpc>
                          <a:spcPct val="100000"/>
                        </a:lnSpc>
                        <a:defRPr/>
                      </a:pPr>
                      <a:r>
                        <a:rPr lang="en-US" b="false" i="false" strike="noStrike" u="none" sz="1200">
                          <a:solidFill>
                            <a:srgbClr val="374151"/>
                          </a:solidFill>
                          <a:latin typeface="Noto Sans SC"/>
                          <a:ea typeface="Noto Sans SC"/>
                          <a:cs typeface="Noto Sans SC"/>
                          <a:sym typeface="Noto Sans SC"/>
                        </a:rPr>
                        <a:t>0.0802</a:t>
                      </a:r>
                      <a:endParaRPr lang="en-US" sz="1100"/>
                    </a:p>
                  </a:txBody>
                  <a:tcPr anchor="ctr" anchorCtr="false" marL="101600" marR="101600" marT="101600" marB="101600">
                    <a:lnL>
                      <a:noFill/>
                    </a:lnL>
                    <a:lnR>
                      <a:noFill/>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solidFill>
                      <a:srgbClr val="FFFFFF">
                        <a:alpha val="100000"/>
                      </a:srgbClr>
                    </a:solidFill>
                  </a:tcPr>
                </a:tc>
              </a:tr>
            </a:tbl>
          </a:graphicData>
        </a:graphic>
      </p:graphicFrame>
      <p:sp>
        <p:nvSpPr>
          <p:cNvPr name="AutoShape 4" id="4"/>
          <p:cNvSpPr/>
          <p:nvPr/>
        </p:nvSpPr>
        <p:spPr>
          <a:xfrm rot="0" flipH="false" flipV="false">
            <a:off x="762000" y="4445000"/>
            <a:ext cx="685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B82F6"/>
                </a:solidFill>
                <a:latin typeface="Noto Sans SC"/>
                <a:ea typeface="Noto Sans SC"/>
                <a:cs typeface="Noto Sans SC"/>
                <a:sym typeface="Noto Sans SC"/>
              </a:rPr>
              <a:t>实验核心发现：主题特征的有效捕获</a:t>
            </a:r>
            <a:endParaRPr lang="en-US" sz="1100"/>
          </a:p>
        </p:txBody>
      </p:sp>
      <p:sp>
        <p:nvSpPr>
          <p:cNvPr name="AutoShape 5" id="5"/>
          <p:cNvSpPr/>
          <p:nvPr/>
        </p:nvSpPr>
        <p:spPr>
          <a:xfrm rot="0" flipH="false" flipV="false">
            <a:off x="762000" y="4953000"/>
            <a:ext cx="68580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300">
                <a:solidFill>
                  <a:srgbClr val="374151"/>
                </a:solidFill>
                <a:latin typeface="Noto Sans SC"/>
                <a:ea typeface="Noto Sans SC"/>
                <a:cs typeface="Noto Sans SC"/>
                <a:sym typeface="Noto Sans SC"/>
              </a:rPr>
              <a:t>数据表明，主题强相关的文档（如机器学习与神经网络）在向量空间中展现出最高的余弦相似度（0.1854）。这证明了 TF-IDF 算法成功过滤了通用词汇的干扰，将文档的核心语义浓缩为高区分度的数值特征，为后续的智能检索和聚类任务提供了高质量的基础数据。</a:t>
            </a:r>
            <a:endParaRPr lang="en-US" sz="1100"/>
          </a:p>
        </p:txBody>
      </p:sp>
      <p:sp>
        <p:nvSpPr>
          <p:cNvPr name="AutoShape 6" id="6"/>
          <p:cNvSpPr/>
          <p:nvPr/>
        </p:nvSpPr>
        <p:spPr>
          <a:xfrm rot="0" flipH="false" flipV="false">
            <a:off x="8382000" y="1778000"/>
            <a:ext cx="3302000" cy="4064000"/>
          </a:xfrm>
          <a:prstGeom prst="roundRect">
            <a:avLst>
              <a:gd name="adj" fmla="val 0"/>
            </a:avLst>
          </a:prstGeom>
          <a:noFill/>
          <a:ln w="12700" cmpd="sng" cap="flat">
            <a:solidFill>
              <a:srgbClr val="9CA3AF">
                <a:alpha val="100000"/>
              </a:srgbClr>
            </a:solidFill>
            <a:prstDash val="dash"/>
            <a:round/>
          </a:ln>
        </p:spPr>
        <p:txBody>
          <a:bodyPr anchor="ctr" rtlCol="false" anchorCtr="false" vert="horz" wrap="square" lIns="0" rIns="0" tIns="0" bIns="0"/>
          <a:lstStyle/>
          <a:p>
            <a:pPr algn="ctr">
              <a:defRPr/>
            </a:pPr>
            <a:endParaRPr/>
          </a:p>
        </p:txBody>
      </p:sp>
      <p:sp>
        <p:nvSpPr>
          <p:cNvPr name="AutoShape 7" id="7"/>
          <p:cNvSpPr/>
          <p:nvPr/>
        </p:nvSpPr>
        <p:spPr>
          <a:xfrm rot="0" flipH="false" flipV="false">
            <a:off x="8509000" y="2032000"/>
            <a:ext cx="3048000" cy="381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400">
                <a:solidFill>
                  <a:srgbClr val="3B82F6"/>
                </a:solidFill>
                <a:latin typeface="Noto Sans SC"/>
                <a:ea typeface="Noto Sans SC"/>
                <a:cs typeface="Noto Sans SC"/>
                <a:sym typeface="Noto Sans SC"/>
              </a:rPr>
              <a:t>结果可视化：运行日志截图</a:t>
            </a:r>
            <a:endParaRPr lang="en-US" sz="1100"/>
          </a:p>
        </p:txBody>
      </p:sp>
      <p:sp>
        <p:nvSpPr>
          <p:cNvPr name="AutoShape 8" id="8"/>
          <p:cNvSpPr/>
          <p:nvPr/>
        </p:nvSpPr>
        <p:spPr>
          <a:xfrm rot="0" flipH="false" flipV="false">
            <a:off x="8509000" y="2794000"/>
            <a:ext cx="3048000" cy="2540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33333"/>
              </a:lnSpc>
              <a:defRPr/>
            </a:pPr>
            <a:r>
              <a:rPr lang="en-US" b="false" i="false" strike="noStrike" u="none" sz="1300">
                <a:solidFill>
                  <a:srgbClr val="4B5563"/>
                </a:solidFill>
                <a:latin typeface="Noto Sans SC"/>
                <a:ea typeface="Noto Sans SC"/>
                <a:cs typeface="Noto Sans SC"/>
                <a:sym typeface="Noto Sans SC"/>
              </a:rPr>
              <a:t>此处请插入：</a:t>
            </a:r>
            <a:r>
              <a:rPr lang="en-US" b="false" i="false" strike="noStrike" u="none" sz="1300">
                <a:solidFill>
                  <a:srgbClr val="4B5563"/>
                </a:solidFill>
                <a:latin typeface="Noto Sans SC"/>
                <a:ea typeface="Noto Sans SC"/>
                <a:cs typeface="Noto Sans SC"/>
                <a:sym typeface="Noto Sans SC"/>
              </a:rPr>
              <a:t/>
            </a:r>
            <a:br>
              <a:rPr lang="en-US" b="false" i="false" strike="noStrike" u="none" sz="1300">
                <a:solidFill>
                  <a:srgbClr val="4B5563"/>
                </a:solidFill>
                <a:latin typeface="Noto Sans SC"/>
                <a:ea typeface="Noto Sans SC"/>
                <a:cs typeface="Noto Sans SC"/>
                <a:sym typeface="Noto Sans SC"/>
              </a:rPr>
            </a:br>
            <a:r>
              <a:rPr lang="en-US" b="false" i="false" strike="noStrike" u="none" sz="1300">
                <a:solidFill>
                  <a:srgbClr val="4B5563"/>
                </a:solidFill>
                <a:latin typeface="Noto Sans SC"/>
                <a:ea typeface="Noto Sans SC"/>
                <a:cs typeface="Noto Sans SC"/>
                <a:sym typeface="Noto Sans SC"/>
              </a:rPr>
              <a:t>终端输出的文档相似度排名列表</a:t>
            </a:r>
            <a:r>
              <a:rPr lang="en-US" b="false" i="false" strike="noStrike" u="none" sz="1300">
                <a:solidFill>
                  <a:srgbClr val="4B5563"/>
                </a:solidFill>
                <a:latin typeface="Noto Sans SC"/>
                <a:ea typeface="Noto Sans SC"/>
                <a:cs typeface="Noto Sans SC"/>
                <a:sym typeface="Noto Sans SC"/>
              </a:rPr>
              <a:t/>
            </a:r>
            <a:br>
              <a:rPr lang="en-US" b="false" i="false" strike="noStrike" u="none" sz="1300">
                <a:solidFill>
                  <a:srgbClr val="4B5563"/>
                </a:solidFill>
                <a:latin typeface="Noto Sans SC"/>
                <a:ea typeface="Noto Sans SC"/>
                <a:cs typeface="Noto Sans SC"/>
                <a:sym typeface="Noto Sans SC"/>
              </a:rPr>
            </a:br>
            <a:r>
              <a:rPr lang="en-US" b="false" i="false" strike="noStrike" u="none" sz="1300">
                <a:solidFill>
                  <a:srgbClr val="4B5563"/>
                </a:solidFill>
                <a:latin typeface="Noto Sans SC"/>
                <a:ea typeface="Noto Sans SC"/>
                <a:cs typeface="Noto Sans SC"/>
                <a:sym typeface="Noto Sans SC"/>
              </a:rPr>
              <a:t>与每篇文档的核心关键词提取结果截图。</a:t>
            </a:r>
            <a:endParaRPr lang="en-US" sz="1100"/>
          </a:p>
        </p:txBody>
      </p:sp>
      <p:sp>
        <p:nvSpPr>
          <p:cNvPr name="AutoShape 9" id="9"/>
          <p:cNvSpPr/>
          <p:nvPr/>
        </p:nvSpPr>
        <p:spPr>
          <a:xfrm rot="0" flipH="false" flipV="false">
            <a:off x="8382000" y="5969000"/>
            <a:ext cx="3302000" cy="508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08333"/>
              </a:lnSpc>
              <a:defRPr/>
            </a:pPr>
            <a:r>
              <a:rPr lang="en-US" b="false" i="false" strike="noStrike" u="none" sz="1100">
                <a:solidFill>
                  <a:srgbClr val="6B7280"/>
                </a:solidFill>
                <a:latin typeface="Noto Sans SC"/>
                <a:ea typeface="Noto Sans SC"/>
                <a:cs typeface="Noto Sans SC"/>
                <a:sym typeface="Noto Sans SC"/>
              </a:rPr>
              <a:t>注：实际部署中，该模块可集成 TensorBoard 进行特征向量的降维可视化展示。</a:t>
            </a:r>
            <a:endParaRPr lang="en-US" sz="1100"/>
          </a:p>
        </p:txBody>
      </p:sp>
    </p:spTree>
  </p:cSld>
  <p:clrMapOvr>
    <a:masterClrMapping/>
  </p:clrMapOvr>
</p:sld>
</file>

<file path=ppt/slides/slide15.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1F2937"/>
                </a:solidFill>
                <a:latin typeface="Noto Sans SC"/>
                <a:ea typeface="Noto Sans SC"/>
                <a:cs typeface="Noto Sans SC"/>
                <a:sym typeface="Noto Sans SC"/>
              </a:rPr>
              <a:t>07 任务运行监控</a:t>
            </a:r>
            <a:endParaRPr lang="en-US" sz="1100"/>
          </a:p>
        </p:txBody>
      </p:sp>
      <p:sp>
        <p:nvSpPr>
          <p:cNvPr name="AutoShape 3" id="3"/>
          <p:cNvSpPr/>
          <p:nvPr/>
        </p:nvSpPr>
        <p:spPr>
          <a:xfrm rot="0" flipH="false" flipV="false">
            <a:off x="762000" y="1778000"/>
            <a:ext cx="3302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B82F6"/>
                </a:solidFill>
                <a:latin typeface="Noto Sans SC"/>
                <a:ea typeface="Noto Sans SC"/>
                <a:cs typeface="Noto Sans SC"/>
                <a:sym typeface="Noto Sans SC"/>
              </a:rPr>
              <a:t>Spark Web UI 核心入口</a:t>
            </a:r>
            <a:endParaRPr lang="en-US" sz="1100"/>
          </a:p>
        </p:txBody>
      </p:sp>
      <p:sp>
        <p:nvSpPr>
          <p:cNvPr name="AutoShape 4" id="4"/>
          <p:cNvSpPr/>
          <p:nvPr/>
        </p:nvSpPr>
        <p:spPr>
          <a:xfrm rot="0" flipH="false" flipV="false">
            <a:off x="762000" y="2286000"/>
            <a:ext cx="33020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374151"/>
                </a:solidFill>
                <a:latin typeface="Noto Sans SC"/>
                <a:ea typeface="Noto Sans SC"/>
                <a:cs typeface="Noto Sans SC"/>
                <a:sym typeface="Noto Sans SC"/>
              </a:rPr>
              <a:t>Spark 内置强大的可视化监控界面，是实时观测分布式应用运行状态的关键工具。它将底层复杂的任务调度和执行过程转化为直观的图表与数据报表。</a:t>
            </a:r>
            <a:endParaRPr lang="en-US" sz="1100"/>
          </a:p>
        </p:txBody>
      </p:sp>
      <p:sp>
        <p:nvSpPr>
          <p:cNvPr name="AutoShape 5" id="5"/>
          <p:cNvSpPr/>
          <p:nvPr/>
        </p:nvSpPr>
        <p:spPr>
          <a:xfrm rot="0" flipH="false" flipV="false">
            <a:off x="4445000" y="1778000"/>
            <a:ext cx="3302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B82F6"/>
                </a:solidFill>
                <a:latin typeface="Noto Sans SC"/>
                <a:ea typeface="Noto Sans SC"/>
                <a:cs typeface="Noto Sans SC"/>
                <a:sym typeface="Noto Sans SC"/>
              </a:rPr>
              <a:t>全链路状态感知</a:t>
            </a:r>
            <a:endParaRPr lang="en-US" sz="1100"/>
          </a:p>
        </p:txBody>
      </p:sp>
      <p:sp>
        <p:nvSpPr>
          <p:cNvPr name="AutoShape 6" id="6"/>
          <p:cNvSpPr/>
          <p:nvPr/>
        </p:nvSpPr>
        <p:spPr>
          <a:xfrm rot="0" flipH="false" flipV="false">
            <a:off x="4445000" y="2286000"/>
            <a:ext cx="33020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374151"/>
                </a:solidFill>
                <a:latin typeface="Noto Sans SC"/>
                <a:ea typeface="Noto Sans SC"/>
                <a:cs typeface="Noto Sans SC"/>
                <a:sym typeface="Noto Sans SC"/>
              </a:rPr>
              <a:t>支持深度透视集群健康度、任务执行的 DAG 阶段进度，以及 Executor 进程的 CPU、内存、磁盘 IO 等核心资源的实时消耗与瓶颈点。</a:t>
            </a:r>
            <a:endParaRPr lang="en-US" sz="1100"/>
          </a:p>
        </p:txBody>
      </p:sp>
      <p:sp>
        <p:nvSpPr>
          <p:cNvPr name="AutoShape 7" id="7"/>
          <p:cNvSpPr/>
          <p:nvPr/>
        </p:nvSpPr>
        <p:spPr>
          <a:xfrm rot="0" flipH="false" flipV="false">
            <a:off x="8128000" y="1778000"/>
            <a:ext cx="3302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B82F6"/>
                </a:solidFill>
                <a:latin typeface="Noto Sans SC"/>
                <a:ea typeface="Noto Sans SC"/>
                <a:cs typeface="Noto Sans SC"/>
                <a:sym typeface="Noto Sans SC"/>
              </a:rPr>
              <a:t>分布式执行实证</a:t>
            </a:r>
            <a:endParaRPr lang="en-US" sz="1100"/>
          </a:p>
        </p:txBody>
      </p:sp>
      <p:sp>
        <p:nvSpPr>
          <p:cNvPr name="AutoShape 8" id="8"/>
          <p:cNvSpPr/>
          <p:nvPr/>
        </p:nvSpPr>
        <p:spPr>
          <a:xfrm rot="0" flipH="false" flipV="false">
            <a:off x="8128000" y="2286000"/>
            <a:ext cx="33020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374151"/>
                </a:solidFill>
                <a:latin typeface="Noto Sans SC"/>
                <a:ea typeface="Noto Sans SC"/>
                <a:cs typeface="Noto Sans SC"/>
                <a:sym typeface="Noto Sans SC"/>
              </a:rPr>
              <a:t>通过监控面板可清晰观测到计算任务被系统自动拆解并分发至 2 个 Worker 节点并行运行，直观验证了分布式架构的任务调度能力与执行效率。</a:t>
            </a:r>
            <a:endParaRPr lang="en-US" sz="1100"/>
          </a:p>
        </p:txBody>
      </p:sp>
      <p:sp>
        <p:nvSpPr>
          <p:cNvPr name="AutoShape 9" id="9"/>
          <p:cNvSpPr/>
          <p:nvPr/>
        </p:nvSpPr>
        <p:spPr>
          <a:xfrm rot="0" flipH="false" flipV="false">
            <a:off x="762000" y="3937000"/>
            <a:ext cx="6858000" cy="2540000"/>
          </a:xfrm>
          <a:prstGeom prst="roundRect">
            <a:avLst>
              <a:gd name="adj" fmla="val 0"/>
            </a:avLst>
          </a:prstGeom>
          <a:solidFill>
            <a:srgbClr val="FFFFFF">
              <a:alpha val="100000"/>
            </a:srgbClr>
          </a:solidFill>
          <a:ln w="12700" cmpd="sng" cap="flat">
            <a:solidFill>
              <a:srgbClr val="6B7280">
                <a:alpha val="100000"/>
              </a:srgbClr>
            </a:solidFill>
            <a:prstDash val="dash"/>
            <a:round/>
          </a:ln>
        </p:spPr>
        <p:txBody>
          <a:bodyPr anchor="ctr" rtlCol="false" anchorCtr="false" vert="horz" wrap="square" lIns="0" rIns="0" tIns="0" bIns="0"/>
          <a:lstStyle/>
          <a:p>
            <a:pPr algn="ctr" marL="0" indent="0">
              <a:lnSpc>
                <a:spcPct val="125000"/>
              </a:lnSpc>
              <a:defRPr/>
            </a:pPr>
            <a:r>
              <a:rPr lang="en-US" b="false" i="false" strike="noStrike" u="none" sz="1400">
                <a:solidFill>
                  <a:srgbClr val="6B7280"/>
                </a:solidFill>
                <a:latin typeface="Noto Sans SC"/>
                <a:ea typeface="Noto Sans SC"/>
                <a:cs typeface="Noto Sans SC"/>
                <a:sym typeface="Noto Sans SC"/>
              </a:rPr>
              <a:t>待插入：任务运行中的 Spark Master 监控面板截图</a:t>
            </a:r>
            <a:endParaRPr lang="en-US" sz="1100"/>
          </a:p>
        </p:txBody>
      </p:sp>
      <p:sp>
        <p:nvSpPr>
          <p:cNvPr name="AutoShape 10" id="10"/>
          <p:cNvSpPr/>
          <p:nvPr/>
        </p:nvSpPr>
        <p:spPr>
          <a:xfrm rot="0" flipH="false" flipV="false">
            <a:off x="8128000" y="3937000"/>
            <a:ext cx="3302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B82F6"/>
                </a:solidFill>
                <a:latin typeface="Noto Sans SC"/>
                <a:ea typeface="Noto Sans SC"/>
                <a:cs typeface="Noto Sans SC"/>
                <a:sym typeface="Noto Sans SC"/>
              </a:rPr>
              <a:t>监控观测核心结论</a:t>
            </a:r>
            <a:endParaRPr lang="en-US" sz="1100"/>
          </a:p>
        </p:txBody>
      </p:sp>
      <p:sp>
        <p:nvSpPr>
          <p:cNvPr name="AutoShape 11" id="11"/>
          <p:cNvSpPr/>
          <p:nvPr/>
        </p:nvSpPr>
        <p:spPr>
          <a:xfrm rot="0" flipH="false" flipV="false">
            <a:off x="8128000" y="4445000"/>
            <a:ext cx="3302000" cy="203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374151"/>
                </a:solidFill>
                <a:latin typeface="Noto Sans SC"/>
                <a:ea typeface="Noto Sans SC"/>
                <a:cs typeface="Noto Sans SC"/>
                <a:sym typeface="Noto Sans SC"/>
              </a:rPr>
              <a:t>从实时监控数据可见，PageRank 算法任务已成功触发分布式计算流程。两个 Worker 节点的核心计算单元与内存资源均处于高负载运行状态，这不仅验证了任务并行化逻辑的正确性，也证明了当前集群资源调度机制能够根据负载动态分配资源，满足算法对算力的需求。</a:t>
            </a:r>
            <a:endParaRPr lang="en-US" sz="1100"/>
          </a:p>
        </p:txBody>
      </p:sp>
    </p:spTree>
  </p:cSld>
  <p:clrMapOvr>
    <a:masterClrMapping/>
  </p:clrMapOvr>
</p:sld>
</file>

<file path=ppt/slides/slide16.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508000" y="508000"/>
            <a:ext cx="11176000" cy="762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3000">
                <a:solidFill>
                  <a:srgbClr val="1F2937"/>
                </a:solidFill>
                <a:latin typeface="Noto Sans SC"/>
                <a:ea typeface="Noto Sans SC"/>
                <a:cs typeface="Noto Sans SC"/>
                <a:sym typeface="Noto Sans SC"/>
              </a:rPr>
              <a:t>07 分布式特性分析</a:t>
            </a:r>
            <a:endParaRPr lang="en-US" sz="1100"/>
          </a:p>
        </p:txBody>
      </p:sp>
      <p:graphicFrame>
        <p:nvGraphicFramePr>
          <p:cNvPr name="Table 3" id="3"/>
          <p:cNvGraphicFramePr>
            <a:graphicFrameLocks noGrp="true"/>
          </p:cNvGraphicFramePr>
          <p:nvPr/>
        </p:nvGraphicFramePr>
        <p:xfrm>
          <a:off x="508000" y="1778000"/>
          <a:ext cx="10668000" cy="4572000"/>
        </p:xfrm>
        <a:graphic>
          <a:graphicData uri="http://schemas.openxmlformats.org/drawingml/2006/table">
            <a:tbl>
              <a:tblPr>
                <a:effectLst/>
              </a:tblPr>
              <a:tblGrid>
                <a:gridCol w="3556000"/>
                <a:gridCol w="3556000"/>
                <a:gridCol w="3556000"/>
              </a:tblGrid>
              <a:tr h="2286000">
                <a:tc>
                  <a:txBody>
                    <a:bodyPr anchor="t" rtlCol="false"/>
                    <a:lstStyle/>
                    <a:p>
                      <a:pPr algn="ctr" marL="0" indent="0">
                        <a:lnSpc>
                          <a:spcPct val="100000"/>
                        </a:lnSpc>
                        <a:defRPr/>
                      </a:pPr>
                      <a:r>
                        <a:rPr lang="en-US" b="true" i="false" strike="noStrike" u="none" sz="1600">
                          <a:solidFill>
                            <a:srgbClr val="FFFFFF"/>
                          </a:solidFill>
                          <a:latin typeface="Noto Sans SC"/>
                          <a:ea typeface="Noto Sans SC"/>
                          <a:cs typeface="Noto Sans SC"/>
                          <a:sym typeface="Noto Sans SC"/>
                        </a:rPr>
                        <a:t>数据并行</a:t>
                      </a:r>
                      <a:r>
                        <a:rPr lang="en-US" b="false" i="false" strike="noStrike" u="none" sz="1600">
                          <a:solidFill>
                            <a:srgbClr val="1F2329"/>
                          </a:solidFill>
                          <a:latin typeface="Noto Sans SC"/>
                          <a:ea typeface="Noto Sans SC"/>
                          <a:cs typeface="Noto Sans SC"/>
                          <a:sym typeface="Noto Sans SC"/>
                        </a:rPr>
                        <a:t/>
                      </a:r>
                      <a:endParaRPr lang="en-US" sz="1100"/>
                    </a:p>
                    <a:p>
                      <a:pPr algn="ctr" marL="0" indent="0">
                        <a:lnSpc>
                          <a:spcPct val="108333"/>
                        </a:lnSpc>
                        <a:spcBef>
                          <a:spcPts val="800"/>
                        </a:spcBef>
                      </a:pPr>
                      <a:r>
                        <a:rPr lang="en-US" b="false" i="false" strike="noStrike" u="none" sz="1200">
                          <a:solidFill>
                            <a:srgbClr val="FFFFFF">
                              <a:alpha val="94902"/>
                            </a:srgbClr>
                          </a:solidFill>
                          <a:latin typeface="Noto Sans SC"/>
                          <a:ea typeface="Noto Sans SC"/>
                          <a:cs typeface="Noto Sans SC"/>
                          <a:sym typeface="Noto Sans SC"/>
                        </a:rPr>
                        <a:t>数据被自动拆分并分配到多个 Worker 节点上，实现计算任务的并行化处理。这种机制能充分释放集群的多核计算潜力，让海量数据的处理效率得到质的飞跃。</a:t>
                      </a:r>
                    </a:p>
                  </a:txBody>
                  <a:tcPr anchor="ctr" anchorCtr="false" marL="190500" marR="190500" marT="190500" marB="190500">
                    <a:lnL cmpd="sng" algn="ctr" cap="flat" w="12700">
                      <a:solidFill>
                        <a:srgbClr val="E5E7EB"/>
                      </a:solidFill>
                      <a:prstDash val="solid"/>
                      <a:round/>
                      <a:headEnd type="none" w="med" len="med"/>
                      <a:tailEnd type="none" w="med" len="med"/>
                    </a:lnL>
                    <a:lnR cmpd="sng" algn="ctr" cap="flat" w="12700">
                      <a:solidFill>
                        <a:srgbClr val="E5E7EB"/>
                      </a:solidFill>
                      <a:prstDash val="solid"/>
                      <a:round/>
                      <a:headEnd type="none" w="med" len="med"/>
                      <a:tailEnd type="none" w="med" len="med"/>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solidFill>
                      <a:srgbClr val="3B82F6">
                        <a:alpha val="100000"/>
                      </a:srgbClr>
                    </a:solidFill>
                  </a:tcPr>
                </a:tc>
                <a:tc>
                  <a:txBody>
                    <a:bodyPr anchor="t" rtlCol="false"/>
                    <a:lstStyle/>
                    <a:p>
                      <a:pPr algn="ctr" marL="0" indent="0">
                        <a:lnSpc>
                          <a:spcPct val="100000"/>
                        </a:lnSpc>
                        <a:defRPr/>
                      </a:pPr>
                      <a:r>
                        <a:rPr lang="en-US" b="true" i="false" strike="noStrike" u="none" sz="1600">
                          <a:solidFill>
                            <a:srgbClr val="FFFFFF"/>
                          </a:solidFill>
                          <a:latin typeface="Noto Sans SC"/>
                          <a:ea typeface="Noto Sans SC"/>
                          <a:cs typeface="Noto Sans SC"/>
                          <a:sym typeface="Noto Sans SC"/>
                        </a:rPr>
                        <a:t>任务调度</a:t>
                      </a:r>
                      <a:r>
                        <a:rPr lang="en-US" b="false" i="false" strike="noStrike" u="none" sz="1600">
                          <a:solidFill>
                            <a:srgbClr val="1F2329"/>
                          </a:solidFill>
                          <a:latin typeface="Noto Sans SC"/>
                          <a:ea typeface="Noto Sans SC"/>
                          <a:cs typeface="Noto Sans SC"/>
                          <a:sym typeface="Noto Sans SC"/>
                        </a:rPr>
                        <a:t/>
                      </a:r>
                      <a:endParaRPr lang="en-US" sz="1100"/>
                    </a:p>
                    <a:p>
                      <a:pPr algn="ctr" marL="0" indent="0">
                        <a:lnSpc>
                          <a:spcPct val="108333"/>
                        </a:lnSpc>
                        <a:spcBef>
                          <a:spcPts val="800"/>
                        </a:spcBef>
                      </a:pPr>
                      <a:r>
                        <a:rPr lang="en-US" b="false" i="false" strike="noStrike" u="none" sz="1200">
                          <a:solidFill>
                            <a:srgbClr val="FFFFFF">
                              <a:alpha val="94902"/>
                            </a:srgbClr>
                          </a:solidFill>
                          <a:latin typeface="Noto Sans SC"/>
                          <a:ea typeface="Noto Sans SC"/>
                          <a:cs typeface="Noto Sans SC"/>
                          <a:sym typeface="Noto Sans SC"/>
                        </a:rPr>
                        <a:t>采用 Master-Worker 架构，由 Master 节点统一进行全局资源管理与任务分发，Worker 节点根据当前负载动态领取并执行任务，有效避免了单点过载，保障了调度的灵活性。</a:t>
                      </a:r>
                    </a:p>
                  </a:txBody>
                  <a:tcPr anchor="ctr" anchorCtr="false" marL="190500" marR="190500" marT="190500" marB="190500">
                    <a:lnL cmpd="sng" algn="ctr" cap="flat" w="12700">
                      <a:solidFill>
                        <a:srgbClr val="E5E7EB"/>
                      </a:solidFill>
                      <a:prstDash val="solid"/>
                      <a:round/>
                      <a:headEnd type="none" w="med" len="med"/>
                      <a:tailEnd type="none" w="med" len="med"/>
                    </a:lnL>
                    <a:lnR cmpd="sng" algn="ctr" cap="flat" w="12700">
                      <a:solidFill>
                        <a:srgbClr val="E5E7EB"/>
                      </a:solidFill>
                      <a:prstDash val="solid"/>
                      <a:round/>
                      <a:headEnd type="none" w="med" len="med"/>
                      <a:tailEnd type="none" w="med" len="med"/>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solidFill>
                      <a:srgbClr val="3B82F6">
                        <a:alpha val="100000"/>
                      </a:srgbClr>
                    </a:solidFill>
                  </a:tcPr>
                </a:tc>
                <a:tc>
                  <a:txBody>
                    <a:bodyPr anchor="t" rtlCol="false"/>
                    <a:lstStyle/>
                    <a:p>
                      <a:pPr algn="ctr" marL="0" indent="0">
                        <a:lnSpc>
                          <a:spcPct val="100000"/>
                        </a:lnSpc>
                        <a:defRPr/>
                      </a:pPr>
                      <a:r>
                        <a:rPr lang="en-US" b="true" i="false" strike="noStrike" u="none" sz="1600">
                          <a:solidFill>
                            <a:srgbClr val="FFFFFF"/>
                          </a:solidFill>
                          <a:latin typeface="Noto Sans SC"/>
                          <a:ea typeface="Noto Sans SC"/>
                          <a:cs typeface="Noto Sans SC"/>
                          <a:sym typeface="Noto Sans SC"/>
                        </a:rPr>
                        <a:t>容错机制</a:t>
                      </a:r>
                      <a:r>
                        <a:rPr lang="en-US" b="false" i="false" strike="noStrike" u="none" sz="1600">
                          <a:solidFill>
                            <a:srgbClr val="1F2329"/>
                          </a:solidFill>
                          <a:latin typeface="Noto Sans SC"/>
                          <a:ea typeface="Noto Sans SC"/>
                          <a:cs typeface="Noto Sans SC"/>
                          <a:sym typeface="Noto Sans SC"/>
                        </a:rPr>
                        <a:t/>
                      </a:r>
                      <a:endParaRPr lang="en-US" sz="1100"/>
                    </a:p>
                    <a:p>
                      <a:pPr algn="ctr" marL="0" indent="0">
                        <a:lnSpc>
                          <a:spcPct val="108333"/>
                        </a:lnSpc>
                        <a:spcBef>
                          <a:spcPts val="800"/>
                        </a:spcBef>
                      </a:pPr>
                      <a:r>
                        <a:rPr lang="en-US" b="false" i="false" strike="noStrike" u="none" sz="1200">
                          <a:solidFill>
                            <a:srgbClr val="FFFFFF">
                              <a:alpha val="94902"/>
                            </a:srgbClr>
                          </a:solidFill>
                          <a:latin typeface="Noto Sans SC"/>
                          <a:ea typeface="Noto Sans SC"/>
                          <a:cs typeface="Noto Sans SC"/>
                          <a:sym typeface="Noto Sans SC"/>
                        </a:rPr>
                        <a:t>核心依托 RDD 的 Lineage（血统）机制，记录数据的生成过程而非数据本身。当节点故障导致分区数据丢失时，无需冗余备份，直接通过依赖链重算即可恢复，大幅降低了容错成本。</a:t>
                      </a:r>
                    </a:p>
                  </a:txBody>
                  <a:tcPr anchor="ctr" anchorCtr="false" marL="190500" marR="190500" marT="190500" marB="190500">
                    <a:lnL>
                      <a:noFill/>
                    </a:lnL>
                    <a:lnR cmpd="sng" algn="ctr" cap="flat" w="12700">
                      <a:solidFill>
                        <a:srgbClr val="E5E7EB"/>
                      </a:solidFill>
                      <a:prstDash val="solid"/>
                      <a:round/>
                      <a:headEnd type="none" w="med" len="med"/>
                      <a:tailEnd type="none" w="med" len="med"/>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solidFill>
                      <a:srgbClr val="3B82F6">
                        <a:alpha val="100000"/>
                      </a:srgbClr>
                    </a:solidFill>
                  </a:tcPr>
                </a:tc>
              </a:tr>
              <a:tr h="2286000">
                <a:tc gridSpan="2">
                  <a:txBody>
                    <a:bodyPr anchor="t" rtlCol="false"/>
                    <a:lstStyle/>
                    <a:p>
                      <a:pPr algn="ctr" marL="0" indent="0">
                        <a:lnSpc>
                          <a:spcPct val="100000"/>
                        </a:lnSpc>
                        <a:defRPr/>
                      </a:pPr>
                      <a:r>
                        <a:rPr lang="en-US" b="true" i="false" strike="noStrike" u="none" sz="1600">
                          <a:solidFill>
                            <a:srgbClr val="FFFFFF"/>
                          </a:solidFill>
                          <a:latin typeface="Noto Sans SC"/>
                          <a:ea typeface="Noto Sans SC"/>
                          <a:cs typeface="Noto Sans SC"/>
                          <a:sym typeface="Noto Sans SC"/>
                        </a:rPr>
                        <a:t>弹性可扩展性</a:t>
                      </a:r>
                      <a:r>
                        <a:rPr lang="en-US" b="false" i="false" strike="noStrike" u="none" sz="1600">
                          <a:solidFill>
                            <a:srgbClr val="1F2329"/>
                          </a:solidFill>
                          <a:latin typeface="Noto Sans SC"/>
                          <a:ea typeface="Noto Sans SC"/>
                          <a:cs typeface="Noto Sans SC"/>
                          <a:sym typeface="Noto Sans SC"/>
                        </a:rPr>
                        <a:t/>
                      </a:r>
                      <a:endParaRPr lang="en-US" sz="1100"/>
                    </a:p>
                    <a:p>
                      <a:pPr algn="ctr" marL="0" indent="0">
                        <a:lnSpc>
                          <a:spcPct val="108333"/>
                        </a:lnSpc>
                        <a:spcBef>
                          <a:spcPts val="800"/>
                        </a:spcBef>
                      </a:pPr>
                      <a:r>
                        <a:rPr lang="en-US" b="false" i="false" strike="noStrike" u="none" sz="1200">
                          <a:solidFill>
                            <a:srgbClr val="FFFFFF">
                              <a:alpha val="94902"/>
                            </a:srgbClr>
                          </a:solidFill>
                          <a:latin typeface="Noto Sans SC"/>
                          <a:ea typeface="Noto Sans SC"/>
                          <a:cs typeface="Noto Sans SC"/>
                          <a:sym typeface="Noto Sans SC"/>
                        </a:rPr>
                        <a:t>系统架构具备良好的水平扩展能力，理论上随着 Worker 节点数量的线性增加，集群的整体计算吞吐能力也能实现近似线性的增长。这使得系统能够从容应对业务量激增和数据规模的快速膨胀，是支撑大数据应用的关键能力。</a:t>
                      </a:r>
                    </a:p>
                  </a:txBody>
                  <a:tcPr anchor="ctr" anchorCtr="false" marL="254000" marR="254000" marT="190500" marB="190500">
                    <a:lnL cmpd="sng" algn="ctr" cap="flat" w="12700">
                      <a:solidFill>
                        <a:srgbClr val="E5E7EB"/>
                      </a:solidFill>
                      <a:prstDash val="solid"/>
                      <a:round/>
                      <a:headEnd type="none" w="med" len="med"/>
                      <a:tailEnd type="none" w="med" len="med"/>
                    </a:lnL>
                    <a:lnR cmpd="sng" algn="ctr" cap="flat" w="12700">
                      <a:solidFill>
                        <a:srgbClr val="E5E7EB"/>
                      </a:solidFill>
                      <a:prstDash val="solid"/>
                      <a:round/>
                      <a:headEnd type="none" w="med" len="med"/>
                      <a:tailEnd type="none" w="med" len="med"/>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solidFill>
                      <a:srgbClr val="3B82F6">
                        <a:alpha val="100000"/>
                      </a:srgbClr>
                    </a:solidFill>
                  </a:tcPr>
                </a:tc>
                <a:tc hMerge="true">
                  <a:txBody>
                    <a:bodyPr anchor="t" rtlCol="false"/>
                    <a:lstStyle/>
                    <a:p>
                      <a:pPr algn="ctr">
                        <a:defRPr/>
                      </a:pPr>
                      <a:endParaRPr/>
                    </a:p>
                  </a:txBody>
                  <a:tcPr anchor="ctr" marL="101600" marR="101600" marT="101600" marB="101600">
                    <a:lnL cmpd="sng" algn="ctr" cap="flat" w="12700">
                      <a:solidFill>
                        <a:srgbClr val="E5E7EB"/>
                      </a:solidFill>
                      <a:prstDash val="solid"/>
                      <a:round/>
                      <a:headEnd type="none" w="med" len="med"/>
                      <a:tailEnd type="none" w="med" len="med"/>
                    </a:lnL>
                    <a:lnR cmpd="sng" algn="ctr" cap="flat" w="12700">
                      <a:solidFill>
                        <a:srgbClr val="E5E7EB"/>
                      </a:solidFill>
                      <a:prstDash val="solid"/>
                      <a:round/>
                      <a:headEnd type="none" w="med" len="med"/>
                      <a:tailEnd type="none" w="med" len="med"/>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noFill/>
                  </a:tcPr>
                </a:tc>
                <a:tc>
                  <a:txBody>
                    <a:bodyPr anchor="t" rtlCol="false"/>
                    <a:lstStyle/>
                    <a:p>
                      <a:pPr algn="ctr" marL="0" indent="0">
                        <a:lnSpc>
                          <a:spcPct val="100000"/>
                        </a:lnSpc>
                        <a:defRPr/>
                      </a:pPr>
                      <a:r>
                        <a:rPr lang="en-US" b="true" i="false" strike="noStrike" u="none" sz="1600">
                          <a:solidFill>
                            <a:srgbClr val="FFFFFF"/>
                          </a:solidFill>
                          <a:latin typeface="Noto Sans SC"/>
                          <a:ea typeface="Noto Sans SC"/>
                          <a:cs typeface="Noto Sans SC"/>
                          <a:sym typeface="Noto Sans SC"/>
                        </a:rPr>
                        <a:t>Shuffle 性能挑战</a:t>
                      </a:r>
                      <a:r>
                        <a:rPr lang="en-US" b="false" i="false" strike="noStrike" u="none" sz="1600">
                          <a:solidFill>
                            <a:srgbClr val="1F2329"/>
                          </a:solidFill>
                          <a:latin typeface="Noto Sans SC"/>
                          <a:ea typeface="Noto Sans SC"/>
                          <a:cs typeface="Noto Sans SC"/>
                          <a:sym typeface="Noto Sans SC"/>
                        </a:rPr>
                        <a:t/>
                      </a:r>
                      <a:endParaRPr lang="en-US" sz="1100"/>
                    </a:p>
                    <a:p>
                      <a:pPr algn="ctr" marL="0" indent="0">
                        <a:lnSpc>
                          <a:spcPct val="108333"/>
                        </a:lnSpc>
                        <a:spcBef>
                          <a:spcPts val="800"/>
                        </a:spcBef>
                      </a:pPr>
                      <a:r>
                        <a:rPr lang="en-US" b="false" i="false" strike="noStrike" u="none" sz="1200">
                          <a:solidFill>
                            <a:srgbClr val="FFFFFF">
                              <a:alpha val="94902"/>
                            </a:srgbClr>
                          </a:solidFill>
                          <a:latin typeface="Noto Sans SC"/>
                          <a:ea typeface="Noto Sans SC"/>
                          <a:cs typeface="Noto Sans SC"/>
                          <a:sym typeface="Noto Sans SC"/>
                        </a:rPr>
                        <a:t>跨节点的数据交换（Shuffle）是分布式计算中最大的性能瓶颈之一。该过程伴随大量的磁盘 I/O 与网络数据传输，直接影响作业执行效率。因此，对 Shuffle 过程的优化是提升 Spark 应用性能的核心优化方向。</a:t>
                      </a:r>
                    </a:p>
                  </a:txBody>
                  <a:tcPr anchor="ctr" anchorCtr="false" marL="190500" marR="190500" marT="190500" marB="190500">
                    <a:lnL>
                      <a:noFill/>
                    </a:lnL>
                    <a:lnR cmpd="sng" algn="ctr" cap="flat" w="12700">
                      <a:solidFill>
                        <a:srgbClr val="E5E7EB"/>
                      </a:solidFill>
                      <a:prstDash val="solid"/>
                      <a:round/>
                      <a:headEnd type="none" w="med" len="med"/>
                      <a:tailEnd type="none" w="med" len="med"/>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solidFill>
                      <a:srgbClr val="3B82F6">
                        <a:alpha val="100000"/>
                      </a:srgbClr>
                    </a:solidFill>
                  </a:tcPr>
                </a:tc>
              </a:tr>
            </a:tbl>
          </a:graphicData>
        </a:graphic>
      </p:graphicFrame>
    </p:spTree>
  </p:cSld>
  <p:clrMapOvr>
    <a:masterClrMapping/>
  </p:clrMapOvr>
</p:sld>
</file>

<file path=ppt/slides/slide17.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1F2937"/>
                </a:solidFill>
                <a:latin typeface="Noto Sans SC"/>
                <a:ea typeface="Noto Sans SC"/>
                <a:cs typeface="Noto Sans SC"/>
                <a:sym typeface="Noto Sans SC"/>
              </a:rPr>
              <a:t>08 实验总结</a:t>
            </a:r>
            <a:endParaRPr lang="en-US" sz="1100"/>
          </a:p>
        </p:txBody>
      </p:sp>
      <p:sp>
        <p:nvSpPr>
          <p:cNvPr name="AutoShape 3" id="3"/>
          <p:cNvSpPr/>
          <p:nvPr/>
        </p:nvSpPr>
        <p:spPr>
          <a:xfrm rot="0" flipH="false" flipV="false">
            <a:off x="762000" y="1651000"/>
            <a:ext cx="508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B82F6"/>
                </a:solidFill>
                <a:latin typeface="Noto Sans SC"/>
                <a:ea typeface="Noto Sans SC"/>
                <a:cs typeface="Noto Sans SC"/>
                <a:sym typeface="Noto Sans SC"/>
              </a:rPr>
              <a:t>一、实验核心成果</a:t>
            </a:r>
            <a:endParaRPr lang="en-US" sz="1100"/>
          </a:p>
        </p:txBody>
      </p:sp>
      <p:sp>
        <p:nvSpPr>
          <p:cNvPr name="AutoShape 4" id="4"/>
          <p:cNvSpPr/>
          <p:nvPr/>
        </p:nvSpPr>
        <p:spPr>
          <a:xfrm rot="0" flipH="false" flipV="false">
            <a:off x="762000" y="2222500"/>
            <a:ext cx="5080000" cy="444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300">
                <a:solidFill>
                  <a:srgbClr val="1F2937"/>
                </a:solidFill>
                <a:latin typeface="Noto Sans SC"/>
                <a:ea typeface="Noto Sans SC"/>
                <a:cs typeface="Noto Sans SC"/>
                <a:sym typeface="Noto Sans SC"/>
              </a:rPr>
              <a:t>1. 成功部署集群：</a:t>
            </a:r>
            <a:r>
              <a:rPr lang="en-US" b="false" i="false" strike="noStrike" u="none" sz="1200">
                <a:solidFill>
                  <a:srgbClr val="374151"/>
                </a:solidFill>
                <a:latin typeface="Noto Sans SC"/>
                <a:ea typeface="Noto Sans SC"/>
                <a:cs typeface="Noto Sans SC"/>
                <a:sym typeface="Noto Sans SC"/>
              </a:rPr>
              <a:t>搭建并验证了1个Master节点与2个Workers节点的Spark分布式环境，完成连通性测试，奠定硬件与软件基础。</a:t>
            </a:r>
            <a:r>
              <a:rPr lang="en-US" b="false" i="false" strike="noStrike" u="none" sz="1200">
                <a:solidFill>
                  <a:srgbClr val="374151"/>
                </a:solidFill>
                <a:latin typeface="Noto Sans SC"/>
                <a:ea typeface="Noto Sans SC"/>
                <a:cs typeface="Noto Sans SC"/>
                <a:sym typeface="Noto Sans SC"/>
              </a:rPr>
              <a:t/>
            </a:r>
            <a:endParaRPr lang="en-US" sz="1100"/>
          </a:p>
          <a:p>
            <a:pPr algn="l" marL="0" indent="0">
              <a:lnSpc>
                <a:spcPct val="116666"/>
              </a:lnSpc>
            </a:pPr>
            <a:r>
              <a:rPr lang="en-US" b="true" i="false" strike="noStrike" u="none" sz="1300">
                <a:solidFill>
                  <a:srgbClr val="1F2937"/>
                </a:solidFill>
                <a:latin typeface="Noto Sans SC"/>
                <a:ea typeface="Noto Sans SC"/>
                <a:cs typeface="Noto Sans SC"/>
                <a:sym typeface="Noto Sans SC"/>
              </a:rPr>
              <a:t>2. 核心算法落地：</a:t>
            </a:r>
            <a:r>
              <a:rPr lang="en-US" b="false" i="false" strike="noStrike" u="none" sz="1200">
                <a:solidFill>
                  <a:srgbClr val="374151"/>
                </a:solidFill>
                <a:latin typeface="Noto Sans SC"/>
                <a:ea typeface="Noto Sans SC"/>
                <a:cs typeface="Noto Sans SC"/>
                <a:sym typeface="Noto Sans SC"/>
              </a:rPr>
              <a:t>基于Spark RDD实现PageRank与TF-IDF算法，通过分布式代码验证了处理大规模数据集的并行计算能力。</a:t>
            </a:r>
            <a:r>
              <a:rPr lang="en-US" b="false" i="false" strike="noStrike" u="none" sz="1200">
                <a:solidFill>
                  <a:srgbClr val="374151"/>
                </a:solidFill>
                <a:latin typeface="Noto Sans SC"/>
                <a:ea typeface="Noto Sans SC"/>
                <a:cs typeface="Noto Sans SC"/>
                <a:sym typeface="Noto Sans SC"/>
              </a:rPr>
              <a:t/>
            </a:r>
          </a:p>
          <a:p>
            <a:pPr algn="l" marL="0" indent="0">
              <a:lnSpc>
                <a:spcPct val="116666"/>
              </a:lnSpc>
            </a:pPr>
            <a:r>
              <a:rPr lang="en-US" b="true" i="false" strike="noStrike" u="none" sz="1300">
                <a:solidFill>
                  <a:srgbClr val="1F2937"/>
                </a:solidFill>
                <a:latin typeface="Noto Sans SC"/>
                <a:ea typeface="Noto Sans SC"/>
                <a:cs typeface="Noto Sans SC"/>
                <a:sym typeface="Noto Sans SC"/>
              </a:rPr>
              <a:t>3. 并行执行验证：</a:t>
            </a:r>
            <a:r>
              <a:rPr lang="en-US" b="false" i="false" strike="noStrike" u="none" sz="1200">
                <a:solidFill>
                  <a:srgbClr val="374151"/>
                </a:solidFill>
                <a:latin typeface="Noto Sans SC"/>
                <a:ea typeface="Noto Sans SC"/>
                <a:cs typeface="Noto Sans SC"/>
                <a:sym typeface="Noto Sans SC"/>
              </a:rPr>
              <a:t>利用Web UI观测到任务在不同Worker节点的并行运行状态，验证了分布式调度与资源分配效果。</a:t>
            </a:r>
            <a:r>
              <a:rPr lang="en-US" b="false" i="false" strike="noStrike" u="none" sz="1200">
                <a:solidFill>
                  <a:srgbClr val="374151"/>
                </a:solidFill>
                <a:latin typeface="Noto Sans SC"/>
                <a:ea typeface="Noto Sans SC"/>
                <a:cs typeface="Noto Sans SC"/>
                <a:sym typeface="Noto Sans SC"/>
              </a:rPr>
              <a:t/>
            </a:r>
          </a:p>
          <a:p>
            <a:pPr algn="l" marL="0" indent="0">
              <a:lnSpc>
                <a:spcPct val="116666"/>
              </a:lnSpc>
            </a:pPr>
            <a:r>
              <a:rPr lang="en-US" b="true" i="false" strike="noStrike" u="none" sz="1300">
                <a:solidFill>
                  <a:srgbClr val="1F2937"/>
                </a:solidFill>
                <a:latin typeface="Noto Sans SC"/>
                <a:ea typeface="Noto Sans SC"/>
                <a:cs typeface="Noto Sans SC"/>
                <a:sym typeface="Noto Sans SC"/>
              </a:rPr>
              <a:t>4. 容器化方案：</a:t>
            </a:r>
            <a:r>
              <a:rPr lang="en-US" b="false" i="false" strike="noStrike" u="none" sz="1200">
                <a:solidFill>
                  <a:srgbClr val="374151"/>
                </a:solidFill>
                <a:latin typeface="Noto Sans SC"/>
                <a:ea typeface="Noto Sans SC"/>
                <a:cs typeface="Noto Sans SC"/>
                <a:sym typeface="Noto Sans SC"/>
              </a:rPr>
              <a:t>采用Docker封装环境，确保与生产环境一致，解决配置难题并实现环境快速复现与跨平台分享。</a:t>
            </a:r>
          </a:p>
        </p:txBody>
      </p:sp>
      <p:sp>
        <p:nvSpPr>
          <p:cNvPr name="AutoShape 5" id="5"/>
          <p:cNvSpPr/>
          <p:nvPr/>
        </p:nvSpPr>
        <p:spPr>
          <a:xfrm rot="0" flipH="false" flipV="false">
            <a:off x="6350000" y="1651000"/>
            <a:ext cx="508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B82F6"/>
                </a:solidFill>
                <a:latin typeface="Noto Sans SC"/>
                <a:ea typeface="Noto Sans SC"/>
                <a:cs typeface="Noto Sans SC"/>
                <a:sym typeface="Noto Sans SC"/>
              </a:rPr>
              <a:t>二、能力与认知提升</a:t>
            </a:r>
            <a:endParaRPr lang="en-US" sz="1100"/>
          </a:p>
        </p:txBody>
      </p:sp>
      <p:sp>
        <p:nvSpPr>
          <p:cNvPr name="AutoShape 6" id="6"/>
          <p:cNvSpPr/>
          <p:nvPr/>
        </p:nvSpPr>
        <p:spPr>
          <a:xfrm rot="0" flipH="false" flipV="false">
            <a:off x="6350000" y="2222500"/>
            <a:ext cx="5080000" cy="444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300">
                <a:solidFill>
                  <a:srgbClr val="1F2937"/>
                </a:solidFill>
                <a:latin typeface="Noto Sans SC"/>
                <a:ea typeface="Noto Sans SC"/>
                <a:cs typeface="Noto Sans SC"/>
                <a:sym typeface="Noto Sans SC"/>
              </a:rPr>
              <a:t>1. 底层架构深度认知：</a:t>
            </a:r>
            <a:r>
              <a:rPr lang="en-US" b="false" i="false" strike="noStrike" u="none" sz="1200">
                <a:solidFill>
                  <a:srgbClr val="374151"/>
                </a:solidFill>
                <a:latin typeface="Noto Sans SC"/>
                <a:ea typeface="Noto Sans SC"/>
                <a:cs typeface="Noto Sans SC"/>
                <a:sym typeface="Noto Sans SC"/>
              </a:rPr>
              <a:t>透彻理解Master-Worker调度机制与RDD核心特性，建立对分布式系统容错与数据流转的底层逻辑认知。</a:t>
            </a:r>
            <a:r>
              <a:rPr lang="en-US" b="false" i="false" strike="noStrike" u="none" sz="1200">
                <a:solidFill>
                  <a:srgbClr val="374151"/>
                </a:solidFill>
                <a:latin typeface="Noto Sans SC"/>
                <a:ea typeface="Noto Sans SC"/>
                <a:cs typeface="Noto Sans SC"/>
                <a:sym typeface="Noto Sans SC"/>
              </a:rPr>
              <a:t/>
            </a:r>
            <a:endParaRPr lang="en-US" sz="1100"/>
          </a:p>
          <a:p>
            <a:pPr algn="l" marL="0" indent="0">
              <a:lnSpc>
                <a:spcPct val="116666"/>
              </a:lnSpc>
            </a:pPr>
            <a:r>
              <a:rPr lang="en-US" b="true" i="false" strike="noStrike" u="none" sz="1300">
                <a:solidFill>
                  <a:srgbClr val="1F2937"/>
                </a:solidFill>
                <a:latin typeface="Noto Sans SC"/>
                <a:ea typeface="Noto Sans SC"/>
                <a:cs typeface="Noto Sans SC"/>
                <a:sym typeface="Noto Sans SC"/>
              </a:rPr>
              <a:t>2. 工程技术能力进阶：</a:t>
            </a:r>
            <a:r>
              <a:rPr lang="en-US" b="false" i="false" strike="noStrike" u="none" sz="1200">
                <a:solidFill>
                  <a:srgbClr val="374151"/>
                </a:solidFill>
                <a:latin typeface="Noto Sans SC"/>
                <a:ea typeface="Noto Sans SC"/>
                <a:cs typeface="Noto Sans SC"/>
                <a:sym typeface="Noto Sans SC"/>
              </a:rPr>
              <a:t>掌握Spark MLlib全链路开发流程，提升分布式环境下的代码调试能力，积累机器学习工程实践经验。</a:t>
            </a:r>
            <a:r>
              <a:rPr lang="en-US" b="false" i="false" strike="noStrike" u="none" sz="1200">
                <a:solidFill>
                  <a:srgbClr val="374151"/>
                </a:solidFill>
                <a:latin typeface="Noto Sans SC"/>
                <a:ea typeface="Noto Sans SC"/>
                <a:cs typeface="Noto Sans SC"/>
                <a:sym typeface="Noto Sans SC"/>
              </a:rPr>
              <a:t/>
            </a:r>
          </a:p>
          <a:p>
            <a:pPr algn="l" marL="0" indent="0">
              <a:lnSpc>
                <a:spcPct val="116666"/>
              </a:lnSpc>
            </a:pPr>
            <a:r>
              <a:rPr lang="en-US" b="true" i="false" strike="noStrike" u="none" sz="1300">
                <a:solidFill>
                  <a:srgbClr val="1F2937"/>
                </a:solidFill>
                <a:latin typeface="Noto Sans SC"/>
                <a:ea typeface="Noto Sans SC"/>
                <a:cs typeface="Noto Sans SC"/>
                <a:sym typeface="Noto Sans SC"/>
              </a:rPr>
              <a:t>3. 性能优化思维建立：</a:t>
            </a:r>
            <a:r>
              <a:rPr lang="en-US" b="false" i="false" strike="noStrike" u="none" sz="1200">
                <a:solidFill>
                  <a:srgbClr val="374151"/>
                </a:solidFill>
                <a:latin typeface="Noto Sans SC"/>
                <a:ea typeface="Noto Sans SC"/>
                <a:cs typeface="Noto Sans SC"/>
                <a:sym typeface="Noto Sans SC"/>
              </a:rPr>
              <a:t>体会Shuffle操作的性能开销，形成针对数据本地化、分区策略及缓存机制的优化思考框架。</a:t>
            </a:r>
          </a:p>
        </p:txBody>
      </p:sp>
    </p:spTree>
  </p:cSld>
  <p:clrMapOvr>
    <a:masterClrMapping/>
  </p:clrMapOvr>
</p:sld>
</file>

<file path=ppt/slides/slide18.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762000"/>
            <a:ext cx="10668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1F2937"/>
                </a:solidFill>
                <a:latin typeface="Noto Sans SC"/>
                <a:ea typeface="Noto Sans SC"/>
                <a:cs typeface="Noto Sans SC"/>
                <a:sym typeface="Noto Sans SC"/>
              </a:rPr>
              <a:t>08 展望</a:t>
            </a:r>
            <a:endParaRPr lang="en-US" sz="1100"/>
          </a:p>
        </p:txBody>
      </p:sp>
      <p:sp>
        <p:nvSpPr>
          <p:cNvPr name="AutoShape 3" id="3"/>
          <p:cNvSpPr/>
          <p:nvPr/>
        </p:nvSpPr>
        <p:spPr>
          <a:xfrm rot="0" flipH="false" flipV="false">
            <a:off x="762000" y="2032000"/>
            <a:ext cx="508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B82F6"/>
                </a:solidFill>
                <a:latin typeface="Noto Sans SC"/>
                <a:ea typeface="Noto Sans SC"/>
                <a:cs typeface="Noto Sans SC"/>
                <a:sym typeface="Noto Sans SC"/>
              </a:rPr>
              <a:t>扩展集群规模</a:t>
            </a:r>
            <a:endParaRPr lang="en-US" sz="1100"/>
          </a:p>
        </p:txBody>
      </p:sp>
      <p:sp>
        <p:nvSpPr>
          <p:cNvPr name="AutoShape 4" id="4"/>
          <p:cNvSpPr/>
          <p:nvPr/>
        </p:nvSpPr>
        <p:spPr>
          <a:xfrm rot="0" flipH="false" flipV="false">
            <a:off x="762000" y="2540000"/>
            <a:ext cx="50800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1F2937"/>
                </a:solidFill>
                <a:latin typeface="Noto Sans SC"/>
                <a:ea typeface="Noto Sans SC"/>
                <a:cs typeface="Noto Sans SC"/>
                <a:sym typeface="Noto Sans SC"/>
              </a:rPr>
              <a:t>增加更多的 Worker 计算节点，持续测试分布式集群的加速比与可扩展性。通过模拟海量并发计算场景，验证系统在节点动态扩容过程中的线性扩展能力，同时探索资源调度算法在大规模节点下的优化空间，为超大规模数据处理提供部署参考。</a:t>
            </a:r>
            <a:endParaRPr lang="en-US" sz="1100"/>
          </a:p>
        </p:txBody>
      </p:sp>
      <p:sp>
        <p:nvSpPr>
          <p:cNvPr name="AutoShape 5" id="5"/>
          <p:cNvSpPr/>
          <p:nvPr/>
        </p:nvSpPr>
        <p:spPr>
          <a:xfrm rot="0" flipH="false" flipV="false">
            <a:off x="6350000" y="2032000"/>
            <a:ext cx="508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B82F6"/>
                </a:solidFill>
                <a:latin typeface="Noto Sans SC"/>
                <a:ea typeface="Noto Sans SC"/>
                <a:cs typeface="Noto Sans SC"/>
                <a:sym typeface="Noto Sans SC"/>
              </a:rPr>
              <a:t>使用更大数据集</a:t>
            </a:r>
            <a:endParaRPr lang="en-US" sz="1100"/>
          </a:p>
        </p:txBody>
      </p:sp>
      <p:sp>
        <p:nvSpPr>
          <p:cNvPr name="AutoShape 6" id="6"/>
          <p:cNvSpPr/>
          <p:nvPr/>
        </p:nvSpPr>
        <p:spPr>
          <a:xfrm rot="0" flipH="false" flipV="false">
            <a:off x="6350000" y="2540000"/>
            <a:ext cx="50800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1F2937"/>
                </a:solidFill>
                <a:latin typeface="Noto Sans SC"/>
                <a:ea typeface="Noto Sans SC"/>
                <a:cs typeface="Noto Sans SC"/>
                <a:sym typeface="Noto Sans SC"/>
              </a:rPr>
              <a:t>突破实验用小规模样本限制，引入真实生产环境级别的大规模数据集，如完整的维基百科全文数据、TB级真实网页图谱或复杂的业务行为日志。通过处理高复杂度、高数据量的任务，全面验证系统在数据读写、中间结果Shuffle阶段的性能表现与容错稳定性。</a:t>
            </a:r>
            <a:endParaRPr lang="en-US" sz="1100"/>
          </a:p>
        </p:txBody>
      </p:sp>
      <p:sp>
        <p:nvSpPr>
          <p:cNvPr name="AutoShape 7" id="7"/>
          <p:cNvSpPr/>
          <p:nvPr/>
        </p:nvSpPr>
        <p:spPr>
          <a:xfrm rot="0" flipH="false" flipV="false">
            <a:off x="762000" y="4445000"/>
            <a:ext cx="508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B82F6"/>
                </a:solidFill>
                <a:latin typeface="Noto Sans SC"/>
                <a:ea typeface="Noto Sans SC"/>
                <a:cs typeface="Noto Sans SC"/>
                <a:sym typeface="Noto Sans SC"/>
              </a:rPr>
              <a:t>性能对比分析</a:t>
            </a:r>
            <a:endParaRPr lang="en-US" sz="1100"/>
          </a:p>
        </p:txBody>
      </p:sp>
      <p:sp>
        <p:nvSpPr>
          <p:cNvPr name="AutoShape 8" id="8"/>
          <p:cNvSpPr/>
          <p:nvPr/>
        </p:nvSpPr>
        <p:spPr>
          <a:xfrm rot="0" flipH="false" flipV="false">
            <a:off x="762000" y="4953000"/>
            <a:ext cx="50800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1F2937"/>
                </a:solidFill>
                <a:latin typeface="Noto Sans SC"/>
                <a:ea typeface="Noto Sans SC"/>
                <a:cs typeface="Noto Sans SC"/>
                <a:sym typeface="Noto Sans SC"/>
              </a:rPr>
              <a:t>在统一硬件与数据基准下，深度对比 Spark 与 Hadoop MapReduce 处理相同计算任务的核心指标。从任务执行端到端耗时、CPU与内存资源利用率、磁盘IO吞吐量等维度进行量化评估，明确两种计算框架的适用边界，为实际业务场景中的技术选型提供科学的性能依据。</a:t>
            </a:r>
            <a:endParaRPr lang="en-US" sz="1100"/>
          </a:p>
        </p:txBody>
      </p:sp>
      <p:sp>
        <p:nvSpPr>
          <p:cNvPr name="AutoShape 9" id="9"/>
          <p:cNvSpPr/>
          <p:nvPr/>
        </p:nvSpPr>
        <p:spPr>
          <a:xfrm rot="0" flipH="false" flipV="false">
            <a:off x="6350000" y="4445000"/>
            <a:ext cx="508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B82F6"/>
                </a:solidFill>
                <a:latin typeface="Noto Sans SC"/>
                <a:ea typeface="Noto Sans SC"/>
                <a:cs typeface="Noto Sans SC"/>
                <a:sym typeface="Noto Sans SC"/>
              </a:rPr>
              <a:t>探索实时处理</a:t>
            </a:r>
            <a:endParaRPr lang="en-US" sz="1100"/>
          </a:p>
        </p:txBody>
      </p:sp>
      <p:sp>
        <p:nvSpPr>
          <p:cNvPr name="AutoShape 10" id="10"/>
          <p:cNvSpPr/>
          <p:nvPr/>
        </p:nvSpPr>
        <p:spPr>
          <a:xfrm rot="0" flipH="false" flipV="false">
            <a:off x="6350000" y="4953000"/>
            <a:ext cx="50800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1F2937"/>
                </a:solidFill>
                <a:latin typeface="Noto Sans SC"/>
                <a:ea typeface="Noto Sans SC"/>
                <a:cs typeface="Noto Sans SC"/>
                <a:sym typeface="Noto Sans SC"/>
              </a:rPr>
              <a:t>结合 Spark Streaming 技术架构，开发并部署高并发的实时数据流处理应用。针对实时日志监控、流式数据清洗与ETL、低延迟在线推荐等典型业务场景，验证系统的毫秒级响应能力与数据一致性，探索从离线批处理向实时计算架构演进的工程化落地路径。</a:t>
            </a:r>
            <a:endParaRPr lang="en-US" sz="1100"/>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100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3" id="3"/>
          <p:cNvSpPr/>
          <p:nvPr/>
        </p:nvSpPr>
        <p:spPr>
          <a:xfrm rot="0" flipH="false" flipV="false">
            <a:off x="0" y="2286000"/>
            <a:ext cx="12192000" cy="1143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5600">
                <a:solidFill>
                  <a:srgbClr val="1F2937"/>
                </a:solidFill>
                <a:latin typeface="Noto Sans SC"/>
                <a:ea typeface="Noto Sans SC"/>
                <a:cs typeface="Noto Sans SC"/>
                <a:sym typeface="Noto Sans SC"/>
              </a:rPr>
              <a:t>Q &amp; A</a:t>
            </a:r>
            <a:endParaRPr lang="en-US" sz="1100"/>
          </a:p>
        </p:txBody>
      </p:sp>
      <p:sp>
        <p:nvSpPr>
          <p:cNvPr name="AutoShape 4" id="4"/>
          <p:cNvSpPr/>
          <p:nvPr/>
        </p:nvSpPr>
        <p:spPr>
          <a:xfrm rot="0" flipH="false" flipV="false">
            <a:off x="0" y="3810000"/>
            <a:ext cx="12192000" cy="635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2200">
                <a:solidFill>
                  <a:srgbClr val="374151"/>
                </a:solidFill>
                <a:latin typeface="Noto Sans SC"/>
                <a:ea typeface="Noto Sans SC"/>
                <a:cs typeface="Noto Sans SC"/>
                <a:sym typeface="Noto Sans SC"/>
              </a:rPr>
              <a:t>感谢聆听</a:t>
            </a:r>
            <a:endParaRPr lang="en-US" sz="1100"/>
          </a:p>
        </p:txBody>
      </p:sp>
      <p:sp>
        <p:nvSpPr>
          <p:cNvPr name="AutoShape 5" id="5"/>
          <p:cNvSpPr/>
          <p:nvPr/>
        </p:nvSpPr>
        <p:spPr>
          <a:xfrm rot="0" flipH="false" flipV="false">
            <a:off x="1016000" y="4953000"/>
            <a:ext cx="101600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374151"/>
                </a:solidFill>
                <a:latin typeface="Noto Sans SC"/>
                <a:ea typeface="Noto Sans SC"/>
                <a:cs typeface="Noto Sans SC"/>
                <a:sym typeface="Noto Sans SC"/>
              </a:rPr>
              <a:t>[1] Zaharia M, et al. "Spark: Cluster Computing with Working Sets." HotCloud, 2010.</a:t>
            </a:r>
            <a:r>
              <a:rPr lang="en-US" b="false" i="false" strike="noStrike" u="none" sz="1200">
                <a:solidFill>
                  <a:srgbClr val="374151"/>
                </a:solidFill>
                <a:latin typeface="Noto Sans SC"/>
                <a:ea typeface="Noto Sans SC"/>
                <a:cs typeface="Noto Sans SC"/>
                <a:sym typeface="Noto Sans SC"/>
              </a:rPr>
              <a:t/>
            </a:r>
            <a:endParaRPr lang="en-US" sz="1100"/>
          </a:p>
          <a:p>
            <a:pPr algn="l" marL="0" indent="0">
              <a:lnSpc>
                <a:spcPct val="125000"/>
              </a:lnSpc>
            </a:pPr>
            <a:r>
              <a:rPr lang="en-US" b="false" i="false" strike="noStrike" u="none" sz="1200">
                <a:solidFill>
                  <a:srgbClr val="374151"/>
                </a:solidFill>
                <a:latin typeface="Noto Sans SC"/>
                <a:ea typeface="Noto Sans SC"/>
                <a:cs typeface="Noto Sans SC"/>
                <a:sym typeface="Noto Sans SC"/>
              </a:rPr>
              <a:t>[2] Page L, et al. "The PageRank Citation Ranking." Stanford Digital Library Technologies Project, 1999.</a:t>
            </a:r>
            <a:r>
              <a:rPr lang="en-US" b="false" i="false" strike="noStrike" u="none" sz="1200">
                <a:solidFill>
                  <a:srgbClr val="374151"/>
                </a:solidFill>
                <a:latin typeface="Noto Sans SC"/>
                <a:ea typeface="Noto Sans SC"/>
                <a:cs typeface="Noto Sans SC"/>
                <a:sym typeface="Noto Sans SC"/>
              </a:rPr>
              <a:t/>
            </a:r>
          </a:p>
          <a:p>
            <a:pPr algn="l" marL="0" indent="0">
              <a:lnSpc>
                <a:spcPct val="125000"/>
              </a:lnSpc>
            </a:pPr>
            <a:r>
              <a:rPr lang="en-US" b="false" i="false" strike="noStrike" u="none" sz="1200">
                <a:solidFill>
                  <a:srgbClr val="374151"/>
                </a:solidFill>
                <a:latin typeface="Noto Sans SC"/>
                <a:ea typeface="Noto Sans SC"/>
                <a:cs typeface="Noto Sans SC"/>
                <a:sym typeface="Noto Sans SC"/>
              </a:rPr>
              <a:t>[3] Salton G, Buckley C. "Term-weighting approaches in automatic text retrieval." Information Processing &amp; Management, 1988.</a:t>
            </a:r>
            <a:r>
              <a:rPr lang="en-US" b="false" i="false" strike="noStrike" u="none" sz="1200">
                <a:solidFill>
                  <a:srgbClr val="374151"/>
                </a:solidFill>
                <a:latin typeface="Noto Sans SC"/>
                <a:ea typeface="Noto Sans SC"/>
                <a:cs typeface="Noto Sans SC"/>
                <a:sym typeface="Noto Sans SC"/>
              </a:rPr>
              <a:t/>
            </a:r>
          </a:p>
          <a:p>
            <a:pPr algn="l" marL="0" indent="0">
              <a:lnSpc>
                <a:spcPct val="125000"/>
              </a:lnSpc>
            </a:pPr>
            <a:r>
              <a:rPr lang="en-US" b="false" i="false" strike="noStrike" u="none" sz="1200">
                <a:solidFill>
                  <a:srgbClr val="374151"/>
                </a:solidFill>
                <a:latin typeface="Noto Sans SC"/>
                <a:ea typeface="Noto Sans SC"/>
                <a:cs typeface="Noto Sans SC"/>
                <a:sym typeface="Noto Sans SC"/>
              </a:rPr>
              <a:t>[4] Apache Software Foundation. Apache Spark™ 官方文档: https://spark.apache.org/docs/latest/</a:t>
            </a:r>
          </a:p>
        </p:txBody>
      </p:sp>
      <p:pic>
        <p:nvPicPr>
          <p:cNvPr name="Picture 6" id="6"/>
          <p:cNvPicPr>
            <a:picLocks noChangeAspect="true"/>
          </p:cNvPicPr>
          <p:nvPr/>
        </p:nvPicPr>
        <p:blipFill>
          <a:blip r:embed="rId4"/>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{"Label":"1","ContentProducer":"001191110102MACQD9K64010000","ProduceID":"7645946386466557114","ReservedCode1":"","ContentPropagator":"","PropagateID":"","ReservedCode2":""}</vt:lpwstr>
  </property>
</Properties>
</file>