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6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autoCompressPictures="0">
  <p:sldMasterIdLst>
    <p:sldMasterId id="2147483648" r:id="rId1"/>
    <p:sldMasterId id="2147483660" r:id="rId3"/>
  </p:sldMasterIdLst>
  <p:notesMasterIdLst>
    <p:notesMasterId r:id="rId5"/>
  </p:notesMasterIdLst>
  <p:sldIdLst>
    <p:sldId id="256" r:id="rId4"/>
    <p:sldId id="274" r:id="rId6"/>
    <p:sldId id="275" r:id="rId7"/>
    <p:sldId id="276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3" r:id="rId21"/>
  </p:sldIdLst>
  <p:sldSz cx="12192000" cy="6858000"/>
  <p:notesSz cx="6858000" cy="9144000"/>
  <p:custDataLst>
    <p:tags r:id="rId25"/>
  </p:custData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L="0"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1pPr>
    <a:lvl2pPr marL="457200"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2pPr>
    <a:lvl3pPr marL="914400"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3pPr>
    <a:lvl4pPr marL="1371600"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4pPr>
    <a:lvl5pPr marL="1828800"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5pPr>
    <a:lvl6pPr marL="2286000"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6pPr>
    <a:lvl7pPr marL="2743200"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7pPr>
    <a:lvl8pPr marL="3200400"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8pPr>
    <a:lvl9pPr marL="3657600"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9pPr>
  </p:defaultTextStyle>
  <p:extLst>
    <p:ext uri="{EFAFB233-063F-42B5-8137-9DF3F51BA10A}">
      <p15:sldGuideLst xmlns:p15="http://schemas.microsoft.com/office/powerpoint/2012/main">
        <p15:guide id="1" orient="horz" pos="1540" userDrawn="1">
          <p15:clr>
            <a:srgbClr val="747775"/>
          </p15:clr>
        </p15:guide>
        <p15:guide id="2" pos="2880" userDrawn="1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showComments="0">
  <p:normalViewPr>
    <p:restoredLeft sz="15620"/>
    <p:restoredTop sz="94660"/>
  </p:normalViewPr>
  <p:slideViewPr>
    <p:cSldViewPr snapToGrid="0" showGuides="1">
      <p:cViewPr varScale="1">
        <p:scale>
          <a:sx n="100" d="100"/>
          <a:sy n="100" d="100"/>
        </p:scale>
        <p:origin x="0" y="0"/>
      </p:cViewPr>
      <p:guideLst>
        <p:guide orient="horz" pos="1540"/>
        <p:guide pos="2880"/>
      </p:guideLst>
    </p:cSldViewPr>
  </p:slide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5.xml"/><Relationship Id="rId8" Type="http://schemas.openxmlformats.org/officeDocument/2006/relationships/slide" Target="slides/slide4.xml"/><Relationship Id="rId7" Type="http://schemas.openxmlformats.org/officeDocument/2006/relationships/slide" Target="slides/slide3.xml"/><Relationship Id="rId6" Type="http://schemas.openxmlformats.org/officeDocument/2006/relationships/slide" Target="slides/slide2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3" Type="http://schemas.openxmlformats.org/officeDocument/2006/relationships/slideMaster" Target="slideMasters/slideMaster2.xml"/><Relationship Id="rId25" Type="http://schemas.openxmlformats.org/officeDocument/2006/relationships/tags" Target="tags/tag34.xml"/><Relationship Id="rId24" Type="http://schemas.openxmlformats.org/officeDocument/2006/relationships/tableStyles" Target="tableStyles.xml"/><Relationship Id="rId23" Type="http://schemas.openxmlformats.org/officeDocument/2006/relationships/viewProps" Target="viewProps.xml"/><Relationship Id="rId22" Type="http://schemas.openxmlformats.org/officeDocument/2006/relationships/presProps" Target="presProps.xml"/><Relationship Id="rId21" Type="http://schemas.openxmlformats.org/officeDocument/2006/relationships/slide" Target="slides/slide17.xml"/><Relationship Id="rId20" Type="http://schemas.openxmlformats.org/officeDocument/2006/relationships/slide" Target="slides/slide16.xml"/><Relationship Id="rId2" Type="http://schemas.openxmlformats.org/officeDocument/2006/relationships/theme" Target="theme/theme1.xml"/><Relationship Id="rId19" Type="http://schemas.openxmlformats.org/officeDocument/2006/relationships/slide" Target="slides/slide15.xml"/><Relationship Id="rId18" Type="http://schemas.openxmlformats.org/officeDocument/2006/relationships/slide" Target="slides/slide14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</a:fld>
            <a:endParaRPr lang="cs-CZ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6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大家好，我是[你的姓名]。今天我将为大家分享我的课程实践——基于Apache Spark的分布式计算实验。本次实验旨在深入理解分布式计算的原理，并通过实际部署和编程来验证其强大的处理能力。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本次汇报将分为八个部分。首先介绍选题背景与目标，然后是Apache Spark的简介和我们设计的系统架构。接着，我会讲解环境部署过程，并详细介绍PageRank和TF-IDF两个算法的实现。之后是实验结果分析，最后进行总结与展望。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我们正处在大数据时代，数据量的飞速增长使得传统的单机计算模式难以应对。分布式计算应运而生，它通过将任务分解到多个节点并行处理，极大地提升了计算能力。本次实验的目标就是亲自动手部署一个Spark集群，并用它来实现PageRank和TF-IDF这两个经典算法，从而验证分布式计算的强大能力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Apache Spark是目前最主流的大数据处理框架之一。它最大的特点是内存计算，这使得它的处理速度远超传统的MapReduce。Spark不仅支持批处理，还集成了流处理、机器学习库MLlib和图计算库GraphX，形成了一个强大的生态系统。其核心是RDD，即弹性分布式数据集，这是我们进行编程的基础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要理解Spark，必须掌握几个核心概念。首先是RDD，它是Spark对数据的抽象。然后是两种操作：Transformation和Action。Transformation是惰性的，只记录操作；只有当Action被调用时，才会触发真正的计算。Spark会将这些操作转化为一个DAG（有向无环图）进行优化。而Shuffle，即跨节点的数据交换，是Spark作业中最消耗性能的环节，也是优化的重点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Spark的运行架构是典型的Driver-Executor模型。Driver是用户程序的入口，负责解析代码、生成任务并进行调度。Cluster Manager是资源管理器，负责为应用分配计算资源。而Executor则是真正执行任务的进程，它们运行在Worker节点上，接收Driver发来的Task并执行。整个流程清晰地分离了控制与执行，保证了系统的可扩展性和容错性。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Spark的任务调度非常智能。当一个Action被触发，就会生成一个Job。这个Job会被DAGScheduler根据Shuffle操作切分成多个Stage。每个Stage包含一系列可以流水线执行的任务。最后，每个Stage中的每个数据分区都会生成一个Task，分发到不同的Executor上并行执行。这个层层分解的过程，是Spark实现高效并行计算的关键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Spark的容错机制非常巧妙。它不像Hadoop那样依赖数据副本，而是通过记录RDD的“血统”——也就是Lineage来实现。当数据丢失时，Spark可以根据Lineage信息重新计算丢失的部分。这种“用计算换存储”的策略，尤其适合需要反复迭代的机器学习等场景，极大地提高了效率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为了进行实验，我们设计并部署了一个基于Docker的Spark集群。我们采用了经典的Master-Worker架构，包含1个Master节点和2个Worker节点。通过Docker容器化技术，我们可以快速、一致地部署整个集群，每个节点都是一个独立的容器，通过虚拟网络相互通信，这与真实的生产环境非常相似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我们使用 Docker Compose 来编排整个集群，只需要一条命令就能启动所有服务。我们自己构建了包含 Spark 3.5.8 的 Docker 镜像，确保了环境的纯净。部署成功后，我们可以通过 Spark Master 的 Web UI 来验证集群状态。大家可以看到这个占位框，稍后我会在这里展示真实的 Web UI 截图，证明我们的 2 个 Worker 节点已经成功加入集群，总共有 4 个核心和 2GB 内存可用。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我们实现的第一个算法是经典的 PageRank。它的核心思想是，一个网页的重要性取决于有多少重要的网页指向它。我们通过迭代公式来不断更新每个页面的排名值，其中阻尼系数 d 用于模拟用户的随机跳转行为。</a:t>
            </a:r>
            <a:endParaRPr lang="en-US" sz="1400" b="0" i="0" u="none" strike="noStrike">
              <a:solidFill>
                <a:srgbClr val="000000"/>
              </a:solidFill>
            </a:endParaRPr>
          </a:p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在分布式实现中，我们利用 Spark 的 RDD 操作，通过 flatMap 和 reduceByKey 来模拟 MapReduce 过程。特别地，我们对静态的链接关系数据调用 cache() 进行缓存，避免重复加载，同时也意识到 Shuffle 操作是性能优化的关键所在。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这是PageRank算法的实验结果。我们使用了一个包含20个节点的小型图数据，经过10次迭代，总耗时约8.95秒。从结果中可以看到，节点G的排名最高。同时，所有节点的PageRank值总和约等于1，这验证了我们算法实现的正确性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第二个算法是TF-IDF，它用于文本特征提取。TF代表词频，IDF代表逆文档频率，两者结合可以衡量一个词在特定文档中的重要性。我们利用Spark MLlib提供的Pipeline API，实现了从文本预处理到特征提取再到相似度计算的完整流程。特别是使用了HashingTF，它通过哈希技巧避免了构建全局词典，非常适合处理大规模数据。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这是TF-IDF的实验结果。我们使用了6篇不同主题的英文文档进行测试，总耗时约11.39秒。从Top 5相似文档对中可以看到，主题相近的文档，如“机器学习”和“神经网络”，它们的余弦相似度最高。这表明我们的TF-IDF实现有效地提取了文档的主题特征。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通过这两个实验，我们可以清晰地看到分布式计算的特性在实践中是如何体现的。数据被自动拆分到不同节点并行处理，任务被智能地调度和分发。我们也直观地感受到了Shuffle操作带来的开销，以及内存缓存对性能的巨大提升。MLlib的Pipeline更是将并行化过程封装得非常完美，让我们可以专注于业务逻辑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总结一下，本次实验我们成功部署了Spark集群，并实现了PageRank和TF-IDF两个经典算法。通过实践，我们不仅验证了分布式计算的并行能力，更重要的是，深入理解了Spark的运行架构、任务调度和容错机制。Docker的使用也让我们体会到了现代部署方式的便捷性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最后，再次感谢老师的悉心指导和同学们的帮助。我的报告到此结束，欢迎大家提问。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matchingName="标题幻灯片">
  <p:cSld name="TITLE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hape 30"/>
          <p:cNvSpPr txBox="1"/>
          <p:nvPr>
            <p:ph type="ctrTitle"/>
          </p:nvPr>
        </p:nvSpPr>
        <p:spPr>
          <a:xfrm>
            <a:off x="1143000" y="841772"/>
            <a:ext cx="6858000" cy="17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Arial" panose="020B0604020202020204"/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3" name="Shape 31"/>
          <p:cNvSpPr txBox="1"/>
          <p:nvPr>
            <p:ph type="subTitle" idx="1"/>
          </p:nvPr>
        </p:nvSpPr>
        <p:spPr>
          <a:xfrm>
            <a:off x="1143000" y="2701528"/>
            <a:ext cx="6858000" cy="12418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lvl="1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/>
        </p:txBody>
      </p:sp>
      <p:sp>
        <p:nvSpPr>
          <p:cNvPr id="14" name="Shape 32"/>
          <p:cNvSpPr txBox="1"/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5" name="Shape 33"/>
          <p:cNvSpPr txBox="1"/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6" name="Shape 34"/>
          <p:cNvSpPr txBox="1"/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matchingName="标题和内容">
  <p:cSld name="OBJECT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Shape 54"/>
          <p:cNvSpPr txBox="1"/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9" name="Shape 55"/>
          <p:cNvSpPr txBox="1"/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20" name="Shape 56"/>
          <p:cNvSpPr txBox="1"/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1" name="Shape 57"/>
          <p:cNvSpPr txBox="1"/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2" name="Shape 58"/>
          <p:cNvSpPr txBox="1"/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matchingName="节标题">
  <p:cSld name="SECTION_HEADER">
    <p:spTree>
      <p:nvGrpSpPr>
        <p:cNvPr id="23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Shape 59"/>
          <p:cNvSpPr txBox="1"/>
          <p:nvPr>
            <p:ph type="title"/>
          </p:nvPr>
        </p:nvSpPr>
        <p:spPr>
          <a:xfrm>
            <a:off x="623888" y="1282304"/>
            <a:ext cx="7886700" cy="21395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Arial" panose="020B0604020202020204"/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5" name="Shape 60"/>
          <p:cNvSpPr txBox="1"/>
          <p:nvPr>
            <p:ph type="body" idx="1"/>
          </p:nvPr>
        </p:nvSpPr>
        <p:spPr>
          <a:xfrm>
            <a:off x="623888" y="3442097"/>
            <a:ext cx="7886700" cy="11251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 sz="15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26" name="Shape 61"/>
          <p:cNvSpPr txBox="1"/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7" name="Shape 62"/>
          <p:cNvSpPr txBox="1"/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8" name="Shape 63"/>
          <p:cNvSpPr txBox="1"/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matchingName="两栏内容">
  <p:cSld name="TWO_OBJECTS">
    <p:spTree>
      <p:nvGrpSpPr>
        <p:cNvPr id="29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Shape 9"/>
          <p:cNvSpPr txBox="1"/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1" name="Shape 10"/>
          <p:cNvSpPr txBox="1"/>
          <p:nvPr>
            <p:ph type="body" idx="1"/>
          </p:nvPr>
        </p:nvSpPr>
        <p:spPr>
          <a:xfrm>
            <a:off x="628650" y="1369219"/>
            <a:ext cx="3886200" cy="326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32" name="Shape 11"/>
          <p:cNvSpPr txBox="1"/>
          <p:nvPr>
            <p:ph type="body" idx="2"/>
          </p:nvPr>
        </p:nvSpPr>
        <p:spPr>
          <a:xfrm>
            <a:off x="4629150" y="1369219"/>
            <a:ext cx="3886200" cy="326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33" name="Shape 12"/>
          <p:cNvSpPr txBox="1"/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4" name="Shape 13"/>
          <p:cNvSpPr txBox="1"/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5" name="Shape 14"/>
          <p:cNvSpPr txBox="1"/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matchingName="比较">
  <p:cSld name="TWO_OBJECTS_WITH_TEXT"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Shape 35"/>
          <p:cNvSpPr txBox="1"/>
          <p:nvPr>
            <p:ph type="title"/>
          </p:nvPr>
        </p:nvSpPr>
        <p:spPr>
          <a:xfrm>
            <a:off x="629841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8" name="Shape 36"/>
          <p:cNvSpPr txBox="1"/>
          <p:nvPr>
            <p:ph type="body" idx="1"/>
          </p:nvPr>
        </p:nvSpPr>
        <p:spPr>
          <a:xfrm>
            <a:off x="629841" y="1260872"/>
            <a:ext cx="3868340" cy="6179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 b="1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1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9pPr>
          </a:lstStyle>
          <a:p/>
        </p:txBody>
      </p:sp>
      <p:sp>
        <p:nvSpPr>
          <p:cNvPr id="39" name="Shape 37"/>
          <p:cNvSpPr txBox="1"/>
          <p:nvPr>
            <p:ph type="body" idx="2"/>
          </p:nvPr>
        </p:nvSpPr>
        <p:spPr>
          <a:xfrm>
            <a:off x="629841" y="1878806"/>
            <a:ext cx="3868340" cy="27634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40" name="Shape 38"/>
          <p:cNvSpPr txBox="1"/>
          <p:nvPr>
            <p:ph type="body" idx="3"/>
          </p:nvPr>
        </p:nvSpPr>
        <p:spPr>
          <a:xfrm>
            <a:off x="4629150" y="1260872"/>
            <a:ext cx="3887391" cy="6179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 b="1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1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9pPr>
          </a:lstStyle>
          <a:p/>
        </p:txBody>
      </p:sp>
      <p:sp>
        <p:nvSpPr>
          <p:cNvPr id="41" name="Shape 39"/>
          <p:cNvSpPr txBox="1"/>
          <p:nvPr>
            <p:ph type="body" idx="4"/>
          </p:nvPr>
        </p:nvSpPr>
        <p:spPr>
          <a:xfrm>
            <a:off x="4629150" y="1878806"/>
            <a:ext cx="3887391" cy="27634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42" name="Shape 40"/>
          <p:cNvSpPr txBox="1"/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43" name="Shape 41"/>
          <p:cNvSpPr txBox="1"/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44" name="Shape 42"/>
          <p:cNvSpPr txBox="1"/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matchingName="仅标题">
  <p:cSld name="TITLE_ONLY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Shape 20"/>
          <p:cNvSpPr txBox="1"/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47" name="Shape 21"/>
          <p:cNvSpPr txBox="1"/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48" name="Shape 22"/>
          <p:cNvSpPr txBox="1"/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49" name="Shape 23"/>
          <p:cNvSpPr txBox="1"/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matchingName="空白">
  <p:cSld name="BLANK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Shape 6"/>
          <p:cNvSpPr txBox="1"/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2" name="Shape 7"/>
          <p:cNvSpPr txBox="1"/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3" name="Shape 8"/>
          <p:cNvSpPr txBox="1"/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matchingName="内容与标题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Shape 43"/>
          <p:cNvSpPr txBox="1"/>
          <p:nvPr>
            <p:ph type="title"/>
          </p:nvPr>
        </p:nvSpPr>
        <p:spPr>
          <a:xfrm>
            <a:off x="629841" y="342900"/>
            <a:ext cx="2949178" cy="12001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 panose="020B0604020202020204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6" name="Shape 44"/>
          <p:cNvSpPr txBox="1"/>
          <p:nvPr>
            <p:ph type="body" idx="1"/>
          </p:nvPr>
        </p:nvSpPr>
        <p:spPr>
          <a:xfrm>
            <a:off x="3887391" y="740569"/>
            <a:ext cx="4629150" cy="36552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810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619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  <a:defRPr sz="2100"/>
            </a:lvl2pPr>
            <a:lvl3pPr marL="1371600" lvl="2" indent="-3429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4pPr>
            <a:lvl5pPr marL="2286000" lvl="4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5pPr>
            <a:lvl6pPr marL="2743200" lvl="5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6pPr>
            <a:lvl7pPr marL="3200400" lvl="6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7pPr>
            <a:lvl8pPr marL="3657600" lvl="7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8pPr>
            <a:lvl9pPr marL="4114800" lvl="8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9pPr>
          </a:lstStyle>
          <a:p/>
        </p:txBody>
      </p:sp>
      <p:sp>
        <p:nvSpPr>
          <p:cNvPr id="57" name="Shape 45"/>
          <p:cNvSpPr txBox="1"/>
          <p:nvPr>
            <p:ph type="body" idx="2"/>
          </p:nvPr>
        </p:nvSpPr>
        <p:spPr>
          <a:xfrm>
            <a:off x="629841" y="1543050"/>
            <a:ext cx="2949178" cy="28586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9pPr>
          </a:lstStyle>
          <a:p/>
        </p:txBody>
      </p:sp>
      <p:sp>
        <p:nvSpPr>
          <p:cNvPr id="58" name="Shape 46"/>
          <p:cNvSpPr txBox="1"/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9" name="Shape 47"/>
          <p:cNvSpPr txBox="1"/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0" name="Shape 48"/>
          <p:cNvSpPr txBox="1"/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matchingName="图片与标题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Shape 24"/>
          <p:cNvSpPr txBox="1"/>
          <p:nvPr>
            <p:ph type="title"/>
          </p:nvPr>
        </p:nvSpPr>
        <p:spPr>
          <a:xfrm>
            <a:off x="629841" y="342900"/>
            <a:ext cx="2949178" cy="12001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 panose="020B0604020202020204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3" name="Shape 25"/>
          <p:cNvSpPr/>
          <p:nvPr>
            <p:ph type="pic" idx="2"/>
          </p:nvPr>
        </p:nvSpPr>
        <p:spPr>
          <a:xfrm>
            <a:off x="3887391" y="740569"/>
            <a:ext cx="4629150" cy="3655219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Shape 26"/>
          <p:cNvSpPr txBox="1"/>
          <p:nvPr>
            <p:ph type="body" idx="1"/>
          </p:nvPr>
        </p:nvSpPr>
        <p:spPr>
          <a:xfrm>
            <a:off x="629841" y="1543050"/>
            <a:ext cx="2949178" cy="28586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9pPr>
          </a:lstStyle>
          <a:p/>
        </p:txBody>
      </p:sp>
      <p:sp>
        <p:nvSpPr>
          <p:cNvPr id="65" name="Shape 27"/>
          <p:cNvSpPr txBox="1"/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6" name="Shape 28"/>
          <p:cNvSpPr txBox="1"/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7" name="Shape 29"/>
          <p:cNvSpPr txBox="1"/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matchingName="标题和竖排文字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Shape 49"/>
          <p:cNvSpPr txBox="1"/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0" name="Shape 50"/>
          <p:cNvSpPr txBox="1"/>
          <p:nvPr>
            <p:ph type="body" idx="1"/>
          </p:nvPr>
        </p:nvSpPr>
        <p:spPr>
          <a:xfrm rot="5400000">
            <a:off x="2940248" y="-942379"/>
            <a:ext cx="3263504" cy="78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71" name="Shape 51"/>
          <p:cNvSpPr txBox="1"/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2" name="Shape 52"/>
          <p:cNvSpPr txBox="1"/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3" name="Shape 53"/>
          <p:cNvSpPr txBox="1"/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matchingName="竖排标题与文本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Shape 15"/>
          <p:cNvSpPr txBox="1"/>
          <p:nvPr>
            <p:ph type="title"/>
          </p:nvPr>
        </p:nvSpPr>
        <p:spPr>
          <a:xfrm rot="5400000">
            <a:off x="5350073" y="1467445"/>
            <a:ext cx="4358879" cy="19716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6" name="Shape 16"/>
          <p:cNvSpPr txBox="1"/>
          <p:nvPr>
            <p:ph type="body" idx="1"/>
          </p:nvPr>
        </p:nvSpPr>
        <p:spPr>
          <a:xfrm rot="5400000">
            <a:off x="1349573" y="-447080"/>
            <a:ext cx="4358879" cy="58007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77" name="Shape 17"/>
          <p:cNvSpPr txBox="1"/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8" name="Shape 18"/>
          <p:cNvSpPr txBox="1"/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9" name="Shape 19"/>
          <p:cNvSpPr txBox="1"/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1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hape 1"/>
          <p:cNvSpPr txBox="1"/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Arial" panose="020B0604020202020204"/>
              <a:buNone/>
              <a:defRPr sz="33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7" name="Shape 2"/>
          <p:cNvSpPr txBox="1"/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marR="0" lvl="0" indent="-36195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 panose="020B0604020202020204"/>
              <a:buChar char="•"/>
              <a:defRPr sz="21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/>
              <a:buChar char="•"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L="1371600" marR="0" lvl="2" indent="-32385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 panose="020B0604020202020204"/>
              <a:buChar char="•"/>
              <a:defRPr sz="15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 panose="020B0604020202020204"/>
              <a:buChar char="•"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 panose="020B0604020202020204"/>
              <a:buChar char="•"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 panose="020B0604020202020204"/>
              <a:buChar char="•"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 panose="020B0604020202020204"/>
              <a:buChar char="•"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 panose="020B0604020202020204"/>
              <a:buChar char="•"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 panose="020B0604020202020204"/>
              <a:buChar char="•"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/>
        </p:txBody>
      </p:sp>
      <p:sp>
        <p:nvSpPr>
          <p:cNvPr id="8" name="Shape 3"/>
          <p:cNvSpPr txBox="1"/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/>
        </p:txBody>
      </p:sp>
      <p:sp>
        <p:nvSpPr>
          <p:cNvPr id="9" name="Shape 4"/>
          <p:cNvSpPr txBox="1"/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100"/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/>
        </p:txBody>
      </p:sp>
      <p:sp>
        <p:nvSpPr>
          <p:cNvPr id="10" name="Shape 5"/>
          <p:cNvSpPr txBox="1"/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L="0" marR="0" lvl="1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L="0" marR="0" lvl="2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L="0" marR="0" lvl="3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L="0" marR="0" lvl="4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L="0" marR="0" lvl="5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L="0" marR="0" lvl="6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L="0" marR="0" lvl="7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L="0" marR="0" lvl="8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61" r:id="rId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.xml"/><Relationship Id="rId3" Type="http://schemas.openxmlformats.org/officeDocument/2006/relationships/slideLayout" Target="../slideLayouts/slideLayout12.xml"/><Relationship Id="rId2" Type="http://schemas.openxmlformats.org/officeDocument/2006/relationships/image" Target="../media/image2.jpeg"/><Relationship Id="rId1" Type="http://schemas.openxmlformats.org/officeDocument/2006/relationships/image" Target="../media/image1.jpeg"/></Relationships>
</file>

<file path=ppt/slides/_rels/slide2.xml.rels><?xml version="1.0" encoding="UTF-8" standalone="yes"?>
<Relationships xmlns="http://schemas.openxmlformats.org/package/2006/relationships"><Relationship Id="rId9" Type="http://schemas.openxmlformats.org/officeDocument/2006/relationships/tags" Target="../tags/tag9.xml"/><Relationship Id="rId8" Type="http://schemas.openxmlformats.org/officeDocument/2006/relationships/tags" Target="../tags/tag8.xml"/><Relationship Id="rId7" Type="http://schemas.openxmlformats.org/officeDocument/2006/relationships/tags" Target="../tags/tag7.xml"/><Relationship Id="rId6" Type="http://schemas.openxmlformats.org/officeDocument/2006/relationships/tags" Target="../tags/tag6.xml"/><Relationship Id="rId5" Type="http://schemas.openxmlformats.org/officeDocument/2006/relationships/tags" Target="../tags/tag5.xml"/><Relationship Id="rId4" Type="http://schemas.openxmlformats.org/officeDocument/2006/relationships/tags" Target="../tags/tag4.xml"/><Relationship Id="rId3" Type="http://schemas.openxmlformats.org/officeDocument/2006/relationships/tags" Target="../tags/tag3.xml"/><Relationship Id="rId2" Type="http://schemas.openxmlformats.org/officeDocument/2006/relationships/tags" Target="../tags/tag2.xml"/><Relationship Id="rId18" Type="http://schemas.openxmlformats.org/officeDocument/2006/relationships/notesSlide" Target="../notesSlides/notesSlide2.xml"/><Relationship Id="rId17" Type="http://schemas.openxmlformats.org/officeDocument/2006/relationships/slideLayout" Target="../slideLayouts/slideLayout12.xml"/><Relationship Id="rId16" Type="http://schemas.openxmlformats.org/officeDocument/2006/relationships/tags" Target="../tags/tag16.xml"/><Relationship Id="rId15" Type="http://schemas.openxmlformats.org/officeDocument/2006/relationships/tags" Target="../tags/tag15.xml"/><Relationship Id="rId14" Type="http://schemas.openxmlformats.org/officeDocument/2006/relationships/tags" Target="../tags/tag14.xml"/><Relationship Id="rId13" Type="http://schemas.openxmlformats.org/officeDocument/2006/relationships/tags" Target="../tags/tag13.xml"/><Relationship Id="rId12" Type="http://schemas.openxmlformats.org/officeDocument/2006/relationships/tags" Target="../tags/tag12.xml"/><Relationship Id="rId11" Type="http://schemas.openxmlformats.org/officeDocument/2006/relationships/tags" Target="../tags/tag11.xml"/><Relationship Id="rId10" Type="http://schemas.openxmlformats.org/officeDocument/2006/relationships/tags" Target="../tags/tag10.xml"/><Relationship Id="rId1" Type="http://schemas.openxmlformats.org/officeDocument/2006/relationships/tags" Target="../tags/tag1.xml"/></Relationships>
</file>

<file path=ppt/slides/_rels/slide3.xml.rels><?xml version="1.0" encoding="UTF-8" standalone="yes"?>
<Relationships xmlns="http://schemas.openxmlformats.org/package/2006/relationships"><Relationship Id="rId9" Type="http://schemas.openxmlformats.org/officeDocument/2006/relationships/notesSlide" Target="../notesSlides/notesSlide3.xml"/><Relationship Id="rId8" Type="http://schemas.openxmlformats.org/officeDocument/2006/relationships/slideLayout" Target="../slideLayouts/slideLayout12.xml"/><Relationship Id="rId7" Type="http://schemas.openxmlformats.org/officeDocument/2006/relationships/image" Target="../media/image3.png"/><Relationship Id="rId6" Type="http://schemas.openxmlformats.org/officeDocument/2006/relationships/tags" Target="../tags/tag22.xml"/><Relationship Id="rId5" Type="http://schemas.openxmlformats.org/officeDocument/2006/relationships/tags" Target="../tags/tag21.xml"/><Relationship Id="rId4" Type="http://schemas.openxmlformats.org/officeDocument/2006/relationships/tags" Target="../tags/tag20.xml"/><Relationship Id="rId3" Type="http://schemas.openxmlformats.org/officeDocument/2006/relationships/tags" Target="../tags/tag19.xml"/><Relationship Id="rId2" Type="http://schemas.openxmlformats.org/officeDocument/2006/relationships/tags" Target="../tags/tag18.xml"/><Relationship Id="rId1" Type="http://schemas.openxmlformats.org/officeDocument/2006/relationships/tags" Target="../tags/tag17.xml"/></Relationships>
</file>

<file path=ppt/slides/_rels/slide4.xml.rels><?xml version="1.0" encoding="UTF-8" standalone="yes"?>
<Relationships xmlns="http://schemas.openxmlformats.org/package/2006/relationships"><Relationship Id="rId9" Type="http://schemas.openxmlformats.org/officeDocument/2006/relationships/notesSlide" Target="../notesSlides/notesSlide4.xml"/><Relationship Id="rId8" Type="http://schemas.openxmlformats.org/officeDocument/2006/relationships/slideLayout" Target="../slideLayouts/slideLayout12.xml"/><Relationship Id="rId7" Type="http://schemas.openxmlformats.org/officeDocument/2006/relationships/image" Target="../media/image4.png"/><Relationship Id="rId6" Type="http://schemas.openxmlformats.org/officeDocument/2006/relationships/tags" Target="../tags/tag28.xml"/><Relationship Id="rId5" Type="http://schemas.openxmlformats.org/officeDocument/2006/relationships/tags" Target="../tags/tag27.xml"/><Relationship Id="rId4" Type="http://schemas.openxmlformats.org/officeDocument/2006/relationships/tags" Target="../tags/tag26.xml"/><Relationship Id="rId3" Type="http://schemas.openxmlformats.org/officeDocument/2006/relationships/tags" Target="../tags/tag25.xml"/><Relationship Id="rId2" Type="http://schemas.openxmlformats.org/officeDocument/2006/relationships/tags" Target="../tags/tag24.xml"/><Relationship Id="rId1" Type="http://schemas.openxmlformats.org/officeDocument/2006/relationships/tags" Target="../tags/tag2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7" Type="http://schemas.openxmlformats.org/officeDocument/2006/relationships/notesSlide" Target="../notesSlides/notesSlide6.xml"/><Relationship Id="rId6" Type="http://schemas.openxmlformats.org/officeDocument/2006/relationships/slideLayout" Target="../slideLayouts/slideLayout12.xml"/><Relationship Id="rId5" Type="http://schemas.openxmlformats.org/officeDocument/2006/relationships/tags" Target="../tags/tag31.xml"/><Relationship Id="rId4" Type="http://schemas.openxmlformats.org/officeDocument/2006/relationships/tags" Target="../tags/tag30.xml"/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tags" Target="../tags/tag29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7.xml"/><Relationship Id="rId2" Type="http://schemas.openxmlformats.org/officeDocument/2006/relationships/slideLayout" Target="../slideLayouts/slideLayout12.xml"/><Relationship Id="rId1" Type="http://schemas.openxmlformats.org/officeDocument/2006/relationships/image" Target="../media/image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8.xml"/><Relationship Id="rId2" Type="http://schemas.openxmlformats.org/officeDocument/2006/relationships/slideLayout" Target="../slideLayouts/slideLayout12.xml"/><Relationship Id="rId1" Type="http://schemas.openxmlformats.org/officeDocument/2006/relationships/tags" Target="../tags/tag3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9.xml"/><Relationship Id="rId2" Type="http://schemas.openxmlformats.org/officeDocument/2006/relationships/slideLayout" Target="../slideLayouts/slideLayout12.xml"/><Relationship Id="rId1" Type="http://schemas.openxmlformats.org/officeDocument/2006/relationships/image" Target="../media/image8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0.xml"/><Relationship Id="rId2" Type="http://schemas.openxmlformats.org/officeDocument/2006/relationships/slideLayout" Target="../slideLayouts/slideLayout12.xml"/><Relationship Id="rId1" Type="http://schemas.openxmlformats.org/officeDocument/2006/relationships/image" Target="../media/image9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1.xml"/><Relationship Id="rId2" Type="http://schemas.openxmlformats.org/officeDocument/2006/relationships/slideLayout" Target="../slideLayouts/slideLayout12.xml"/><Relationship Id="rId1" Type="http://schemas.openxmlformats.org/officeDocument/2006/relationships/image" Target="../media/image10.png"/></Relationships>
</file>

<file path=ppt/slides/_rels/slide12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2.xml"/><Relationship Id="rId3" Type="http://schemas.openxmlformats.org/officeDocument/2006/relationships/slideLayout" Target="../slideLayouts/slideLayout12.xml"/><Relationship Id="rId2" Type="http://schemas.openxmlformats.org/officeDocument/2006/relationships/image" Target="../media/image12.png"/><Relationship Id="rId1" Type="http://schemas.openxmlformats.org/officeDocument/2006/relationships/image" Target="../media/image11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3.xml"/><Relationship Id="rId2" Type="http://schemas.openxmlformats.org/officeDocument/2006/relationships/slideLayout" Target="../slideLayouts/slideLayout12.xml"/><Relationship Id="rId1" Type="http://schemas.openxmlformats.org/officeDocument/2006/relationships/image" Target="../media/image13.png"/></Relationships>
</file>

<file path=ppt/slides/_rels/slide14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14.xml"/><Relationship Id="rId4" Type="http://schemas.openxmlformats.org/officeDocument/2006/relationships/slideLayout" Target="../slideLayouts/slideLayout12.xml"/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tags" Target="../tags/tag3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</a:p>
        </p:txBody>
      </p:sp>
      <p:sp>
        <p:nvSpPr>
          <p:cNvPr id="3" name="AutoShape 3"/>
          <p:cNvSpPr/>
          <p:nvPr/>
        </p:nvSpPr>
        <p:spPr>
          <a:xfrm>
            <a:off x="1016000" y="2540000"/>
            <a:ext cx="10922000" cy="152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40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基于 Apache Spark 的分布式计算实验</a:t>
            </a:r>
            <a:endParaRPr lang="en-US" sz="1100"/>
          </a:p>
        </p:txBody>
      </p:sp>
      <p:sp>
        <p:nvSpPr>
          <p:cNvPr id="4" name="AutoShape 4"/>
          <p:cNvSpPr/>
          <p:nvPr/>
        </p:nvSpPr>
        <p:spPr>
          <a:xfrm>
            <a:off x="1016000" y="4191000"/>
            <a:ext cx="10668000" cy="825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000" b="0" i="0" u="none" strike="noStrike">
                <a:solidFill>
                  <a:srgbClr val="4B5563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典型分布式（云）技术及系统 · 课程实践</a:t>
            </a:r>
            <a:endParaRPr lang="en-US" sz="1100"/>
          </a:p>
        </p:txBody>
      </p:sp>
      <p:sp>
        <p:nvSpPr>
          <p:cNvPr id="5" name="AutoShape 5"/>
          <p:cNvSpPr/>
          <p:nvPr/>
        </p:nvSpPr>
        <p:spPr>
          <a:xfrm>
            <a:off x="1016000" y="5207000"/>
            <a:ext cx="10668000" cy="1270000"/>
          </a:xfrm>
          <a:prstGeom prst="roundRect">
            <a:avLst>
              <a:gd name="adj" fmla="val 0"/>
            </a:avLst>
          </a:prstGeom>
          <a:solidFill>
            <a:srgbClr val="F3F4F6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</a:p>
        </p:txBody>
      </p:sp>
      <p:sp>
        <p:nvSpPr>
          <p:cNvPr id="6" name="AutoShape 6"/>
          <p:cNvSpPr/>
          <p:nvPr/>
        </p:nvSpPr>
        <p:spPr>
          <a:xfrm>
            <a:off x="1206500" y="5397500"/>
            <a:ext cx="3238500" cy="101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000"/>
              </a:lnSpc>
              <a:defRPr/>
            </a:pPr>
            <a:r>
              <a:rPr lang="en-US" sz="1400" b="0" i="0" u="none" strike="noStrike">
                <a:solidFill>
                  <a:srgbClr val="6B728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汇报人</a:t>
            </a:r>
            <a:endParaRPr lang="en-US" sz="1100"/>
          </a:p>
          <a:p>
            <a:pPr marL="0" indent="0" algn="l">
              <a:lnSpc>
                <a:spcPct val="125000"/>
              </a:lnSpc>
            </a:pPr>
            <a:r>
              <a:rPr lang="en-US" sz="16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[你的姓名]</a:t>
            </a:r>
            <a:endParaRPr lang="en-US" sz="1600" b="1" i="0" u="none" strike="noStrike">
              <a:solidFill>
                <a:srgbClr val="1F2937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cxnSp>
        <p:nvCxnSpPr>
          <p:cNvPr id="7" name="Connector 7"/>
          <p:cNvCxnSpPr/>
          <p:nvPr/>
        </p:nvCxnSpPr>
        <p:spPr>
          <a:xfrm rot="5347115">
            <a:off x="4159250" y="5867449"/>
            <a:ext cx="8255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D1D5D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8" name="AutoShape 8"/>
          <p:cNvSpPr/>
          <p:nvPr/>
        </p:nvSpPr>
        <p:spPr>
          <a:xfrm>
            <a:off x="4699000" y="5397500"/>
            <a:ext cx="3238500" cy="101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000"/>
              </a:lnSpc>
              <a:defRPr/>
            </a:pPr>
            <a:r>
              <a:rPr lang="en-US" sz="1400" b="0" i="0" u="none" strike="noStrike">
                <a:solidFill>
                  <a:srgbClr val="6B728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学　号</a:t>
            </a:r>
            <a:endParaRPr lang="en-US" sz="1100"/>
          </a:p>
          <a:p>
            <a:pPr marL="0" indent="0" algn="l">
              <a:lnSpc>
                <a:spcPct val="125000"/>
              </a:lnSpc>
            </a:pPr>
            <a:r>
              <a:rPr lang="en-US" sz="16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[你的学号]</a:t>
            </a:r>
            <a:endParaRPr lang="en-US" sz="1600" b="1" i="0" u="none" strike="noStrike">
              <a:solidFill>
                <a:srgbClr val="1F2937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cxnSp>
        <p:nvCxnSpPr>
          <p:cNvPr id="9" name="Connector 9"/>
          <p:cNvCxnSpPr/>
          <p:nvPr/>
        </p:nvCxnSpPr>
        <p:spPr>
          <a:xfrm rot="5347115">
            <a:off x="7588250" y="5867449"/>
            <a:ext cx="8255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D1D5D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0" name="AutoShape 10"/>
          <p:cNvSpPr/>
          <p:nvPr/>
        </p:nvSpPr>
        <p:spPr>
          <a:xfrm>
            <a:off x="8128000" y="5397500"/>
            <a:ext cx="3048000" cy="101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000"/>
              </a:lnSpc>
              <a:defRPr/>
            </a:pPr>
            <a:r>
              <a:rPr lang="en-US" sz="1400" b="0" i="0" u="none" strike="noStrike">
                <a:solidFill>
                  <a:srgbClr val="6B728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完成日期</a:t>
            </a:r>
            <a:endParaRPr lang="en-US" sz="1100"/>
          </a:p>
          <a:p>
            <a:pPr marL="0" indent="0" algn="l">
              <a:lnSpc>
                <a:spcPct val="125000"/>
              </a:lnSpc>
            </a:pPr>
            <a:r>
              <a:rPr lang="en-US" sz="16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2026年6月</a:t>
            </a:r>
            <a:endParaRPr lang="en-US" sz="1600" b="1" i="0" u="none" strike="noStrike">
              <a:solidFill>
                <a:srgbClr val="1F2937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pic>
        <p:nvPicPr>
          <p:cNvPr id="11" name="Picture 7"/>
          <p:cNvPicPr>
            <a:picLocks noChangeAspect="1"/>
          </p:cNvPicPr>
          <p:nvPr/>
        </p:nvPicPr>
        <p:blipFill>
          <a:blip r:embed="rId2"/>
          <a:srcRect t="838" b="838"/>
          <a:stretch>
            <a:fillRect/>
          </a:stretch>
        </p:blipFill>
        <p:spPr>
          <a:xfrm>
            <a:off x="8477885" y="887730"/>
            <a:ext cx="2845435" cy="158877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762000" y="762000"/>
            <a:ext cx="1905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8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目录</a:t>
            </a:r>
            <a:endParaRPr lang="en-US" sz="1100"/>
          </a:p>
        </p:txBody>
      </p:sp>
      <p:sp>
        <p:nvSpPr>
          <p:cNvPr id="3" name="AutoShape 3"/>
          <p:cNvSpPr/>
          <p:nvPr>
            <p:custDataLst>
              <p:tags r:id="rId1"/>
            </p:custDataLst>
          </p:nvPr>
        </p:nvSpPr>
        <p:spPr>
          <a:xfrm>
            <a:off x="762000" y="2032000"/>
            <a:ext cx="508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3B82F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01</a:t>
            </a:r>
            <a:endParaRPr lang="en-US" sz="1100"/>
          </a:p>
        </p:txBody>
      </p:sp>
      <p:sp>
        <p:nvSpPr>
          <p:cNvPr id="4" name="AutoShape 4"/>
          <p:cNvSpPr/>
          <p:nvPr>
            <p:custDataLst>
              <p:tags r:id="rId2"/>
            </p:custDataLst>
          </p:nvPr>
        </p:nvSpPr>
        <p:spPr>
          <a:xfrm>
            <a:off x="1397000" y="2057400"/>
            <a:ext cx="4318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选题背景与目标</a:t>
            </a:r>
            <a:endParaRPr lang="en-US" sz="1100"/>
          </a:p>
        </p:txBody>
      </p:sp>
      <p:sp>
        <p:nvSpPr>
          <p:cNvPr id="5" name="AutoShape 5"/>
          <p:cNvSpPr/>
          <p:nvPr/>
        </p:nvSpPr>
        <p:spPr>
          <a:xfrm>
            <a:off x="1397000" y="2413000"/>
            <a:ext cx="4318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000"/>
              </a:lnSpc>
              <a:defRPr/>
            </a:pPr>
            <a:endParaRPr lang="en-US" sz="1100"/>
          </a:p>
        </p:txBody>
      </p:sp>
      <p:sp>
        <p:nvSpPr>
          <p:cNvPr id="6" name="AutoShape 6"/>
          <p:cNvSpPr/>
          <p:nvPr>
            <p:custDataLst>
              <p:tags r:id="rId3"/>
            </p:custDataLst>
          </p:nvPr>
        </p:nvSpPr>
        <p:spPr>
          <a:xfrm>
            <a:off x="6350000" y="2032000"/>
            <a:ext cx="508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3B82F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02</a:t>
            </a:r>
            <a:endParaRPr lang="en-US" sz="1100"/>
          </a:p>
        </p:txBody>
      </p:sp>
      <p:sp>
        <p:nvSpPr>
          <p:cNvPr id="7" name="AutoShape 7"/>
          <p:cNvSpPr/>
          <p:nvPr>
            <p:custDataLst>
              <p:tags r:id="rId4"/>
            </p:custDataLst>
          </p:nvPr>
        </p:nvSpPr>
        <p:spPr>
          <a:xfrm>
            <a:off x="6985000" y="2057400"/>
            <a:ext cx="4318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500" b="1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Apache Spark 简介</a:t>
            </a:r>
            <a:endParaRPr lang="en-US" sz="1100"/>
          </a:p>
        </p:txBody>
      </p:sp>
      <p:sp>
        <p:nvSpPr>
          <p:cNvPr id="8" name="AutoShape 8"/>
          <p:cNvSpPr/>
          <p:nvPr/>
        </p:nvSpPr>
        <p:spPr>
          <a:xfrm>
            <a:off x="6985000" y="2413000"/>
            <a:ext cx="4318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000"/>
              </a:lnSpc>
              <a:defRPr/>
            </a:pPr>
            <a:endParaRPr lang="en-US" sz="1100"/>
          </a:p>
        </p:txBody>
      </p:sp>
      <p:sp>
        <p:nvSpPr>
          <p:cNvPr id="9" name="AutoShape 9"/>
          <p:cNvSpPr/>
          <p:nvPr>
            <p:custDataLst>
              <p:tags r:id="rId5"/>
            </p:custDataLst>
          </p:nvPr>
        </p:nvSpPr>
        <p:spPr>
          <a:xfrm>
            <a:off x="762000" y="3302000"/>
            <a:ext cx="508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3B82F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03</a:t>
            </a:r>
            <a:endParaRPr lang="en-US" sz="1100"/>
          </a:p>
        </p:txBody>
      </p:sp>
      <p:sp>
        <p:nvSpPr>
          <p:cNvPr id="10" name="AutoShape 10"/>
          <p:cNvSpPr/>
          <p:nvPr>
            <p:custDataLst>
              <p:tags r:id="rId6"/>
            </p:custDataLst>
          </p:nvPr>
        </p:nvSpPr>
        <p:spPr>
          <a:xfrm>
            <a:off x="1397000" y="3327400"/>
            <a:ext cx="4318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500" b="1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架构与调度机制</a:t>
            </a:r>
            <a:endParaRPr lang="en-US" sz="1100"/>
          </a:p>
        </p:txBody>
      </p:sp>
      <p:sp>
        <p:nvSpPr>
          <p:cNvPr id="11" name="AutoShape 11"/>
          <p:cNvSpPr/>
          <p:nvPr/>
        </p:nvSpPr>
        <p:spPr>
          <a:xfrm>
            <a:off x="1397000" y="3683000"/>
            <a:ext cx="4318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000"/>
              </a:lnSpc>
              <a:defRPr/>
            </a:pPr>
            <a:endParaRPr lang="en-US" sz="1100"/>
          </a:p>
        </p:txBody>
      </p:sp>
      <p:sp>
        <p:nvSpPr>
          <p:cNvPr id="12" name="AutoShape 12"/>
          <p:cNvSpPr/>
          <p:nvPr>
            <p:custDataLst>
              <p:tags r:id="rId7"/>
            </p:custDataLst>
          </p:nvPr>
        </p:nvSpPr>
        <p:spPr>
          <a:xfrm>
            <a:off x="6350000" y="3302000"/>
            <a:ext cx="508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3B82F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04</a:t>
            </a:r>
            <a:endParaRPr lang="en-US" sz="1100"/>
          </a:p>
        </p:txBody>
      </p:sp>
      <p:sp>
        <p:nvSpPr>
          <p:cNvPr id="13" name="AutoShape 13"/>
          <p:cNvSpPr/>
          <p:nvPr>
            <p:custDataLst>
              <p:tags r:id="rId8"/>
            </p:custDataLst>
          </p:nvPr>
        </p:nvSpPr>
        <p:spPr>
          <a:xfrm>
            <a:off x="6985000" y="3327400"/>
            <a:ext cx="4318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500" b="1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容错与技术对比</a:t>
            </a:r>
            <a:endParaRPr lang="en-US" sz="1100"/>
          </a:p>
        </p:txBody>
      </p:sp>
      <p:sp>
        <p:nvSpPr>
          <p:cNvPr id="14" name="AutoShape 14"/>
          <p:cNvSpPr/>
          <p:nvPr/>
        </p:nvSpPr>
        <p:spPr>
          <a:xfrm>
            <a:off x="6985000" y="3683000"/>
            <a:ext cx="4318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000"/>
              </a:lnSpc>
              <a:defRPr/>
            </a:pPr>
            <a:endParaRPr lang="en-US" sz="1100"/>
          </a:p>
        </p:txBody>
      </p:sp>
      <p:sp>
        <p:nvSpPr>
          <p:cNvPr id="15" name="AutoShape 15"/>
          <p:cNvSpPr/>
          <p:nvPr>
            <p:custDataLst>
              <p:tags r:id="rId9"/>
            </p:custDataLst>
          </p:nvPr>
        </p:nvSpPr>
        <p:spPr>
          <a:xfrm>
            <a:off x="762000" y="4381500"/>
            <a:ext cx="508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3B82F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05</a:t>
            </a:r>
            <a:endParaRPr lang="en-US" sz="1100"/>
          </a:p>
        </p:txBody>
      </p:sp>
      <p:sp>
        <p:nvSpPr>
          <p:cNvPr id="16" name="AutoShape 16"/>
          <p:cNvSpPr/>
          <p:nvPr>
            <p:custDataLst>
              <p:tags r:id="rId10"/>
            </p:custDataLst>
          </p:nvPr>
        </p:nvSpPr>
        <p:spPr>
          <a:xfrm>
            <a:off x="1397000" y="4406900"/>
            <a:ext cx="4318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500" b="1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集群环境搭建</a:t>
            </a:r>
            <a:endParaRPr lang="en-US" sz="1100"/>
          </a:p>
        </p:txBody>
      </p:sp>
      <p:sp>
        <p:nvSpPr>
          <p:cNvPr id="17" name="AutoShape 17"/>
          <p:cNvSpPr/>
          <p:nvPr/>
        </p:nvSpPr>
        <p:spPr>
          <a:xfrm>
            <a:off x="1397000" y="4762500"/>
            <a:ext cx="4318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000"/>
              </a:lnSpc>
              <a:defRPr/>
            </a:pPr>
            <a:endParaRPr lang="en-US" sz="1100"/>
          </a:p>
        </p:txBody>
      </p:sp>
      <p:sp>
        <p:nvSpPr>
          <p:cNvPr id="18" name="AutoShape 18"/>
          <p:cNvSpPr/>
          <p:nvPr>
            <p:custDataLst>
              <p:tags r:id="rId11"/>
            </p:custDataLst>
          </p:nvPr>
        </p:nvSpPr>
        <p:spPr>
          <a:xfrm>
            <a:off x="6350000" y="4381500"/>
            <a:ext cx="508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3B82F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06</a:t>
            </a:r>
            <a:endParaRPr lang="en-US" sz="1100"/>
          </a:p>
        </p:txBody>
      </p:sp>
      <p:sp>
        <p:nvSpPr>
          <p:cNvPr id="19" name="AutoShape 19"/>
          <p:cNvSpPr/>
          <p:nvPr>
            <p:custDataLst>
              <p:tags r:id="rId12"/>
            </p:custDataLst>
          </p:nvPr>
        </p:nvSpPr>
        <p:spPr>
          <a:xfrm>
            <a:off x="6985000" y="4406900"/>
            <a:ext cx="4318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500" b="1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核心算法开发</a:t>
            </a:r>
            <a:endParaRPr lang="en-US" sz="1100"/>
          </a:p>
        </p:txBody>
      </p:sp>
      <p:sp>
        <p:nvSpPr>
          <p:cNvPr id="20" name="AutoShape 20"/>
          <p:cNvSpPr/>
          <p:nvPr/>
        </p:nvSpPr>
        <p:spPr>
          <a:xfrm>
            <a:off x="6985000" y="4762500"/>
            <a:ext cx="4318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000"/>
              </a:lnSpc>
              <a:defRPr/>
            </a:pPr>
            <a:endParaRPr lang="en-US" sz="1100"/>
          </a:p>
        </p:txBody>
      </p:sp>
      <p:sp>
        <p:nvSpPr>
          <p:cNvPr id="21" name="AutoShape 21"/>
          <p:cNvSpPr/>
          <p:nvPr>
            <p:custDataLst>
              <p:tags r:id="rId13"/>
            </p:custDataLst>
          </p:nvPr>
        </p:nvSpPr>
        <p:spPr>
          <a:xfrm>
            <a:off x="762000" y="5461000"/>
            <a:ext cx="508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3B82F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07</a:t>
            </a:r>
            <a:endParaRPr lang="en-US" sz="1100"/>
          </a:p>
        </p:txBody>
      </p:sp>
      <p:sp>
        <p:nvSpPr>
          <p:cNvPr id="22" name="AutoShape 22"/>
          <p:cNvSpPr/>
          <p:nvPr>
            <p:custDataLst>
              <p:tags r:id="rId14"/>
            </p:custDataLst>
          </p:nvPr>
        </p:nvSpPr>
        <p:spPr>
          <a:xfrm>
            <a:off x="1397000" y="5486400"/>
            <a:ext cx="4318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500" b="1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分布式特性分析</a:t>
            </a:r>
            <a:endParaRPr lang="en-US" sz="1100"/>
          </a:p>
        </p:txBody>
      </p:sp>
      <p:sp>
        <p:nvSpPr>
          <p:cNvPr id="23" name="AutoShape 23"/>
          <p:cNvSpPr/>
          <p:nvPr/>
        </p:nvSpPr>
        <p:spPr>
          <a:xfrm>
            <a:off x="1397000" y="5842000"/>
            <a:ext cx="4318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000"/>
              </a:lnSpc>
              <a:defRPr/>
            </a:pPr>
            <a:endParaRPr lang="en-US" sz="1100"/>
          </a:p>
        </p:txBody>
      </p:sp>
      <p:sp>
        <p:nvSpPr>
          <p:cNvPr id="24" name="AutoShape 24"/>
          <p:cNvSpPr/>
          <p:nvPr>
            <p:custDataLst>
              <p:tags r:id="rId15"/>
            </p:custDataLst>
          </p:nvPr>
        </p:nvSpPr>
        <p:spPr>
          <a:xfrm>
            <a:off x="6350000" y="5461000"/>
            <a:ext cx="508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3B82F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08</a:t>
            </a:r>
            <a:endParaRPr lang="en-US" sz="1100"/>
          </a:p>
        </p:txBody>
      </p:sp>
      <p:sp>
        <p:nvSpPr>
          <p:cNvPr id="25" name="AutoShape 25"/>
          <p:cNvSpPr/>
          <p:nvPr>
            <p:custDataLst>
              <p:tags r:id="rId16"/>
            </p:custDataLst>
          </p:nvPr>
        </p:nvSpPr>
        <p:spPr>
          <a:xfrm>
            <a:off x="6985000" y="5486400"/>
            <a:ext cx="4318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500" b="1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总结与收获</a:t>
            </a:r>
            <a:endParaRPr lang="en-US" sz="1100"/>
          </a:p>
        </p:txBody>
      </p:sp>
      <p:sp>
        <p:nvSpPr>
          <p:cNvPr id="26" name="AutoShape 26"/>
          <p:cNvSpPr/>
          <p:nvPr/>
        </p:nvSpPr>
        <p:spPr>
          <a:xfrm>
            <a:off x="6985000" y="5842000"/>
            <a:ext cx="4318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000"/>
              </a:lnSpc>
              <a:defRPr/>
            </a:pPr>
            <a:endParaRPr lang="en-US" sz="11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762000" y="635000"/>
            <a:ext cx="1066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8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01 选题背景与目标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762000" y="1905000"/>
            <a:ext cx="5080000" cy="2540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zh-CN" altLang="en-US" sz="1800">
                <a:sym typeface="+mn-ea"/>
              </a:rPr>
              <a:t>大数据时代，单机计算能力有限</a:t>
            </a:r>
            <a:endParaRPr lang="zh-CN" altLang="en-US" sz="1800"/>
          </a:p>
          <a:p>
            <a:pPr marL="0" indent="0" algn="l">
              <a:lnSpc>
                <a:spcPct val="125000"/>
              </a:lnSpc>
              <a:defRPr/>
            </a:pPr>
            <a:r>
              <a:rPr lang="zh-CN" altLang="en-US" sz="1800">
                <a:sym typeface="Noto Sans SC" panose="020B0200000000000000" charset="-122"/>
              </a:rPr>
              <a:t>分布式计算通过将大规模计算任务拆解为若干子任务，分配至多个网络互联的计算机节点并行执行，最终汇总结果。</a:t>
            </a:r>
            <a:endParaRPr lang="zh-CN" altLang="en-US" sz="1800">
              <a:sym typeface="Noto Sans SC" panose="020B0200000000000000" charset="-122"/>
            </a:endParaRPr>
          </a:p>
          <a:p>
            <a:pPr marL="0" indent="0" algn="l">
              <a:lnSpc>
                <a:spcPct val="125000"/>
              </a:lnSpc>
              <a:defRPr/>
            </a:pPr>
            <a:r>
              <a:rPr lang="zh-CN" altLang="en-US" sz="1800">
                <a:sym typeface="Noto Sans SC" panose="020B0200000000000000" charset="-122"/>
              </a:rPr>
              <a:t>这种架构是当前解决海量数据处理、高并发业务最有效的技术路径</a:t>
            </a:r>
            <a:endParaRPr lang="zh-CN" altLang="en-US" sz="1800"/>
          </a:p>
          <a:p>
            <a:pPr marL="0" indent="0" algn="l">
              <a:lnSpc>
                <a:spcPct val="125000"/>
              </a:lnSpc>
              <a:defRPr/>
            </a:pPr>
            <a:endParaRPr lang="en-US" sz="1800" b="1">
              <a:solidFill>
                <a:srgbClr val="3B82F6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</a:endParaRPr>
          </a:p>
          <a:p>
            <a:pPr marL="0" indent="0" algn="l">
              <a:lnSpc>
                <a:spcPct val="125000"/>
              </a:lnSpc>
              <a:defRPr/>
            </a:pPr>
            <a:endParaRPr lang="en-US" sz="1100"/>
          </a:p>
        </p:txBody>
      </p:sp>
      <p:sp>
        <p:nvSpPr>
          <p:cNvPr id="4" name="AutoShape 4"/>
          <p:cNvSpPr/>
          <p:nvPr/>
        </p:nvSpPr>
        <p:spPr>
          <a:xfrm>
            <a:off x="762000" y="2413000"/>
            <a:ext cx="5080000" cy="152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17000"/>
              </a:lnSpc>
              <a:defRPr/>
            </a:pPr>
            <a:endParaRPr lang="zh-CN" altLang="en-US" sz="1100"/>
          </a:p>
        </p:txBody>
      </p:sp>
      <p:sp>
        <p:nvSpPr>
          <p:cNvPr id="5" name="AutoShape 5"/>
          <p:cNvSpPr/>
          <p:nvPr/>
        </p:nvSpPr>
        <p:spPr>
          <a:xfrm>
            <a:off x="6350000" y="1905000"/>
            <a:ext cx="5080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endParaRPr lang="en-US" sz="1100"/>
          </a:p>
        </p:txBody>
      </p:sp>
      <p:sp>
        <p:nvSpPr>
          <p:cNvPr id="6" name="AutoShape 6"/>
          <p:cNvSpPr/>
          <p:nvPr/>
        </p:nvSpPr>
        <p:spPr>
          <a:xfrm>
            <a:off x="6350000" y="2413000"/>
            <a:ext cx="5080000" cy="152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17000"/>
              </a:lnSpc>
              <a:defRPr/>
            </a:pPr>
            <a:endParaRPr lang="en-US" sz="1100"/>
          </a:p>
        </p:txBody>
      </p:sp>
      <p:sp>
        <p:nvSpPr>
          <p:cNvPr id="7" name="AutoShape 7"/>
          <p:cNvSpPr/>
          <p:nvPr>
            <p:custDataLst>
              <p:tags r:id="rId1"/>
            </p:custDataLst>
          </p:nvPr>
        </p:nvSpPr>
        <p:spPr>
          <a:xfrm>
            <a:off x="762000" y="4445000"/>
            <a:ext cx="4939665" cy="1340485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algn="l">
              <a:lnSpc>
                <a:spcPct val="125000"/>
              </a:lnSpc>
              <a:buSzTx/>
              <a:buNone/>
              <a:defRPr/>
            </a:pPr>
            <a:r>
              <a:rPr lang="zh-CN" altLang="en-US" sz="1800"/>
              <a:t>1.部署 Spark 分布式集群</a:t>
            </a:r>
            <a:endParaRPr lang="zh-CN" altLang="en-US" sz="1800"/>
          </a:p>
          <a:p>
            <a:pPr marL="0" algn="l">
              <a:lnSpc>
                <a:spcPct val="125000"/>
              </a:lnSpc>
              <a:buSzTx/>
              <a:buNone/>
              <a:defRPr/>
            </a:pPr>
            <a:r>
              <a:rPr lang="zh-CN" altLang="en-US" sz="1800"/>
              <a:t>2.实现经典分布式算法（PageRank + TF-IDF）</a:t>
            </a:r>
            <a:endParaRPr lang="zh-CN" altLang="en-US" sz="1800"/>
          </a:p>
          <a:p>
            <a:pPr marL="0" algn="l">
              <a:lnSpc>
                <a:spcPct val="125000"/>
              </a:lnSpc>
              <a:buSzTx/>
              <a:buNone/>
              <a:defRPr/>
            </a:pPr>
            <a:r>
              <a:rPr lang="zh-CN" altLang="en-US" sz="1800"/>
              <a:t>3.验证分布式计算的并行处理能力</a:t>
            </a:r>
            <a:endParaRPr lang="zh-CN" altLang="en-US" sz="1800"/>
          </a:p>
        </p:txBody>
      </p:sp>
      <p:sp>
        <p:nvSpPr>
          <p:cNvPr id="8" name="AutoShape 8"/>
          <p:cNvSpPr/>
          <p:nvPr>
            <p:custDataLst>
              <p:tags r:id="rId2"/>
            </p:custDataLst>
          </p:nvPr>
        </p:nvSpPr>
        <p:spPr>
          <a:xfrm>
            <a:off x="762000" y="4953000"/>
            <a:ext cx="3302000" cy="152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17000"/>
              </a:lnSpc>
              <a:defRPr/>
            </a:pPr>
            <a:endParaRPr lang="en-US" sz="1100"/>
          </a:p>
        </p:txBody>
      </p:sp>
      <p:sp>
        <p:nvSpPr>
          <p:cNvPr id="9" name="AutoShape 9"/>
          <p:cNvSpPr/>
          <p:nvPr>
            <p:custDataLst>
              <p:tags r:id="rId3"/>
            </p:custDataLst>
          </p:nvPr>
        </p:nvSpPr>
        <p:spPr>
          <a:xfrm>
            <a:off x="4445000" y="4445000"/>
            <a:ext cx="3302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endParaRPr lang="en-US" sz="1100"/>
          </a:p>
        </p:txBody>
      </p:sp>
      <p:sp>
        <p:nvSpPr>
          <p:cNvPr id="10" name="AutoShape 10"/>
          <p:cNvSpPr/>
          <p:nvPr>
            <p:custDataLst>
              <p:tags r:id="rId4"/>
            </p:custDataLst>
          </p:nvPr>
        </p:nvSpPr>
        <p:spPr>
          <a:xfrm>
            <a:off x="4445000" y="4953000"/>
            <a:ext cx="3302000" cy="152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17000"/>
              </a:lnSpc>
              <a:defRPr/>
            </a:pPr>
            <a:endParaRPr lang="en-US" sz="1100"/>
          </a:p>
        </p:txBody>
      </p:sp>
      <p:sp>
        <p:nvSpPr>
          <p:cNvPr id="11" name="AutoShape 11"/>
          <p:cNvSpPr/>
          <p:nvPr>
            <p:custDataLst>
              <p:tags r:id="rId5"/>
            </p:custDataLst>
          </p:nvPr>
        </p:nvSpPr>
        <p:spPr>
          <a:xfrm>
            <a:off x="8128000" y="4445000"/>
            <a:ext cx="3302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endParaRPr lang="en-US" sz="1100"/>
          </a:p>
        </p:txBody>
      </p:sp>
      <p:sp>
        <p:nvSpPr>
          <p:cNvPr id="12" name="AutoShape 12"/>
          <p:cNvSpPr/>
          <p:nvPr>
            <p:custDataLst>
              <p:tags r:id="rId6"/>
            </p:custDataLst>
          </p:nvPr>
        </p:nvSpPr>
        <p:spPr>
          <a:xfrm>
            <a:off x="8128000" y="4953000"/>
            <a:ext cx="3302000" cy="152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17000"/>
              </a:lnSpc>
              <a:defRPr/>
            </a:pPr>
            <a:endParaRPr lang="en-US" sz="1100"/>
          </a:p>
        </p:txBody>
      </p:sp>
      <p:sp>
        <p:nvSpPr>
          <p:cNvPr id="13" name="文本框 12"/>
          <p:cNvSpPr txBox="1"/>
          <p:nvPr/>
        </p:nvSpPr>
        <p:spPr>
          <a:xfrm>
            <a:off x="762000" y="4062730"/>
            <a:ext cx="3740785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sz="2400" b="1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本次实验目标：</a:t>
            </a:r>
            <a:endParaRPr lang="zh-CN" altLang="en-US" sz="2400"/>
          </a:p>
        </p:txBody>
      </p:sp>
      <p:pic>
        <p:nvPicPr>
          <p:cNvPr id="14" name="图片 13" descr="图1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75680" y="1966595"/>
            <a:ext cx="5629275" cy="3753485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</a:p>
        </p:txBody>
      </p:sp>
      <p:sp>
        <p:nvSpPr>
          <p:cNvPr id="3" name="AutoShape 3"/>
          <p:cNvSpPr/>
          <p:nvPr/>
        </p:nvSpPr>
        <p:spPr>
          <a:xfrm>
            <a:off x="762000" y="635000"/>
            <a:ext cx="10160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8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02 </a:t>
            </a:r>
            <a:r>
              <a:rPr lang="en-US" sz="2800" b="1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Apache Spark 简介</a:t>
            </a:r>
            <a:endParaRPr lang="en-US" sz="2800"/>
          </a:p>
          <a:p>
            <a:pPr marL="0" indent="0" algn="l">
              <a:lnSpc>
                <a:spcPct val="125000"/>
              </a:lnSpc>
              <a:defRPr/>
            </a:pPr>
            <a:endParaRPr lang="en-US" sz="1100"/>
          </a:p>
        </p:txBody>
      </p:sp>
      <p:sp>
        <p:nvSpPr>
          <p:cNvPr id="4" name="AutoShape 4"/>
          <p:cNvSpPr/>
          <p:nvPr>
            <p:custDataLst>
              <p:tags r:id="rId1"/>
            </p:custDataLst>
          </p:nvPr>
        </p:nvSpPr>
        <p:spPr>
          <a:xfrm>
            <a:off x="762000" y="1778000"/>
            <a:ext cx="6096000" cy="355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3B82F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统一引擎</a:t>
            </a:r>
            <a:endParaRPr lang="en-US" sz="1100"/>
          </a:p>
        </p:txBody>
      </p:sp>
      <p:sp>
        <p:nvSpPr>
          <p:cNvPr id="5" name="AutoShape 5"/>
          <p:cNvSpPr/>
          <p:nvPr>
            <p:custDataLst>
              <p:tags r:id="rId2"/>
            </p:custDataLst>
          </p:nvPr>
        </p:nvSpPr>
        <p:spPr>
          <a:xfrm>
            <a:off x="762000" y="2159000"/>
            <a:ext cx="6096000" cy="571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17000"/>
              </a:lnSpc>
              <a:defRPr/>
            </a:pPr>
            <a:r>
              <a:rPr lang="en-US" sz="1200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2014年成为Apache顶级项目，是一个开源的统一大规模数据处理引擎，打破传统离线计算的局限，实现高效数据处理。</a:t>
            </a:r>
            <a:endParaRPr lang="en-US" sz="1100"/>
          </a:p>
        </p:txBody>
      </p:sp>
      <p:sp>
        <p:nvSpPr>
          <p:cNvPr id="6" name="AutoShape 6"/>
          <p:cNvSpPr/>
          <p:nvPr>
            <p:custDataLst>
              <p:tags r:id="rId3"/>
            </p:custDataLst>
          </p:nvPr>
        </p:nvSpPr>
        <p:spPr>
          <a:xfrm>
            <a:off x="762000" y="2984500"/>
            <a:ext cx="6096000" cy="355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3B82F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内存计算</a:t>
            </a:r>
            <a:endParaRPr lang="en-US" sz="1100"/>
          </a:p>
        </p:txBody>
      </p:sp>
      <p:sp>
        <p:nvSpPr>
          <p:cNvPr id="7" name="AutoShape 7"/>
          <p:cNvSpPr/>
          <p:nvPr>
            <p:custDataLst>
              <p:tags r:id="rId4"/>
            </p:custDataLst>
          </p:nvPr>
        </p:nvSpPr>
        <p:spPr>
          <a:xfrm>
            <a:off x="762000" y="3365500"/>
            <a:ext cx="6096000" cy="571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000"/>
              </a:lnSpc>
              <a:defRPr/>
            </a:pPr>
            <a:r>
              <a:rPr lang="en-US" sz="12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相比传统的Hadoop MapReduce，通过将中间计算结果缓存于内存中，大幅减少磁盘IO开销，处理速度提升10至100倍。</a:t>
            </a:r>
            <a:endParaRPr lang="en-US" sz="1100"/>
          </a:p>
        </p:txBody>
      </p:sp>
      <p:sp>
        <p:nvSpPr>
          <p:cNvPr id="8" name="AutoShape 8"/>
          <p:cNvSpPr/>
          <p:nvPr>
            <p:custDataLst>
              <p:tags r:id="rId5"/>
            </p:custDataLst>
          </p:nvPr>
        </p:nvSpPr>
        <p:spPr>
          <a:xfrm>
            <a:off x="762000" y="4191000"/>
            <a:ext cx="6096000" cy="355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3B82F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多计算模式</a:t>
            </a:r>
            <a:endParaRPr lang="en-US" sz="1100"/>
          </a:p>
        </p:txBody>
      </p:sp>
      <p:sp>
        <p:nvSpPr>
          <p:cNvPr id="9" name="AutoShape 9"/>
          <p:cNvSpPr/>
          <p:nvPr>
            <p:custDataLst>
              <p:tags r:id="rId6"/>
            </p:custDataLst>
          </p:nvPr>
        </p:nvSpPr>
        <p:spPr>
          <a:xfrm>
            <a:off x="762000" y="4572000"/>
            <a:ext cx="6096000" cy="571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000"/>
              </a:lnSpc>
              <a:defRPr/>
            </a:pPr>
            <a:r>
              <a:rPr lang="en-US" sz="12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一站式解决复杂业务场景，原生支持离线批处理、低延迟流处理，以及高阶的机器学习和图计算任务。</a:t>
            </a:r>
            <a:endParaRPr lang="en-US" sz="1100"/>
          </a:p>
        </p:txBody>
      </p:sp>
      <p:sp>
        <p:nvSpPr>
          <p:cNvPr id="10" name="AutoShape 10"/>
          <p:cNvSpPr/>
          <p:nvPr/>
        </p:nvSpPr>
        <p:spPr>
          <a:xfrm>
            <a:off x="762000" y="5143500"/>
            <a:ext cx="6096000" cy="355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3B82F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RDD</a:t>
            </a:r>
            <a:endParaRPr lang="en-US" sz="1100"/>
          </a:p>
        </p:txBody>
      </p:sp>
      <p:sp>
        <p:nvSpPr>
          <p:cNvPr id="11" name="AutoShape 11"/>
          <p:cNvSpPr/>
          <p:nvPr/>
        </p:nvSpPr>
        <p:spPr>
          <a:xfrm>
            <a:off x="762000" y="5588000"/>
            <a:ext cx="6096000" cy="355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3B82F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多语言开发接口</a:t>
            </a:r>
            <a:endParaRPr lang="en-US" sz="1100"/>
          </a:p>
        </p:txBody>
      </p:sp>
      <p:sp>
        <p:nvSpPr>
          <p:cNvPr id="13" name="AutoShape 13"/>
          <p:cNvSpPr/>
          <p:nvPr/>
        </p:nvSpPr>
        <p:spPr>
          <a:xfrm>
            <a:off x="7620000" y="4699000"/>
            <a:ext cx="3810000" cy="355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endParaRPr lang="en-US" sz="1100"/>
          </a:p>
        </p:txBody>
      </p:sp>
      <p:sp>
        <p:nvSpPr>
          <p:cNvPr id="14" name="AutoShape 14"/>
          <p:cNvSpPr/>
          <p:nvPr/>
        </p:nvSpPr>
        <p:spPr>
          <a:xfrm>
            <a:off x="7620000" y="5143500"/>
            <a:ext cx="3810000" cy="1143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000"/>
              </a:lnSpc>
              <a:defRPr/>
            </a:pPr>
            <a:endParaRPr lang="en-US" sz="1100"/>
          </a:p>
        </p:txBody>
      </p:sp>
      <p:pic>
        <p:nvPicPr>
          <p:cNvPr id="15" name="图片 14" descr="Spark 生态系统全景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24370" y="2133600"/>
            <a:ext cx="5012690" cy="3759835"/>
          </a:xfrm>
          <a:prstGeom prst="rect">
            <a:avLst/>
          </a:prstGeom>
        </p:spPr>
      </p:pic>
      <p:sp>
        <p:nvSpPr>
          <p:cNvPr id="18" name="文本框 17"/>
          <p:cNvSpPr txBox="1"/>
          <p:nvPr/>
        </p:nvSpPr>
        <p:spPr>
          <a:xfrm>
            <a:off x="8390890" y="5768975"/>
            <a:ext cx="2442210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b="1">
                <a:solidFill>
                  <a:srgbClr val="3B82F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     Spark 生态系统全景</a:t>
            </a:r>
            <a:endParaRPr lang="zh-CN" alt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762000" y="635000"/>
            <a:ext cx="10160000" cy="571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400" b="1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Spark 核心概念</a:t>
            </a:r>
            <a:endParaRPr lang="en-US" sz="2400"/>
          </a:p>
        </p:txBody>
      </p:sp>
      <p:sp>
        <p:nvSpPr>
          <p:cNvPr id="24" name="AutoShape 24"/>
          <p:cNvSpPr/>
          <p:nvPr/>
        </p:nvSpPr>
        <p:spPr>
          <a:xfrm>
            <a:off x="889000" y="5207000"/>
            <a:ext cx="1714500" cy="431800"/>
          </a:xfrm>
          <a:prstGeom prst="roundRect">
            <a:avLst>
              <a:gd name="adj" fmla="val 0"/>
            </a:avLst>
          </a:prstGeom>
          <a:solidFill>
            <a:srgbClr val="374151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</a:p>
        </p:txBody>
      </p:sp>
      <p:sp>
        <p:nvSpPr>
          <p:cNvPr id="25" name="AutoShape 25"/>
          <p:cNvSpPr/>
          <p:nvPr/>
        </p:nvSpPr>
        <p:spPr>
          <a:xfrm>
            <a:off x="889000" y="5232400"/>
            <a:ext cx="17145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textFile("data.txt")</a:t>
            </a:r>
            <a:endParaRPr lang="en-US" sz="1100"/>
          </a:p>
        </p:txBody>
      </p:sp>
      <p:sp>
        <p:nvSpPr>
          <p:cNvPr id="26" name="AutoShape 26"/>
          <p:cNvSpPr/>
          <p:nvPr/>
        </p:nvSpPr>
        <p:spPr>
          <a:xfrm>
            <a:off x="2667000" y="5245100"/>
            <a:ext cx="3175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400" b="0" i="0" u="none" strike="noStrike">
                <a:solidFill>
                  <a:srgbClr val="6B728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→</a:t>
            </a:r>
            <a:endParaRPr lang="en-US" sz="1100"/>
          </a:p>
        </p:txBody>
      </p:sp>
      <p:sp>
        <p:nvSpPr>
          <p:cNvPr id="27" name="AutoShape 27"/>
          <p:cNvSpPr/>
          <p:nvPr/>
        </p:nvSpPr>
        <p:spPr>
          <a:xfrm>
            <a:off x="3048000" y="5207000"/>
            <a:ext cx="1460500" cy="431800"/>
          </a:xfrm>
          <a:prstGeom prst="roundRect">
            <a:avLst>
              <a:gd name="adj" fmla="val 0"/>
            </a:avLst>
          </a:prstGeom>
          <a:solidFill>
            <a:srgbClr val="4B5563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</a:p>
        </p:txBody>
      </p:sp>
      <p:sp>
        <p:nvSpPr>
          <p:cNvPr id="28" name="AutoShape 28"/>
          <p:cNvSpPr/>
          <p:nvPr/>
        </p:nvSpPr>
        <p:spPr>
          <a:xfrm>
            <a:off x="3048000" y="5232400"/>
            <a:ext cx="14605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map(...)</a:t>
            </a:r>
            <a:endParaRPr lang="en-US" sz="1100"/>
          </a:p>
        </p:txBody>
      </p:sp>
      <p:sp>
        <p:nvSpPr>
          <p:cNvPr id="29" name="AutoShape 29"/>
          <p:cNvSpPr/>
          <p:nvPr/>
        </p:nvSpPr>
        <p:spPr>
          <a:xfrm>
            <a:off x="4572000" y="5245100"/>
            <a:ext cx="3175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400" b="0" i="0" u="none" strike="noStrike">
                <a:solidFill>
                  <a:srgbClr val="6B728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→</a:t>
            </a:r>
            <a:endParaRPr lang="en-US" sz="1100"/>
          </a:p>
        </p:txBody>
      </p:sp>
      <p:sp>
        <p:nvSpPr>
          <p:cNvPr id="30" name="AutoShape 30"/>
          <p:cNvSpPr/>
          <p:nvPr/>
        </p:nvSpPr>
        <p:spPr>
          <a:xfrm>
            <a:off x="4953000" y="5207000"/>
            <a:ext cx="1460500" cy="431800"/>
          </a:xfrm>
          <a:prstGeom prst="roundRect">
            <a:avLst>
              <a:gd name="adj" fmla="val 0"/>
            </a:avLst>
          </a:prstGeom>
          <a:solidFill>
            <a:srgbClr val="4B5563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</a:p>
        </p:txBody>
      </p:sp>
      <p:sp>
        <p:nvSpPr>
          <p:cNvPr id="31" name="AutoShape 31"/>
          <p:cNvSpPr/>
          <p:nvPr/>
        </p:nvSpPr>
        <p:spPr>
          <a:xfrm>
            <a:off x="4953000" y="5232400"/>
            <a:ext cx="14605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filter(...)</a:t>
            </a:r>
            <a:endParaRPr lang="en-US" sz="1100"/>
          </a:p>
        </p:txBody>
      </p:sp>
      <p:sp>
        <p:nvSpPr>
          <p:cNvPr id="32" name="AutoShape 32"/>
          <p:cNvSpPr/>
          <p:nvPr/>
        </p:nvSpPr>
        <p:spPr>
          <a:xfrm>
            <a:off x="6477000" y="5245100"/>
            <a:ext cx="3175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400" b="0" i="0" u="none" strike="noStrike">
                <a:solidFill>
                  <a:srgbClr val="6B728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→</a:t>
            </a:r>
            <a:endParaRPr lang="en-US" sz="1100"/>
          </a:p>
        </p:txBody>
      </p:sp>
      <p:sp>
        <p:nvSpPr>
          <p:cNvPr id="33" name="AutoShape 33"/>
          <p:cNvSpPr/>
          <p:nvPr/>
        </p:nvSpPr>
        <p:spPr>
          <a:xfrm>
            <a:off x="6858000" y="5207000"/>
            <a:ext cx="1587500" cy="431800"/>
          </a:xfrm>
          <a:prstGeom prst="roundRect">
            <a:avLst>
              <a:gd name="adj" fmla="val 0"/>
            </a:avLst>
          </a:prstGeom>
          <a:solidFill>
            <a:srgbClr val="4B5563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</a:p>
        </p:txBody>
      </p:sp>
      <p:sp>
        <p:nvSpPr>
          <p:cNvPr id="34" name="AutoShape 34"/>
          <p:cNvSpPr/>
          <p:nvPr/>
        </p:nvSpPr>
        <p:spPr>
          <a:xfrm>
            <a:off x="6858000" y="5232400"/>
            <a:ext cx="15875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reduceByKey(...)</a:t>
            </a:r>
            <a:endParaRPr lang="en-US" sz="1100"/>
          </a:p>
        </p:txBody>
      </p:sp>
      <p:sp>
        <p:nvSpPr>
          <p:cNvPr id="35" name="AutoShape 35"/>
          <p:cNvSpPr/>
          <p:nvPr/>
        </p:nvSpPr>
        <p:spPr>
          <a:xfrm>
            <a:off x="8509000" y="5245100"/>
            <a:ext cx="3175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400" b="0" i="0" u="none" strike="noStrike">
                <a:solidFill>
                  <a:srgbClr val="6B728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→</a:t>
            </a:r>
            <a:endParaRPr lang="en-US" sz="1100"/>
          </a:p>
        </p:txBody>
      </p:sp>
      <p:sp>
        <p:nvSpPr>
          <p:cNvPr id="36" name="AutoShape 36"/>
          <p:cNvSpPr/>
          <p:nvPr/>
        </p:nvSpPr>
        <p:spPr>
          <a:xfrm>
            <a:off x="8890000" y="5207000"/>
            <a:ext cx="1587500" cy="431800"/>
          </a:xfrm>
          <a:prstGeom prst="roundRect">
            <a:avLst>
              <a:gd name="adj" fmla="val 0"/>
            </a:avLst>
          </a:prstGeom>
          <a:solidFill>
            <a:srgbClr val="D97706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</a:p>
        </p:txBody>
      </p:sp>
      <p:sp>
        <p:nvSpPr>
          <p:cNvPr id="37" name="AutoShape 37"/>
          <p:cNvSpPr/>
          <p:nvPr/>
        </p:nvSpPr>
        <p:spPr>
          <a:xfrm>
            <a:off x="8890000" y="5232400"/>
            <a:ext cx="15875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200" b="1" i="0" u="none" strike="noStrike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collect()</a:t>
            </a:r>
            <a:endParaRPr lang="en-US" sz="1100"/>
          </a:p>
        </p:txBody>
      </p:sp>
      <p:sp>
        <p:nvSpPr>
          <p:cNvPr id="38" name="AutoShape 38"/>
          <p:cNvSpPr/>
          <p:nvPr/>
        </p:nvSpPr>
        <p:spPr>
          <a:xfrm>
            <a:off x="889000" y="5740400"/>
            <a:ext cx="6985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000"/>
              </a:lnSpc>
              <a:defRPr/>
            </a:pPr>
            <a:endParaRPr lang="en-US" sz="1100"/>
          </a:p>
        </p:txBody>
      </p:sp>
      <p:sp>
        <p:nvSpPr>
          <p:cNvPr id="39" name="AutoShape 39"/>
          <p:cNvSpPr/>
          <p:nvPr/>
        </p:nvSpPr>
        <p:spPr>
          <a:xfrm>
            <a:off x="8128000" y="5740400"/>
            <a:ext cx="3429000" cy="635000"/>
          </a:xfrm>
          <a:prstGeom prst="roundRect">
            <a:avLst>
              <a:gd name="adj" fmla="val 0"/>
            </a:avLst>
          </a:prstGeom>
          <a:solidFill>
            <a:srgbClr val="FEF3C7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</a:p>
        </p:txBody>
      </p:sp>
      <p:sp>
        <p:nvSpPr>
          <p:cNvPr id="40" name="AutoShape 40"/>
          <p:cNvSpPr/>
          <p:nvPr/>
        </p:nvSpPr>
        <p:spPr>
          <a:xfrm>
            <a:off x="8191500" y="5778500"/>
            <a:ext cx="3302000" cy="571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200" b="1" i="0" u="none" strike="noStrike">
                <a:solidFill>
                  <a:srgbClr val="B45309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Action 触发计算：结果回传 Driver 端</a:t>
            </a:r>
            <a:endParaRPr lang="en-US" sz="1100"/>
          </a:p>
        </p:txBody>
      </p:sp>
      <p:sp>
        <p:nvSpPr>
          <p:cNvPr id="43" name="文本框 42"/>
          <p:cNvSpPr txBox="1"/>
          <p:nvPr/>
        </p:nvSpPr>
        <p:spPr>
          <a:xfrm>
            <a:off x="1007110" y="1514475"/>
            <a:ext cx="6951345" cy="298894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2000"/>
              <a:t>RDD：</a:t>
            </a:r>
            <a:r>
              <a:rPr lang="zh-CN" altLang="en-US" sz="2000"/>
              <a:t>不可变、可分区、可并行</a:t>
            </a:r>
            <a:endParaRPr lang="zh-CN" altLang="en-US" sz="2000"/>
          </a:p>
          <a:p>
            <a:r>
              <a:rPr lang="en-US" altLang="zh-CN" sz="2000"/>
              <a:t>Transformation：</a:t>
            </a:r>
            <a:r>
              <a:rPr lang="zh-CN" altLang="en-US" sz="2000"/>
              <a:t>惰性转换，不立即执行</a:t>
            </a:r>
            <a:endParaRPr lang="zh-CN" altLang="en-US" sz="2000"/>
          </a:p>
          <a:p>
            <a:r>
              <a:rPr lang="en-US" altLang="zh-CN" sz="2000"/>
              <a:t>Action：</a:t>
            </a:r>
            <a:r>
              <a:rPr lang="zh-CN" altLang="en-US" sz="2000"/>
              <a:t>触发 </a:t>
            </a:r>
            <a:r>
              <a:rPr lang="en-US" altLang="zh-CN" sz="2000"/>
              <a:t>Job </a:t>
            </a:r>
            <a:r>
              <a:rPr lang="zh-CN" altLang="en-US" sz="2000"/>
              <a:t>执行</a:t>
            </a:r>
            <a:endParaRPr lang="zh-CN" altLang="en-US" sz="2000"/>
          </a:p>
          <a:p>
            <a:r>
              <a:rPr lang="en-US" altLang="zh-CN" sz="2000"/>
              <a:t>DAG：</a:t>
            </a:r>
            <a:r>
              <a:rPr lang="zh-CN" altLang="en-US" sz="2000"/>
              <a:t>优化执行顺序</a:t>
            </a:r>
            <a:endParaRPr lang="zh-CN" altLang="en-US" sz="2000"/>
          </a:p>
          <a:p>
            <a:r>
              <a:rPr lang="en-US" altLang="zh-CN" sz="2000"/>
              <a:t>Shuffle：</a:t>
            </a:r>
            <a:r>
              <a:rPr lang="zh-CN" altLang="en-US" sz="2000"/>
              <a:t>跨节点交换，性能瓶颈</a:t>
            </a:r>
            <a:endParaRPr lang="zh-CN" altLang="en-US" sz="200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812800" y="213995"/>
            <a:ext cx="10795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3200" b="1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03 架构与调度机制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762000" y="1524000"/>
            <a:ext cx="5334000" cy="1397000"/>
          </a:xfrm>
          <a:prstGeom prst="roundRect">
            <a:avLst>
              <a:gd name="adj" fmla="val 0"/>
            </a:avLst>
          </a:prstGeom>
          <a:solidFill>
            <a:srgbClr val="F3F4F6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</a:p>
        </p:txBody>
      </p:sp>
      <p:sp>
        <p:nvSpPr>
          <p:cNvPr id="4" name="AutoShape 4"/>
          <p:cNvSpPr/>
          <p:nvPr/>
        </p:nvSpPr>
        <p:spPr>
          <a:xfrm>
            <a:off x="762000" y="1524000"/>
            <a:ext cx="50800" cy="1397000"/>
          </a:xfrm>
          <a:prstGeom prst="roundRect">
            <a:avLst>
              <a:gd name="adj" fmla="val 0"/>
            </a:avLst>
          </a:prstGeom>
          <a:solidFill>
            <a:srgbClr val="1F2937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</a:p>
        </p:txBody>
      </p:sp>
      <p:sp>
        <p:nvSpPr>
          <p:cNvPr id="5" name="AutoShape 5"/>
          <p:cNvSpPr/>
          <p:nvPr/>
        </p:nvSpPr>
        <p:spPr>
          <a:xfrm>
            <a:off x="952500" y="1587500"/>
            <a:ext cx="4826000" cy="355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Driver Program</a:t>
            </a:r>
            <a:endParaRPr lang="en-US" sz="1100"/>
          </a:p>
        </p:txBody>
      </p:sp>
      <p:sp>
        <p:nvSpPr>
          <p:cNvPr id="6" name="AutoShape 6"/>
          <p:cNvSpPr/>
          <p:nvPr/>
        </p:nvSpPr>
        <p:spPr>
          <a:xfrm>
            <a:off x="952500" y="2006600"/>
            <a:ext cx="4953000" cy="825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000"/>
              </a:lnSpc>
              <a:defRPr/>
            </a:pPr>
            <a:r>
              <a:rPr lang="zh-CN" altLang="en-US" sz="13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运行用户主程序，创建 </a:t>
            </a:r>
            <a:r>
              <a:rPr lang="en-US" altLang="zh-CN" sz="13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SparkContext，</a:t>
            </a:r>
            <a:r>
              <a:rPr lang="zh-CN" altLang="en-US" sz="13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负责任务拆分与调度</a:t>
            </a:r>
            <a:r>
              <a:rPr lang="en-US" sz="13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。</a:t>
            </a:r>
            <a:endParaRPr lang="en-US" sz="1100"/>
          </a:p>
        </p:txBody>
      </p:sp>
      <p:sp>
        <p:nvSpPr>
          <p:cNvPr id="7" name="AutoShape 7"/>
          <p:cNvSpPr/>
          <p:nvPr/>
        </p:nvSpPr>
        <p:spPr>
          <a:xfrm>
            <a:off x="762000" y="3048000"/>
            <a:ext cx="5334000" cy="1397000"/>
          </a:xfrm>
          <a:prstGeom prst="roundRect">
            <a:avLst>
              <a:gd name="adj" fmla="val 0"/>
            </a:avLst>
          </a:prstGeom>
          <a:solidFill>
            <a:srgbClr val="F3F4F6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</a:p>
        </p:txBody>
      </p:sp>
      <p:sp>
        <p:nvSpPr>
          <p:cNvPr id="8" name="AutoShape 8"/>
          <p:cNvSpPr/>
          <p:nvPr/>
        </p:nvSpPr>
        <p:spPr>
          <a:xfrm>
            <a:off x="762000" y="3048000"/>
            <a:ext cx="50800" cy="1397000"/>
          </a:xfrm>
          <a:prstGeom prst="roundRect">
            <a:avLst>
              <a:gd name="adj" fmla="val 0"/>
            </a:avLst>
          </a:prstGeom>
          <a:solidFill>
            <a:srgbClr val="1F2937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</a:p>
        </p:txBody>
      </p:sp>
      <p:sp>
        <p:nvSpPr>
          <p:cNvPr id="9" name="AutoShape 9"/>
          <p:cNvSpPr/>
          <p:nvPr/>
        </p:nvSpPr>
        <p:spPr>
          <a:xfrm>
            <a:off x="952500" y="3111500"/>
            <a:ext cx="4826000" cy="355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Cluster Manager</a:t>
            </a:r>
            <a:endParaRPr lang="en-US" sz="1100"/>
          </a:p>
        </p:txBody>
      </p:sp>
      <p:sp>
        <p:nvSpPr>
          <p:cNvPr id="10" name="AutoShape 10"/>
          <p:cNvSpPr/>
          <p:nvPr/>
        </p:nvSpPr>
        <p:spPr>
          <a:xfrm>
            <a:off x="952500" y="3530600"/>
            <a:ext cx="4953000" cy="825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000"/>
              </a:lnSpc>
              <a:defRPr/>
            </a:pPr>
            <a:r>
              <a:rPr lang="zh-CN" altLang="en-US" sz="13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集群资源管理器（</a:t>
            </a:r>
            <a:r>
              <a:rPr lang="en-US" altLang="zh-CN" sz="13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Standalone / YARN / Mesos / K8s）</a:t>
            </a:r>
            <a:r>
              <a:rPr lang="en-US" sz="13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。</a:t>
            </a:r>
            <a:endParaRPr lang="en-US" sz="1100"/>
          </a:p>
        </p:txBody>
      </p:sp>
      <p:sp>
        <p:nvSpPr>
          <p:cNvPr id="11" name="AutoShape 11"/>
          <p:cNvSpPr/>
          <p:nvPr/>
        </p:nvSpPr>
        <p:spPr>
          <a:xfrm>
            <a:off x="762000" y="4572000"/>
            <a:ext cx="5334000" cy="1397000"/>
          </a:xfrm>
          <a:prstGeom prst="roundRect">
            <a:avLst>
              <a:gd name="adj" fmla="val 0"/>
            </a:avLst>
          </a:prstGeom>
          <a:solidFill>
            <a:srgbClr val="F3F4F6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</a:p>
        </p:txBody>
      </p:sp>
      <p:sp>
        <p:nvSpPr>
          <p:cNvPr id="12" name="AutoShape 12"/>
          <p:cNvSpPr/>
          <p:nvPr/>
        </p:nvSpPr>
        <p:spPr>
          <a:xfrm>
            <a:off x="762000" y="4572000"/>
            <a:ext cx="50800" cy="1397000"/>
          </a:xfrm>
          <a:prstGeom prst="roundRect">
            <a:avLst>
              <a:gd name="adj" fmla="val 0"/>
            </a:avLst>
          </a:prstGeom>
          <a:solidFill>
            <a:srgbClr val="1F2937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</a:p>
        </p:txBody>
      </p:sp>
      <p:sp>
        <p:nvSpPr>
          <p:cNvPr id="13" name="AutoShape 13"/>
          <p:cNvSpPr/>
          <p:nvPr/>
        </p:nvSpPr>
        <p:spPr>
          <a:xfrm>
            <a:off x="952500" y="4635500"/>
            <a:ext cx="4826000" cy="355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Executor</a:t>
            </a:r>
            <a:endParaRPr lang="en-US" sz="1100"/>
          </a:p>
        </p:txBody>
      </p:sp>
      <p:sp>
        <p:nvSpPr>
          <p:cNvPr id="14" name="AutoShape 14"/>
          <p:cNvSpPr/>
          <p:nvPr/>
        </p:nvSpPr>
        <p:spPr>
          <a:xfrm>
            <a:off x="952500" y="5054600"/>
            <a:ext cx="4953000" cy="825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000"/>
              </a:lnSpc>
              <a:defRPr/>
            </a:pPr>
            <a:r>
              <a:rPr lang="zh-CN" altLang="en-US" sz="13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运行在 </a:t>
            </a:r>
            <a:r>
              <a:rPr lang="en-US" altLang="zh-CN" sz="13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Worker </a:t>
            </a:r>
            <a:r>
              <a:rPr lang="zh-CN" altLang="en-US" sz="13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节点上的进程，执行具体 </a:t>
            </a:r>
            <a:r>
              <a:rPr lang="en-US" altLang="zh-CN" sz="13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Task，</a:t>
            </a:r>
            <a:r>
              <a:rPr lang="zh-CN" altLang="en-US" sz="13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管理本地缓存</a:t>
            </a:r>
            <a:r>
              <a:rPr lang="en-US" sz="13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。</a:t>
            </a:r>
            <a:endParaRPr lang="en-US" sz="1100"/>
          </a:p>
        </p:txBody>
      </p:sp>
      <p:sp>
        <p:nvSpPr>
          <p:cNvPr id="16" name="AutoShape 16"/>
          <p:cNvSpPr/>
          <p:nvPr/>
        </p:nvSpPr>
        <p:spPr>
          <a:xfrm>
            <a:off x="6390005" y="1524000"/>
            <a:ext cx="5334000" cy="4445000"/>
          </a:xfrm>
          <a:prstGeom prst="roundRect">
            <a:avLst>
              <a:gd name="adj" fmla="val 0"/>
            </a:avLst>
          </a:prstGeom>
          <a:solidFill>
            <a:srgbClr val="F9FAFB">
              <a:alpha val="100000"/>
            </a:srgbClr>
          </a:solid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r>
              <a:rPr lang="en-US" altLang="zh-CN">
                <a:sym typeface="+mn-ea"/>
              </a:rPr>
              <a:t>Spark Application  </a:t>
            </a:r>
            <a:endParaRPr lang="en-US" altLang="zh-CN">
              <a:sym typeface="+mn-ea"/>
            </a:endParaRPr>
          </a:p>
        </p:txBody>
      </p:sp>
      <p:sp>
        <p:nvSpPr>
          <p:cNvPr id="17" name="AutoShape 17"/>
          <p:cNvSpPr/>
          <p:nvPr/>
        </p:nvSpPr>
        <p:spPr>
          <a:xfrm>
            <a:off x="6644005" y="2020570"/>
            <a:ext cx="4953000" cy="889000"/>
          </a:xfrm>
          <a:prstGeom prst="roundRect">
            <a:avLst>
              <a:gd name="adj" fmla="val 0"/>
            </a:avLst>
          </a:prstGeom>
          <a:gradFill>
            <a:gsLst>
              <a:gs pos="50000">
                <a:schemeClr val="accent3"/>
              </a:gs>
              <a:gs pos="0">
                <a:schemeClr val="accent3">
                  <a:lumMod val="25000"/>
                  <a:lumOff val="75000"/>
                </a:schemeClr>
              </a:gs>
              <a:gs pos="100000">
                <a:schemeClr val="accent3">
                  <a:lumMod val="85000"/>
                </a:schemeClr>
              </a:gs>
            </a:gsLst>
            <a:lin ang="5400000" scaled="1"/>
          </a:gra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</a:p>
        </p:txBody>
      </p:sp>
      <p:sp>
        <p:nvSpPr>
          <p:cNvPr id="18" name="AutoShape 18"/>
          <p:cNvSpPr/>
          <p:nvPr/>
        </p:nvSpPr>
        <p:spPr>
          <a:xfrm>
            <a:off x="6707505" y="2070100"/>
            <a:ext cx="4699000" cy="279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Driver</a:t>
            </a:r>
            <a:endParaRPr lang="en-US" sz="1100"/>
          </a:p>
        </p:txBody>
      </p:sp>
      <p:sp>
        <p:nvSpPr>
          <p:cNvPr id="19" name="AutoShape 19"/>
          <p:cNvSpPr/>
          <p:nvPr/>
        </p:nvSpPr>
        <p:spPr>
          <a:xfrm>
            <a:off x="6707505" y="2413000"/>
            <a:ext cx="4699000" cy="444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zh-CN" altLang="en-US" sz="1200" b="0" i="0" u="none" strike="noStrike">
                <a:solidFill>
                  <a:srgbClr val="CBD5E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（</a:t>
            </a:r>
            <a:r>
              <a:rPr lang="en-US" sz="1200" b="0" i="0" u="none" strike="noStrike">
                <a:solidFill>
                  <a:srgbClr val="CBD5E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组件：SparkContext </a:t>
            </a:r>
            <a:r>
              <a:rPr lang="zh-CN" altLang="en-US" sz="1200" b="0" i="0" u="none" strike="noStrike">
                <a:solidFill>
                  <a:srgbClr val="CBD5E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，</a:t>
            </a:r>
            <a:r>
              <a:rPr lang="en-US" sz="1200" b="0" i="0" u="none" strike="noStrike">
                <a:solidFill>
                  <a:srgbClr val="CBD5E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DAGScheduler </a:t>
            </a:r>
            <a:r>
              <a:rPr lang="zh-CN" altLang="en-US" sz="1200" b="0" i="0" u="none" strike="noStrike">
                <a:solidFill>
                  <a:srgbClr val="CBD5E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，</a:t>
            </a:r>
            <a:r>
              <a:rPr lang="en-US" sz="1200" b="0" i="0" u="none" strike="noStrike">
                <a:solidFill>
                  <a:srgbClr val="CBD5E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TaskScheduler</a:t>
            </a:r>
            <a:r>
              <a:rPr lang="zh-CN" altLang="en-US" sz="1200" b="0" i="0" u="none" strike="noStrike">
                <a:solidFill>
                  <a:srgbClr val="CBD5E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）</a:t>
            </a:r>
            <a:endParaRPr lang="zh-CN" altLang="en-US" sz="1200" b="0" i="0" u="none" strike="noStrike">
              <a:solidFill>
                <a:srgbClr val="CBD5E1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20" name="AutoShape 20"/>
          <p:cNvSpPr/>
          <p:nvPr/>
        </p:nvSpPr>
        <p:spPr>
          <a:xfrm>
            <a:off x="6580505" y="3429000"/>
            <a:ext cx="4953000" cy="698500"/>
          </a:xfrm>
          <a:prstGeom prst="roundRect">
            <a:avLst>
              <a:gd name="adj" fmla="val 0"/>
            </a:avLst>
          </a:prstGeom>
          <a:solidFill>
            <a:srgbClr val="F3F4F6">
              <a:alpha val="100000"/>
            </a:srgbClr>
          </a:solidFill>
          <a:ln w="12700" cap="flat" cmpd="sng">
            <a:solidFill>
              <a:srgbClr val="D1D5DB">
                <a:alpha val="100000"/>
              </a:srgbClr>
            </a:solidFill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</a:p>
        </p:txBody>
      </p:sp>
      <p:sp>
        <p:nvSpPr>
          <p:cNvPr id="21" name="AutoShape 21"/>
          <p:cNvSpPr/>
          <p:nvPr/>
        </p:nvSpPr>
        <p:spPr>
          <a:xfrm>
            <a:off x="6707505" y="3492500"/>
            <a:ext cx="4699000" cy="571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Cluster Manager</a:t>
            </a:r>
            <a:endParaRPr lang="en-US" sz="1300" b="1" i="0" u="none" strike="noStrike">
              <a:solidFill>
                <a:srgbClr val="1F2937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  <a:p>
            <a:pPr marL="0" indent="0" algn="l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 (Standalone Master)</a:t>
            </a:r>
            <a:endParaRPr lang="en-US" sz="1100"/>
          </a:p>
        </p:txBody>
      </p:sp>
      <p:sp>
        <p:nvSpPr>
          <p:cNvPr id="22" name="AutoShape 22"/>
          <p:cNvSpPr/>
          <p:nvPr/>
        </p:nvSpPr>
        <p:spPr>
          <a:xfrm>
            <a:off x="6580505" y="4889500"/>
            <a:ext cx="2413000" cy="1079500"/>
          </a:xfrm>
          <a:prstGeom prst="roundRect">
            <a:avLst>
              <a:gd name="adj" fmla="val 0"/>
            </a:avLst>
          </a:prstGeom>
          <a:solidFill>
            <a:srgbClr val="F3F4F6">
              <a:alpha val="100000"/>
            </a:srgbClr>
          </a:solidFill>
          <a:ln w="12700" cap="flat" cmpd="sng">
            <a:solidFill>
              <a:srgbClr val="D1D5DB">
                <a:alpha val="100000"/>
              </a:srgbClr>
            </a:solidFill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</a:p>
        </p:txBody>
      </p:sp>
      <p:sp>
        <p:nvSpPr>
          <p:cNvPr id="23" name="AutoShape 23"/>
          <p:cNvSpPr/>
          <p:nvPr/>
        </p:nvSpPr>
        <p:spPr>
          <a:xfrm>
            <a:off x="6644005" y="4927600"/>
            <a:ext cx="2286000" cy="279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Executor (Worker 1)</a:t>
            </a:r>
            <a:endParaRPr lang="en-US" sz="1100"/>
          </a:p>
        </p:txBody>
      </p:sp>
      <p:sp>
        <p:nvSpPr>
          <p:cNvPr id="24" name="AutoShape 24"/>
          <p:cNvSpPr/>
          <p:nvPr/>
        </p:nvSpPr>
        <p:spPr>
          <a:xfrm>
            <a:off x="6644005" y="5270500"/>
            <a:ext cx="2286000" cy="571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1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并行执行 Task 任务</a:t>
            </a:r>
            <a:br>
              <a:rPr lang="en-US" sz="11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1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维护数据 Cache 缓存</a:t>
            </a:r>
            <a:endParaRPr lang="en-US" sz="1100"/>
          </a:p>
        </p:txBody>
      </p:sp>
      <p:sp>
        <p:nvSpPr>
          <p:cNvPr id="25" name="AutoShape 25"/>
          <p:cNvSpPr/>
          <p:nvPr/>
        </p:nvSpPr>
        <p:spPr>
          <a:xfrm>
            <a:off x="9120505" y="4889500"/>
            <a:ext cx="2413000" cy="1079500"/>
          </a:xfrm>
          <a:prstGeom prst="roundRect">
            <a:avLst>
              <a:gd name="adj" fmla="val 0"/>
            </a:avLst>
          </a:prstGeom>
          <a:solidFill>
            <a:srgbClr val="F3F4F6">
              <a:alpha val="100000"/>
            </a:srgbClr>
          </a:solidFill>
          <a:ln w="12700" cap="flat" cmpd="sng">
            <a:solidFill>
              <a:srgbClr val="D1D5DB">
                <a:alpha val="100000"/>
              </a:srgbClr>
            </a:solidFill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</a:p>
        </p:txBody>
      </p:sp>
      <p:sp>
        <p:nvSpPr>
          <p:cNvPr id="26" name="AutoShape 26"/>
          <p:cNvSpPr/>
          <p:nvPr/>
        </p:nvSpPr>
        <p:spPr>
          <a:xfrm>
            <a:off x="9184005" y="4927600"/>
            <a:ext cx="2286000" cy="279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Executor (Worker 2)</a:t>
            </a:r>
            <a:endParaRPr lang="en-US" sz="1100"/>
          </a:p>
        </p:txBody>
      </p:sp>
      <p:sp>
        <p:nvSpPr>
          <p:cNvPr id="27" name="AutoShape 27"/>
          <p:cNvSpPr/>
          <p:nvPr/>
        </p:nvSpPr>
        <p:spPr>
          <a:xfrm>
            <a:off x="9184005" y="5270500"/>
            <a:ext cx="2286000" cy="571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100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并行执行 Task 任务</a:t>
            </a:r>
            <a:br>
              <a:rPr lang="en-US" sz="1100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</a:br>
            <a:r>
              <a:rPr lang="en-US" sz="1100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维护数据 Cache 缓存</a:t>
            </a:r>
            <a:endParaRPr lang="en-US" sz="1100"/>
          </a:p>
        </p:txBody>
      </p:sp>
      <p:sp>
        <p:nvSpPr>
          <p:cNvPr id="36" name="文本框 35"/>
          <p:cNvSpPr txBox="1"/>
          <p:nvPr/>
        </p:nvSpPr>
        <p:spPr>
          <a:xfrm>
            <a:off x="9756140" y="1587500"/>
            <a:ext cx="314896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Spark Application  </a:t>
            </a:r>
            <a:endParaRPr lang="en-US" altLang="zh-CN"/>
          </a:p>
        </p:txBody>
      </p:sp>
      <p:pic>
        <p:nvPicPr>
          <p:cNvPr id="37" name="图片 36" descr="箭头-平尾-向下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930005" y="2901950"/>
            <a:ext cx="190500" cy="546100"/>
          </a:xfrm>
          <a:prstGeom prst="rect">
            <a:avLst/>
          </a:prstGeom>
        </p:spPr>
      </p:pic>
      <p:pic>
        <p:nvPicPr>
          <p:cNvPr id="38" name="图片 37" descr="箭头-平尾-向下"/>
          <p:cNvPicPr>
            <a:picLocks noChangeAspect="1"/>
          </p:cNvPicPr>
          <p:nvPr>
            <p:custDataLst>
              <p:tags r:id="rId4"/>
            </p:custDataLst>
          </p:nvPr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750175" y="4108450"/>
            <a:ext cx="208915" cy="791210"/>
          </a:xfrm>
          <a:prstGeom prst="rect">
            <a:avLst/>
          </a:prstGeom>
        </p:spPr>
      </p:pic>
      <p:pic>
        <p:nvPicPr>
          <p:cNvPr id="39" name="图片 38" descr="箭头-平尾-向下"/>
          <p:cNvPicPr>
            <a:picLocks noChangeAspect="1"/>
          </p:cNvPicPr>
          <p:nvPr>
            <p:custDataLst>
              <p:tags r:id="rId5"/>
            </p:custDataLst>
          </p:nvPr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057765" y="4081145"/>
            <a:ext cx="208915" cy="791210"/>
          </a:xfrm>
          <a:prstGeom prst="rect">
            <a:avLst/>
          </a:prstGeom>
        </p:spPr>
      </p:pic>
      <p:sp>
        <p:nvSpPr>
          <p:cNvPr id="40" name="文本框 39"/>
          <p:cNvSpPr txBox="1"/>
          <p:nvPr/>
        </p:nvSpPr>
        <p:spPr>
          <a:xfrm>
            <a:off x="10266680" y="4354830"/>
            <a:ext cx="176212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分配 </a:t>
            </a:r>
            <a:r>
              <a:rPr lang="en-US" altLang="zh-CN"/>
              <a:t>Executor</a:t>
            </a:r>
            <a:endParaRPr lang="en-US" altLang="zh-CN"/>
          </a:p>
        </p:txBody>
      </p:sp>
      <p:sp>
        <p:nvSpPr>
          <p:cNvPr id="41" name="文本框 40"/>
          <p:cNvSpPr txBox="1"/>
          <p:nvPr/>
        </p:nvSpPr>
        <p:spPr>
          <a:xfrm>
            <a:off x="9167495" y="3035935"/>
            <a:ext cx="949960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申请资源</a:t>
            </a:r>
            <a:endParaRPr lang="zh-CN" altLang="en-US"/>
          </a:p>
        </p:txBody>
      </p:sp>
      <p:sp>
        <p:nvSpPr>
          <p:cNvPr id="42" name="文本框 41"/>
          <p:cNvSpPr txBox="1"/>
          <p:nvPr/>
        </p:nvSpPr>
        <p:spPr>
          <a:xfrm>
            <a:off x="828675" y="1019810"/>
            <a:ext cx="3149600" cy="55308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l">
              <a:lnSpc>
                <a:spcPct val="125000"/>
              </a:lnSpc>
              <a:buSzTx/>
              <a:defRPr/>
            </a:pPr>
            <a:r>
              <a:rPr lang="en-US" sz="2400" b="1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Spark运行架构</a:t>
            </a:r>
            <a:endParaRPr lang="en-US" sz="2400" b="1">
              <a:solidFill>
                <a:srgbClr val="1F2937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762000" y="635000"/>
            <a:ext cx="10795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algn="l">
              <a:lnSpc>
                <a:spcPct val="125000"/>
              </a:lnSpc>
              <a:buSzTx/>
              <a:defRPr/>
            </a:pPr>
            <a:r>
              <a:rPr lang="en-US" sz="24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任务调度机制</a:t>
            </a:r>
            <a:endParaRPr lang="en-US" sz="2400" b="1">
              <a:solidFill>
                <a:srgbClr val="1F2937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</a:endParaRPr>
          </a:p>
        </p:txBody>
      </p:sp>
      <p:sp>
        <p:nvSpPr>
          <p:cNvPr id="3" name="AutoShape 3"/>
          <p:cNvSpPr/>
          <p:nvPr/>
        </p:nvSpPr>
        <p:spPr>
          <a:xfrm>
            <a:off x="762000" y="1524000"/>
            <a:ext cx="2730500" cy="2222500"/>
          </a:xfrm>
          <a:prstGeom prst="roundRect">
            <a:avLst>
              <a:gd name="adj" fmla="val 0"/>
            </a:avLst>
          </a:prstGeom>
          <a:solidFill>
            <a:srgbClr val="F3F4F6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</a:p>
        </p:txBody>
      </p:sp>
      <p:sp>
        <p:nvSpPr>
          <p:cNvPr id="4" name="AutoShape 4"/>
          <p:cNvSpPr/>
          <p:nvPr/>
        </p:nvSpPr>
        <p:spPr>
          <a:xfrm>
            <a:off x="762000" y="1524000"/>
            <a:ext cx="2730500" cy="50800"/>
          </a:xfrm>
          <a:prstGeom prst="roundRect">
            <a:avLst>
              <a:gd name="adj" fmla="val 0"/>
            </a:avLst>
          </a:prstGeom>
          <a:solidFill>
            <a:srgbClr val="1F2937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</a:p>
        </p:txBody>
      </p:sp>
      <p:sp>
        <p:nvSpPr>
          <p:cNvPr id="5" name="AutoShape 5"/>
          <p:cNvSpPr/>
          <p:nvPr/>
        </p:nvSpPr>
        <p:spPr>
          <a:xfrm>
            <a:off x="889000" y="1676400"/>
            <a:ext cx="24765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Application</a:t>
            </a:r>
            <a:endParaRPr lang="en-US" sz="1100"/>
          </a:p>
        </p:txBody>
      </p:sp>
      <p:sp>
        <p:nvSpPr>
          <p:cNvPr id="6" name="AutoShape 6"/>
          <p:cNvSpPr/>
          <p:nvPr/>
        </p:nvSpPr>
        <p:spPr>
          <a:xfrm>
            <a:off x="889000" y="2159000"/>
            <a:ext cx="2476500" cy="1397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000"/>
              </a:lnSpc>
              <a:defRPr/>
            </a:pPr>
            <a:r>
              <a:rPr lang="zh-CN" altLang="en-US" sz="12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一个 </a:t>
            </a:r>
            <a:r>
              <a:rPr lang="en-US" altLang="zh-CN" sz="12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SparkContext </a:t>
            </a:r>
            <a:r>
              <a:rPr lang="zh-CN" altLang="en-US" sz="12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对应一个 </a:t>
            </a:r>
            <a:r>
              <a:rPr lang="en-US" altLang="zh-CN" sz="12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Application</a:t>
            </a:r>
            <a:r>
              <a:rPr lang="en-US" sz="12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。</a:t>
            </a:r>
            <a:endParaRPr lang="en-US" sz="1100"/>
          </a:p>
        </p:txBody>
      </p:sp>
      <p:sp>
        <p:nvSpPr>
          <p:cNvPr id="7" name="AutoShape 7"/>
          <p:cNvSpPr/>
          <p:nvPr/>
        </p:nvSpPr>
        <p:spPr>
          <a:xfrm>
            <a:off x="3619500" y="1524000"/>
            <a:ext cx="2730500" cy="2222500"/>
          </a:xfrm>
          <a:prstGeom prst="roundRect">
            <a:avLst>
              <a:gd name="adj" fmla="val 0"/>
            </a:avLst>
          </a:prstGeom>
          <a:solidFill>
            <a:srgbClr val="F3F4F6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</a:p>
        </p:txBody>
      </p:sp>
      <p:sp>
        <p:nvSpPr>
          <p:cNvPr id="8" name="AutoShape 8"/>
          <p:cNvSpPr/>
          <p:nvPr/>
        </p:nvSpPr>
        <p:spPr>
          <a:xfrm>
            <a:off x="3619500" y="1524000"/>
            <a:ext cx="2730500" cy="50800"/>
          </a:xfrm>
          <a:prstGeom prst="roundRect">
            <a:avLst>
              <a:gd name="adj" fmla="val 0"/>
            </a:avLst>
          </a:prstGeom>
          <a:solidFill>
            <a:srgbClr val="1F2937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</a:p>
        </p:txBody>
      </p:sp>
      <p:sp>
        <p:nvSpPr>
          <p:cNvPr id="9" name="AutoShape 9"/>
          <p:cNvSpPr/>
          <p:nvPr/>
        </p:nvSpPr>
        <p:spPr>
          <a:xfrm>
            <a:off x="3746500" y="1676400"/>
            <a:ext cx="24765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Job</a:t>
            </a:r>
            <a:endParaRPr lang="en-US" sz="1100"/>
          </a:p>
        </p:txBody>
      </p:sp>
      <p:sp>
        <p:nvSpPr>
          <p:cNvPr id="10" name="AutoShape 10"/>
          <p:cNvSpPr/>
          <p:nvPr/>
        </p:nvSpPr>
        <p:spPr>
          <a:xfrm>
            <a:off x="3746500" y="2159000"/>
            <a:ext cx="2476500" cy="1397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000"/>
              </a:lnSpc>
              <a:defRPr/>
            </a:pPr>
            <a:r>
              <a:rPr lang="zh-CN" altLang="en-US" sz="12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每次 </a:t>
            </a:r>
            <a:r>
              <a:rPr lang="en-US" altLang="zh-CN" sz="12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Action </a:t>
            </a:r>
            <a:r>
              <a:rPr lang="zh-CN" altLang="en-US" sz="12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触发一个 </a:t>
            </a:r>
            <a:r>
              <a:rPr lang="en-US" altLang="zh-CN" sz="12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Job</a:t>
            </a:r>
            <a:r>
              <a:rPr lang="en-US" sz="12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。</a:t>
            </a:r>
            <a:endParaRPr lang="en-US" sz="1100"/>
          </a:p>
        </p:txBody>
      </p:sp>
      <p:sp>
        <p:nvSpPr>
          <p:cNvPr id="11" name="AutoShape 11"/>
          <p:cNvSpPr/>
          <p:nvPr/>
        </p:nvSpPr>
        <p:spPr>
          <a:xfrm>
            <a:off x="762000" y="3937000"/>
            <a:ext cx="2730500" cy="2222500"/>
          </a:xfrm>
          <a:prstGeom prst="roundRect">
            <a:avLst>
              <a:gd name="adj" fmla="val 0"/>
            </a:avLst>
          </a:prstGeom>
          <a:solidFill>
            <a:srgbClr val="F3F4F6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</a:p>
        </p:txBody>
      </p:sp>
      <p:sp>
        <p:nvSpPr>
          <p:cNvPr id="12" name="AutoShape 12"/>
          <p:cNvSpPr/>
          <p:nvPr/>
        </p:nvSpPr>
        <p:spPr>
          <a:xfrm>
            <a:off x="762000" y="3937000"/>
            <a:ext cx="2730500" cy="50800"/>
          </a:xfrm>
          <a:prstGeom prst="roundRect">
            <a:avLst>
              <a:gd name="adj" fmla="val 0"/>
            </a:avLst>
          </a:prstGeom>
          <a:solidFill>
            <a:srgbClr val="1F2937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</a:p>
        </p:txBody>
      </p:sp>
      <p:sp>
        <p:nvSpPr>
          <p:cNvPr id="13" name="AutoShape 13"/>
          <p:cNvSpPr/>
          <p:nvPr/>
        </p:nvSpPr>
        <p:spPr>
          <a:xfrm>
            <a:off x="889000" y="4089400"/>
            <a:ext cx="24765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Stage</a:t>
            </a:r>
            <a:endParaRPr lang="en-US" sz="1100"/>
          </a:p>
        </p:txBody>
      </p:sp>
      <p:sp>
        <p:nvSpPr>
          <p:cNvPr id="14" name="AutoShape 14"/>
          <p:cNvSpPr/>
          <p:nvPr/>
        </p:nvSpPr>
        <p:spPr>
          <a:xfrm>
            <a:off x="889000" y="4572000"/>
            <a:ext cx="2476500" cy="1397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000"/>
              </a:lnSpc>
              <a:defRPr/>
            </a:pPr>
            <a:r>
              <a:rPr lang="zh-CN" altLang="en-US" sz="12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以 </a:t>
            </a:r>
            <a:r>
              <a:rPr lang="en-US" altLang="zh-CN" sz="12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Shuffle </a:t>
            </a:r>
            <a:r>
              <a:rPr lang="zh-CN" altLang="en-US" sz="12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为边界，将 </a:t>
            </a:r>
            <a:r>
              <a:rPr lang="en-US" altLang="zh-CN" sz="12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Job </a:t>
            </a:r>
            <a:r>
              <a:rPr lang="zh-CN" altLang="en-US" sz="12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切分为多个 </a:t>
            </a:r>
            <a:r>
              <a:rPr lang="en-US" altLang="zh-CN" sz="12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Stage（</a:t>
            </a:r>
            <a:r>
              <a:rPr lang="zh-CN" altLang="en-US" sz="12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宽依赖 </a:t>
            </a:r>
            <a:r>
              <a:rPr lang="en-US" altLang="zh-CN" sz="12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vs </a:t>
            </a:r>
            <a:r>
              <a:rPr lang="zh-CN" altLang="en-US" sz="12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窄依赖）</a:t>
            </a:r>
            <a:r>
              <a:rPr lang="en-US" sz="12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。</a:t>
            </a:r>
            <a:endParaRPr lang="en-US" sz="1100"/>
          </a:p>
        </p:txBody>
      </p:sp>
      <p:sp>
        <p:nvSpPr>
          <p:cNvPr id="15" name="AutoShape 15"/>
          <p:cNvSpPr/>
          <p:nvPr/>
        </p:nvSpPr>
        <p:spPr>
          <a:xfrm>
            <a:off x="3619500" y="3937000"/>
            <a:ext cx="2730500" cy="2222500"/>
          </a:xfrm>
          <a:prstGeom prst="roundRect">
            <a:avLst>
              <a:gd name="adj" fmla="val 0"/>
            </a:avLst>
          </a:prstGeom>
          <a:solidFill>
            <a:srgbClr val="F3F4F6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</a:p>
        </p:txBody>
      </p:sp>
      <p:sp>
        <p:nvSpPr>
          <p:cNvPr id="16" name="AutoShape 16"/>
          <p:cNvSpPr/>
          <p:nvPr/>
        </p:nvSpPr>
        <p:spPr>
          <a:xfrm>
            <a:off x="3619500" y="3937000"/>
            <a:ext cx="2730500" cy="50800"/>
          </a:xfrm>
          <a:prstGeom prst="roundRect">
            <a:avLst>
              <a:gd name="adj" fmla="val 0"/>
            </a:avLst>
          </a:prstGeom>
          <a:solidFill>
            <a:srgbClr val="1F2937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</a:p>
        </p:txBody>
      </p:sp>
      <p:sp>
        <p:nvSpPr>
          <p:cNvPr id="17" name="AutoShape 17"/>
          <p:cNvSpPr/>
          <p:nvPr/>
        </p:nvSpPr>
        <p:spPr>
          <a:xfrm>
            <a:off x="3746500" y="4089400"/>
            <a:ext cx="24765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Task</a:t>
            </a:r>
            <a:endParaRPr lang="en-US" sz="1100"/>
          </a:p>
        </p:txBody>
      </p:sp>
      <p:sp>
        <p:nvSpPr>
          <p:cNvPr id="18" name="AutoShape 18"/>
          <p:cNvSpPr/>
          <p:nvPr/>
        </p:nvSpPr>
        <p:spPr>
          <a:xfrm>
            <a:off x="3746500" y="4572000"/>
            <a:ext cx="2476500" cy="1397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000"/>
              </a:lnSpc>
              <a:defRPr/>
            </a:pPr>
            <a:r>
              <a:rPr lang="zh-CN" altLang="en-US" sz="12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每个 </a:t>
            </a:r>
            <a:r>
              <a:rPr lang="en-US" altLang="zh-CN" sz="12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Stage </a:t>
            </a:r>
            <a:r>
              <a:rPr lang="zh-CN" altLang="en-US" sz="12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中每个 </a:t>
            </a:r>
            <a:r>
              <a:rPr lang="en-US" altLang="zh-CN" sz="12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Partition </a:t>
            </a:r>
            <a:r>
              <a:rPr lang="zh-CN" altLang="en-US" sz="12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对应一个 </a:t>
            </a:r>
            <a:r>
              <a:rPr lang="en-US" altLang="zh-CN" sz="12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Task，</a:t>
            </a:r>
            <a:r>
              <a:rPr lang="zh-CN" altLang="en-US" sz="12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分发到 </a:t>
            </a:r>
            <a:r>
              <a:rPr lang="en-US" altLang="zh-CN" sz="12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Executor </a:t>
            </a:r>
            <a:r>
              <a:rPr lang="zh-CN" altLang="en-US" sz="12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并行执行</a:t>
            </a:r>
            <a:r>
              <a:rPr lang="en-US" sz="12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。</a:t>
            </a:r>
            <a:endParaRPr lang="en-US" sz="1100"/>
          </a:p>
        </p:txBody>
      </p:sp>
      <p:cxnSp>
        <p:nvCxnSpPr>
          <p:cNvPr id="19" name="Connector 19"/>
          <p:cNvCxnSpPr/>
          <p:nvPr/>
        </p:nvCxnSpPr>
        <p:spPr>
          <a:xfrm rot="5390708">
            <a:off x="4254491" y="3867167"/>
            <a:ext cx="4699017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D1D5DB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</p:cxnSp>
      <p:pic>
        <p:nvPicPr>
          <p:cNvPr id="39" name="图片 38" descr="任务调度机制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81165" y="1506220"/>
            <a:ext cx="4538980" cy="471678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762000" y="635000"/>
            <a:ext cx="10795000" cy="571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3200" b="1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04 容错与技术对比</a:t>
            </a:r>
            <a:endParaRPr lang="en-US" sz="1100"/>
          </a:p>
        </p:txBody>
      </p:sp>
      <p:sp>
        <p:nvSpPr>
          <p:cNvPr id="37" name="文本框 36"/>
          <p:cNvSpPr txBox="1"/>
          <p:nvPr/>
        </p:nvSpPr>
        <p:spPr>
          <a:xfrm>
            <a:off x="1055370" y="341630"/>
            <a:ext cx="4064000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endParaRPr lang="zh-CN" altLang="en-US"/>
          </a:p>
        </p:txBody>
      </p:sp>
      <p:graphicFrame>
        <p:nvGraphicFramePr>
          <p:cNvPr id="39" name="表格 38"/>
          <p:cNvGraphicFramePr/>
          <p:nvPr>
            <p:custDataLst>
              <p:tags r:id="rId1"/>
            </p:custDataLst>
          </p:nvPr>
        </p:nvGraphicFramePr>
        <p:xfrm>
          <a:off x="762000" y="2286000"/>
          <a:ext cx="9599295" cy="30556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99765"/>
                <a:gridCol w="3199765"/>
                <a:gridCol w="3199765"/>
              </a:tblGrid>
              <a:tr h="509270">
                <a:tc>
                  <a:txBody>
                    <a:bodyPr/>
                    <a:p>
                      <a:r>
                        <a:rPr lang="zh-CN" altLang="en-US" sz="1800"/>
                        <a:t>特性</a:t>
                      </a:r>
                      <a:endParaRPr lang="zh-CN" altLang="en-US" sz="1800"/>
                    </a:p>
                  </a:txBody>
                  <a:tcPr marL="0" marR="0" marT="0" marB="0" anchor="ctr" anchorCtr="0"/>
                </a:tc>
                <a:tc>
                  <a:txBody>
                    <a:bodyPr/>
                    <a:p>
                      <a:r>
                        <a:rPr lang="en-US" altLang="zh-CN" sz="1800"/>
                        <a:t>Hadoop MapReduce</a:t>
                      </a:r>
                      <a:endParaRPr lang="en-US" altLang="zh-CN" sz="1800"/>
                    </a:p>
                  </a:txBody>
                  <a:tcPr marL="0" marR="0" marT="0" marB="0" anchor="ctr" anchorCtr="0"/>
                </a:tc>
                <a:tc>
                  <a:txBody>
                    <a:bodyPr/>
                    <a:p>
                      <a:r>
                        <a:rPr lang="en-US" altLang="zh-CN" sz="1800"/>
                        <a:t>Spark</a:t>
                      </a:r>
                      <a:endParaRPr lang="en-US" altLang="zh-CN" sz="1800"/>
                    </a:p>
                  </a:txBody>
                  <a:tcPr marL="0" marR="0" marT="0" marB="0" anchor="ctr" anchorCtr="0"/>
                </a:tc>
              </a:tr>
              <a:tr h="509270">
                <a:tc>
                  <a:txBody>
                    <a:bodyPr/>
                    <a:p>
                      <a:r>
                        <a:rPr lang="zh-CN" altLang="en-US" sz="1800"/>
                        <a:t>计算模型</a:t>
                      </a:r>
                      <a:endParaRPr lang="zh-CN" altLang="en-US" sz="1800"/>
                    </a:p>
                  </a:txBody>
                  <a:tcPr marL="0" marR="0" marT="0" marB="0" anchor="ctr" anchorCtr="0"/>
                </a:tc>
                <a:tc>
                  <a:txBody>
                    <a:bodyPr/>
                    <a:p>
                      <a:r>
                        <a:rPr lang="en-US" altLang="zh-CN" sz="1800"/>
                        <a:t>Map → Reduce </a:t>
                      </a:r>
                      <a:r>
                        <a:rPr lang="zh-CN" altLang="en-US" sz="1800"/>
                        <a:t>两阶段</a:t>
                      </a:r>
                      <a:endParaRPr lang="zh-CN" altLang="en-US" sz="1800"/>
                    </a:p>
                  </a:txBody>
                  <a:tcPr marL="0" marR="0" marT="0" marB="0" anchor="ctr" anchorCtr="0"/>
                </a:tc>
                <a:tc>
                  <a:txBody>
                    <a:bodyPr/>
                    <a:p>
                      <a:r>
                        <a:rPr lang="en-US" altLang="zh-CN" sz="1800"/>
                        <a:t>DAG </a:t>
                      </a:r>
                      <a:r>
                        <a:rPr lang="zh-CN" altLang="en-US" sz="1800"/>
                        <a:t>多阶段流水线</a:t>
                      </a:r>
                      <a:endParaRPr lang="zh-CN" altLang="en-US" sz="1800"/>
                    </a:p>
                  </a:txBody>
                  <a:tcPr marL="0" marR="0" marT="0" marB="0" anchor="ctr" anchorCtr="0"/>
                </a:tc>
              </a:tr>
              <a:tr h="509270">
                <a:tc>
                  <a:txBody>
                    <a:bodyPr/>
                    <a:p>
                      <a:r>
                        <a:rPr lang="zh-CN" altLang="en-US" sz="1800"/>
                        <a:t>中间结果</a:t>
                      </a:r>
                      <a:endParaRPr lang="zh-CN" altLang="en-US" sz="1800"/>
                    </a:p>
                  </a:txBody>
                  <a:tcPr marL="0" marR="0" marT="0" marB="0" anchor="ctr" anchorCtr="0"/>
                </a:tc>
                <a:tc>
                  <a:txBody>
                    <a:bodyPr/>
                    <a:p>
                      <a:r>
                        <a:rPr lang="zh-CN" altLang="en-US" sz="1800"/>
                        <a:t>写磁盘（</a:t>
                      </a:r>
                      <a:r>
                        <a:rPr lang="en-US" altLang="zh-CN" sz="1800"/>
                        <a:t>HDFS</a:t>
                      </a:r>
                      <a:r>
                        <a:rPr lang="zh-CN" altLang="en-US" sz="1800"/>
                        <a:t>）</a:t>
                      </a:r>
                      <a:endParaRPr lang="zh-CN" altLang="en-US" sz="1800"/>
                    </a:p>
                  </a:txBody>
                  <a:tcPr marL="0" marR="0" marT="0" marB="0" anchor="ctr" anchorCtr="0"/>
                </a:tc>
                <a:tc>
                  <a:txBody>
                    <a:bodyPr/>
                    <a:p>
                      <a:r>
                        <a:rPr lang="zh-CN" altLang="en-US" sz="1800"/>
                        <a:t>内存缓存（</a:t>
                      </a:r>
                      <a:r>
                        <a:rPr lang="en-US" altLang="zh-CN" sz="1800"/>
                        <a:t>RDD cache</a:t>
                      </a:r>
                      <a:r>
                        <a:rPr lang="zh-CN" altLang="en-US" sz="1800"/>
                        <a:t>）</a:t>
                      </a:r>
                      <a:endParaRPr lang="zh-CN" altLang="en-US" sz="1800"/>
                    </a:p>
                  </a:txBody>
                  <a:tcPr marL="0" marR="0" marT="0" marB="0" anchor="ctr" anchorCtr="0"/>
                </a:tc>
              </a:tr>
              <a:tr h="509270">
                <a:tc>
                  <a:txBody>
                    <a:bodyPr/>
                    <a:p>
                      <a:r>
                        <a:rPr lang="zh-CN" altLang="en-US" sz="1800"/>
                        <a:t>迭代效率</a:t>
                      </a:r>
                      <a:endParaRPr lang="zh-CN" altLang="en-US" sz="1800"/>
                    </a:p>
                  </a:txBody>
                  <a:tcPr marL="0" marR="0" marT="0" marB="0" anchor="ctr" anchorCtr="0"/>
                </a:tc>
                <a:tc>
                  <a:txBody>
                    <a:bodyPr/>
                    <a:p>
                      <a:r>
                        <a:rPr lang="zh-CN" altLang="en-US" sz="1800"/>
                        <a:t>慢，每轮读写磁盘</a:t>
                      </a:r>
                      <a:endParaRPr lang="zh-CN" altLang="en-US" sz="1800"/>
                    </a:p>
                  </a:txBody>
                  <a:tcPr marL="0" marR="0" marT="0" marB="0" anchor="ctr" anchorCtr="0"/>
                </a:tc>
                <a:tc>
                  <a:txBody>
                    <a:bodyPr/>
                    <a:p>
                      <a:r>
                        <a:rPr lang="zh-CN" altLang="en-US" sz="1800"/>
                        <a:t>快 </a:t>
                      </a:r>
                      <a:r>
                        <a:rPr lang="en-US" altLang="zh-CN" sz="1800"/>
                        <a:t>10-100 </a:t>
                      </a:r>
                      <a:r>
                        <a:rPr lang="zh-CN" altLang="en-US" sz="1800"/>
                        <a:t>倍，内存复用</a:t>
                      </a:r>
                      <a:endParaRPr lang="zh-CN" altLang="en-US" sz="1800"/>
                    </a:p>
                  </a:txBody>
                  <a:tcPr marL="0" marR="0" marT="0" marB="0" anchor="ctr" anchorCtr="0"/>
                </a:tc>
              </a:tr>
              <a:tr h="509270">
                <a:tc>
                  <a:txBody>
                    <a:bodyPr/>
                    <a:p>
                      <a:r>
                        <a:rPr lang="zh-CN" altLang="en-US" sz="1800"/>
                        <a:t>容错策略</a:t>
                      </a:r>
                      <a:endParaRPr lang="zh-CN" altLang="en-US" sz="1800"/>
                    </a:p>
                  </a:txBody>
                  <a:tcPr marL="0" marR="0" marT="0" marB="0" anchor="ctr" anchorCtr="0"/>
                </a:tc>
                <a:tc>
                  <a:txBody>
                    <a:bodyPr/>
                    <a:p>
                      <a:r>
                        <a:rPr lang="en-US" altLang="zh-CN" sz="1800"/>
                        <a:t>HDFS </a:t>
                      </a:r>
                      <a:r>
                        <a:rPr lang="zh-CN" altLang="en-US" sz="1800"/>
                        <a:t>三副本</a:t>
                      </a:r>
                      <a:endParaRPr lang="zh-CN" altLang="en-US" sz="1800"/>
                    </a:p>
                  </a:txBody>
                  <a:tcPr marL="0" marR="0" marT="0" marB="0" anchor="ctr" anchorCtr="0"/>
                </a:tc>
                <a:tc>
                  <a:txBody>
                    <a:bodyPr/>
                    <a:p>
                      <a:r>
                        <a:rPr lang="en-US" altLang="zh-CN" sz="1800"/>
                        <a:t>RDD Lineage </a:t>
                      </a:r>
                      <a:r>
                        <a:rPr lang="zh-CN" altLang="en-US" sz="1800"/>
                        <a:t>重算</a:t>
                      </a:r>
                      <a:endParaRPr lang="zh-CN" altLang="en-US" sz="1800"/>
                    </a:p>
                  </a:txBody>
                  <a:tcPr marL="0" marR="0" marT="0" marB="0" anchor="ctr" anchorCtr="0"/>
                </a:tc>
              </a:tr>
              <a:tr h="509270">
                <a:tc>
                  <a:txBody>
                    <a:bodyPr/>
                    <a:p>
                      <a:r>
                        <a:rPr lang="zh-CN" altLang="en-US" sz="1800"/>
                        <a:t>适用场景</a:t>
                      </a:r>
                      <a:endParaRPr lang="zh-CN" altLang="en-US" sz="1800"/>
                    </a:p>
                  </a:txBody>
                  <a:tcPr marL="0" marR="0" marT="0" marB="0" anchor="ctr" anchorCtr="0"/>
                </a:tc>
                <a:tc>
                  <a:txBody>
                    <a:bodyPr/>
                    <a:p>
                      <a:r>
                        <a:rPr lang="zh-CN" altLang="en-US" sz="1800"/>
                        <a:t>单次批处理</a:t>
                      </a:r>
                      <a:endParaRPr lang="zh-CN" altLang="en-US" sz="1800"/>
                    </a:p>
                  </a:txBody>
                  <a:tcPr marL="0" marR="0" marT="0" marB="0" anchor="ctr" anchorCtr="0"/>
                </a:tc>
                <a:tc>
                  <a:txBody>
                    <a:bodyPr/>
                    <a:p>
                      <a:r>
                        <a:rPr lang="zh-CN" altLang="en-US" sz="1800"/>
                        <a:t>迭代计算 </a:t>
                      </a:r>
                      <a:r>
                        <a:rPr lang="en-US" altLang="zh-CN" sz="1800"/>
                        <a:t>/ </a:t>
                      </a:r>
                      <a:r>
                        <a:rPr lang="zh-CN" altLang="en-US" sz="1800"/>
                        <a:t>交互查询</a:t>
                      </a:r>
                      <a:endParaRPr lang="zh-CN" altLang="en-US" sz="1800"/>
                    </a:p>
                  </a:txBody>
                  <a:tcPr marL="0" marR="0" marT="0" marB="0" anchor="ctr" anchorCtr="0"/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762000" y="635000"/>
            <a:ext cx="10795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3200" b="1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05 集群环境搭建</a:t>
            </a:r>
            <a:endParaRPr lang="en-US" sz="1100"/>
          </a:p>
        </p:txBody>
      </p:sp>
      <p:pic>
        <p:nvPicPr>
          <p:cNvPr id="32" name="图片 31" descr="实验集群架构设计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85230" y="1917700"/>
            <a:ext cx="4923155" cy="3692525"/>
          </a:xfrm>
          <a:prstGeom prst="rect">
            <a:avLst/>
          </a:prstGeom>
        </p:spPr>
      </p:pic>
      <p:sp>
        <p:nvSpPr>
          <p:cNvPr id="33" name="文本框 32"/>
          <p:cNvSpPr txBox="1"/>
          <p:nvPr/>
        </p:nvSpPr>
        <p:spPr>
          <a:xfrm>
            <a:off x="762000" y="2406015"/>
            <a:ext cx="5175885" cy="175323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800"/>
              <a:t>Master-Worker </a:t>
            </a:r>
            <a:r>
              <a:rPr lang="zh-CN" altLang="en-US" sz="1800"/>
              <a:t>架构（</a:t>
            </a:r>
            <a:r>
              <a:rPr lang="en-US" altLang="zh-CN" sz="1800"/>
              <a:t>Standalone </a:t>
            </a:r>
            <a:r>
              <a:rPr lang="zh-CN" altLang="en-US" sz="1800"/>
              <a:t>模式）</a:t>
            </a:r>
            <a:endParaRPr lang="zh-CN" altLang="en-US" sz="1800"/>
          </a:p>
          <a:p>
            <a:endParaRPr lang="en-US" altLang="zh-CN" sz="1800"/>
          </a:p>
          <a:p>
            <a:r>
              <a:rPr lang="en-US" altLang="zh-CN" sz="1800"/>
              <a:t>  </a:t>
            </a:r>
            <a:r>
              <a:rPr lang="zh-CN" altLang="en-US" sz="1800"/>
              <a:t>1 个 </a:t>
            </a:r>
            <a:r>
              <a:rPr lang="en-US" altLang="zh-CN" sz="1800"/>
              <a:t>Master </a:t>
            </a:r>
            <a:r>
              <a:rPr lang="zh-CN" altLang="en-US" sz="1800"/>
              <a:t>节点：任务调度 + 资源管理</a:t>
            </a:r>
            <a:endParaRPr lang="zh-CN" altLang="en-US" sz="1800"/>
          </a:p>
          <a:p>
            <a:r>
              <a:rPr lang="en-US" altLang="zh-CN" sz="1800">
                <a:sym typeface="+mn-ea"/>
              </a:rPr>
              <a:t>  </a:t>
            </a:r>
            <a:r>
              <a:rPr lang="zh-CN" altLang="en-US" sz="1800"/>
              <a:t>2 个 </a:t>
            </a:r>
            <a:r>
              <a:rPr lang="en-US" altLang="zh-CN" sz="1800"/>
              <a:t>Worker </a:t>
            </a:r>
            <a:r>
              <a:rPr lang="zh-CN" altLang="en-US" sz="1800"/>
              <a:t>节点：任务执行 + 数据处理</a:t>
            </a:r>
            <a:endParaRPr lang="zh-CN" altLang="en-US" sz="1800"/>
          </a:p>
          <a:p>
            <a:r>
              <a:rPr lang="en-US" altLang="zh-CN" sz="1800">
                <a:sym typeface="+mn-ea"/>
              </a:rPr>
              <a:t>  </a:t>
            </a:r>
            <a:r>
              <a:rPr lang="en-US" altLang="zh-CN" sz="1800"/>
              <a:t>Docker </a:t>
            </a:r>
            <a:r>
              <a:rPr lang="zh-CN" altLang="en-US" sz="1800"/>
              <a:t>容器化部署，各节点独立 </a:t>
            </a:r>
            <a:r>
              <a:rPr lang="en-US" altLang="zh-CN" sz="1800"/>
              <a:t>IP</a:t>
            </a:r>
            <a:endParaRPr lang="en-US" altLang="zh-CN" sz="1800"/>
          </a:p>
          <a:p>
            <a:r>
              <a:rPr lang="en-US" altLang="zh-CN" sz="1800">
                <a:sym typeface="+mn-ea"/>
              </a:rPr>
              <a:t>  </a:t>
            </a:r>
            <a:r>
              <a:rPr lang="zh-CN" altLang="en-US" sz="1800"/>
              <a:t>通过虚拟网络完成节点通信</a:t>
            </a:r>
            <a:endParaRPr lang="zh-CN" altLang="en-US" sz="180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762000" y="635000"/>
            <a:ext cx="10795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环境部署与验证</a:t>
            </a:r>
            <a:endParaRPr lang="en-US" sz="1100"/>
          </a:p>
        </p:txBody>
      </p:sp>
      <p:pic>
        <p:nvPicPr>
          <p:cNvPr id="25" name="图片 24" descr="网页截图（集群空闲）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80535" y="2082165"/>
            <a:ext cx="7484745" cy="3861435"/>
          </a:xfrm>
          <a:prstGeom prst="rect">
            <a:avLst/>
          </a:prstGeom>
        </p:spPr>
      </p:pic>
      <p:sp>
        <p:nvSpPr>
          <p:cNvPr id="26" name="文本框 25"/>
          <p:cNvSpPr txBox="1"/>
          <p:nvPr/>
        </p:nvSpPr>
        <p:spPr>
          <a:xfrm flipH="1">
            <a:off x="4502150" y="1613535"/>
            <a:ext cx="6385560" cy="37719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p>
            <a:pPr algn="l">
              <a:lnSpc>
                <a:spcPct val="125000"/>
              </a:lnSpc>
              <a:buSzTx/>
              <a:defRPr/>
            </a:pPr>
            <a:endParaRPr lang="en-US" altLang="en-US" sz="1600" b="1">
              <a:solidFill>
                <a:srgbClr val="3B82F6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+mn-ea"/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500380" y="2334260"/>
            <a:ext cx="4363085" cy="208470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600"/>
              <a:t>Docker + Docker Compose </a:t>
            </a:r>
            <a:r>
              <a:rPr lang="zh-CN" altLang="en-US" sz="1600"/>
              <a:t>一键部署</a:t>
            </a:r>
            <a:endParaRPr lang="zh-CN" altLang="en-US" sz="1600"/>
          </a:p>
          <a:p>
            <a:r>
              <a:rPr lang="en-US" altLang="zh-CN" sz="1600"/>
              <a:t>Spark 3.5.8 + OpenJDK 17</a:t>
            </a:r>
            <a:endParaRPr lang="en-US" altLang="zh-CN" sz="1600"/>
          </a:p>
          <a:p>
            <a:r>
              <a:rPr lang="en-US" altLang="zh-CN" sz="1600"/>
              <a:t>1 Master + 2 Workers</a:t>
            </a:r>
            <a:endParaRPr lang="en-US" altLang="zh-CN" sz="1600"/>
          </a:p>
          <a:p>
            <a:r>
              <a:rPr lang="en-US" altLang="zh-CN" sz="1600"/>
              <a:t>Web UI </a:t>
            </a:r>
            <a:r>
              <a:rPr lang="zh-CN" altLang="en-US" sz="1600"/>
              <a:t>显示 2 </a:t>
            </a:r>
            <a:r>
              <a:rPr lang="en-US" altLang="zh-CN" sz="1600"/>
              <a:t>Workers ALIVE</a:t>
            </a:r>
            <a:endParaRPr lang="en-US" altLang="zh-CN" sz="1600"/>
          </a:p>
          <a:p>
            <a:r>
              <a:rPr lang="en-US" altLang="zh-CN" sz="1600"/>
              <a:t>4 Cores / 2GB Memory</a:t>
            </a:r>
            <a:endParaRPr lang="en-US" altLang="zh-CN" sz="1600"/>
          </a:p>
          <a:p>
            <a:endParaRPr lang="en-US" altLang="zh-CN" sz="1600"/>
          </a:p>
          <a:p>
            <a:r>
              <a:rPr lang="zh-CN" altLang="en-US" sz="1600">
                <a:ea typeface="宋体" panose="02010600030101010101" pitchFamily="2" charset="-122"/>
              </a:rPr>
              <a:t>如右图所示</a:t>
            </a:r>
            <a:endParaRPr lang="zh-CN" altLang="en-US" sz="1600">
              <a:ea typeface="宋体" panose="02010600030101010101" pitchFamily="2" charset="-122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762000" y="979170"/>
            <a:ext cx="10795000" cy="617855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400" b="1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+mn-ea"/>
              </a:rPr>
              <a:t>PageRank</a:t>
            </a:r>
            <a:r>
              <a:rPr lang="en-US" sz="2400" b="1">
                <a:solidFill>
                  <a:srgbClr val="3B82F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+mn-ea"/>
              </a:rPr>
              <a:t> </a:t>
            </a:r>
            <a:r>
              <a:rPr lang="en-US" sz="24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算法实现</a:t>
            </a:r>
            <a:endParaRPr lang="en-US" sz="2400"/>
          </a:p>
        </p:txBody>
      </p:sp>
      <p:sp>
        <p:nvSpPr>
          <p:cNvPr id="45" name="文本框 44"/>
          <p:cNvSpPr txBox="1"/>
          <p:nvPr/>
        </p:nvSpPr>
        <p:spPr>
          <a:xfrm>
            <a:off x="6328410" y="1737360"/>
            <a:ext cx="5488305" cy="370586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endParaRPr lang="en-US" altLang="zh-CN" sz="1800"/>
          </a:p>
          <a:p>
            <a:r>
              <a:rPr lang="en-US" altLang="zh-CN" sz="1800"/>
              <a:t>Google 1998 </a:t>
            </a:r>
            <a:r>
              <a:rPr lang="zh-CN" altLang="en-US" sz="1800"/>
              <a:t>提出网页排名算法</a:t>
            </a:r>
            <a:endParaRPr lang="zh-CN" altLang="en-US" sz="1800"/>
          </a:p>
          <a:p>
            <a:r>
              <a:rPr lang="zh-CN" altLang="en-US" sz="1800"/>
              <a:t>核心思想：重要页面被更多重要页面链接</a:t>
            </a:r>
            <a:endParaRPr lang="zh-CN" altLang="en-US" sz="1800"/>
          </a:p>
          <a:p>
            <a:r>
              <a:rPr lang="zh-CN" altLang="en-US" sz="1800"/>
              <a:t>迭代公式：</a:t>
            </a:r>
            <a:endParaRPr lang="zh-CN" altLang="en-US" sz="1800"/>
          </a:p>
          <a:p>
            <a:r>
              <a:rPr lang="en-US" altLang="zh-CN" sz="1800"/>
              <a:t>PR(A) = (1-d)/N + d × Σ(PR(Ti)/C(Ti))，d=0.85</a:t>
            </a:r>
            <a:endParaRPr lang="en-US" altLang="zh-CN" sz="1800"/>
          </a:p>
          <a:p>
            <a:r>
              <a:rPr lang="en-US" altLang="zh-CN" sz="1800"/>
              <a:t>flatMap </a:t>
            </a:r>
            <a:r>
              <a:rPr lang="zh-CN" altLang="en-US" sz="1800"/>
              <a:t>拆贡献，</a:t>
            </a:r>
            <a:r>
              <a:rPr lang="en-US" altLang="zh-CN" sz="1800"/>
              <a:t>reduceByKey </a:t>
            </a:r>
            <a:r>
              <a:rPr lang="zh-CN" altLang="en-US" sz="1800"/>
              <a:t>汇总，</a:t>
            </a:r>
            <a:r>
              <a:rPr lang="en-US" altLang="zh-CN" sz="1800"/>
              <a:t>cache() </a:t>
            </a:r>
            <a:r>
              <a:rPr lang="zh-CN" altLang="en-US" sz="1800"/>
              <a:t>缓存静态邻接表</a:t>
            </a:r>
            <a:endParaRPr lang="zh-CN" altLang="en-US" sz="1800"/>
          </a:p>
          <a:p>
            <a:r>
              <a:rPr lang="zh-CN" altLang="en-US" sz="1800"/>
              <a:t>每轮迭代触发 </a:t>
            </a:r>
            <a:r>
              <a:rPr lang="en-US" altLang="zh-CN" sz="1800"/>
              <a:t>Shuffle，</a:t>
            </a:r>
            <a:r>
              <a:rPr lang="zh-CN" altLang="en-US" sz="1800"/>
              <a:t>是性能瓶颈</a:t>
            </a:r>
            <a:endParaRPr lang="zh-CN" altLang="en-US" sz="1800"/>
          </a:p>
        </p:txBody>
      </p:sp>
      <p:sp>
        <p:nvSpPr>
          <p:cNvPr id="46" name="文本框 45"/>
          <p:cNvSpPr txBox="1"/>
          <p:nvPr/>
        </p:nvSpPr>
        <p:spPr>
          <a:xfrm>
            <a:off x="6443980" y="1464310"/>
            <a:ext cx="4064000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l">
              <a:lnSpc>
                <a:spcPct val="125000"/>
              </a:lnSpc>
              <a:buSzTx/>
              <a:defRPr/>
            </a:pPr>
            <a:r>
              <a:rPr lang="en-US" sz="1600" b="1">
                <a:solidFill>
                  <a:srgbClr val="3B82F6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+mn-ea"/>
              </a:rPr>
              <a:t>PageRank 算法原理与分布式实现</a:t>
            </a:r>
            <a:endParaRPr lang="en-US" sz="1600" b="1">
              <a:solidFill>
                <a:srgbClr val="3B82F6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</a:endParaRPr>
          </a:p>
        </p:txBody>
      </p:sp>
      <p:pic>
        <p:nvPicPr>
          <p:cNvPr id="47" name="图片 46" descr="PageRank 算法原理与分布式实现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1597025"/>
            <a:ext cx="5315585" cy="3987165"/>
          </a:xfrm>
          <a:prstGeom prst="rect">
            <a:avLst/>
          </a:prstGeom>
        </p:spPr>
      </p:pic>
      <p:sp>
        <p:nvSpPr>
          <p:cNvPr id="4" name="文本框 3"/>
          <p:cNvSpPr txBox="1"/>
          <p:nvPr/>
        </p:nvSpPr>
        <p:spPr>
          <a:xfrm>
            <a:off x="761365" y="251460"/>
            <a:ext cx="4110355" cy="70675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l">
              <a:lnSpc>
                <a:spcPct val="125000"/>
              </a:lnSpc>
              <a:buSzTx/>
              <a:defRPr/>
            </a:pPr>
            <a:r>
              <a:rPr lang="en-US" sz="3200" b="1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</a:rPr>
              <a:t>06 核心算法开发</a:t>
            </a:r>
            <a:endParaRPr lang="en-US" sz="3200" b="1">
              <a:solidFill>
                <a:srgbClr val="1F2937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762000" y="635000"/>
            <a:ext cx="10795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4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PageRank实验结果分析</a:t>
            </a:r>
            <a:endParaRPr lang="en-US" sz="2400"/>
          </a:p>
        </p:txBody>
      </p:sp>
      <p:pic>
        <p:nvPicPr>
          <p:cNvPr id="31" name="图片 30" descr="PageRank 终端输出1"/>
          <p:cNvPicPr>
            <a:picLocks noChangeAspect="1"/>
          </p:cNvPicPr>
          <p:nvPr/>
        </p:nvPicPr>
        <p:blipFill>
          <a:blip r:embed="rId1"/>
          <a:srcRect b="47520"/>
          <a:stretch>
            <a:fillRect/>
          </a:stretch>
        </p:blipFill>
        <p:spPr>
          <a:xfrm>
            <a:off x="762000" y="1426845"/>
            <a:ext cx="5588635" cy="2002155"/>
          </a:xfrm>
          <a:prstGeom prst="rect">
            <a:avLst/>
          </a:prstGeom>
        </p:spPr>
      </p:pic>
      <p:pic>
        <p:nvPicPr>
          <p:cNvPr id="32" name="图片 31" descr="PageRank 终端输出2"/>
          <p:cNvPicPr>
            <a:picLocks noChangeAspect="1"/>
          </p:cNvPicPr>
          <p:nvPr/>
        </p:nvPicPr>
        <p:blipFill>
          <a:blip r:embed="rId2"/>
          <a:srcRect t="13004" b="21828"/>
          <a:stretch>
            <a:fillRect/>
          </a:stretch>
        </p:blipFill>
        <p:spPr>
          <a:xfrm>
            <a:off x="762000" y="3429000"/>
            <a:ext cx="5588000" cy="2485390"/>
          </a:xfrm>
          <a:prstGeom prst="rect">
            <a:avLst/>
          </a:prstGeom>
        </p:spPr>
      </p:pic>
      <p:sp>
        <p:nvSpPr>
          <p:cNvPr id="3" name="文本框 2"/>
          <p:cNvSpPr txBox="1"/>
          <p:nvPr/>
        </p:nvSpPr>
        <p:spPr>
          <a:xfrm>
            <a:off x="7026910" y="2261235"/>
            <a:ext cx="4064000" cy="341503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800"/>
              <a:t>测试数据：20 个节点，84 条边</a:t>
            </a:r>
            <a:endParaRPr lang="zh-CN" altLang="en-US" sz="1800"/>
          </a:p>
          <a:p>
            <a:r>
              <a:rPr lang="zh-CN" altLang="en-US" sz="1800"/>
              <a:t>迭代次数：10 次</a:t>
            </a:r>
            <a:endParaRPr lang="zh-CN" altLang="en-US" sz="1800"/>
          </a:p>
          <a:p>
            <a:r>
              <a:rPr lang="zh-CN" altLang="en-US" sz="1800"/>
              <a:t>输出结果：</a:t>
            </a:r>
            <a:r>
              <a:rPr lang="en-US" altLang="zh-CN" sz="1800"/>
              <a:t>Top-K </a:t>
            </a:r>
            <a:r>
              <a:rPr lang="zh-CN" altLang="en-US" sz="1800"/>
              <a:t>页面排名</a:t>
            </a:r>
            <a:endParaRPr lang="zh-CN" altLang="en-US" sz="1800"/>
          </a:p>
          <a:p>
            <a:endParaRPr lang="en-US" altLang="zh-CN" sz="1800"/>
          </a:p>
          <a:p>
            <a:r>
              <a:rPr lang="zh-CN" altLang="en-US" sz="1800"/>
              <a:t>结果显示：</a:t>
            </a:r>
            <a:endParaRPr lang="zh-CN" altLang="en-US" sz="1800"/>
          </a:p>
          <a:p>
            <a:r>
              <a:rPr lang="en-US" altLang="zh-CN" sz="1800"/>
              <a:t>PageRank </a:t>
            </a:r>
            <a:r>
              <a:rPr lang="zh-CN" altLang="en-US" sz="1800"/>
              <a:t>值较高的节点通常具有更多高质量入链，</a:t>
            </a:r>
            <a:endParaRPr lang="zh-CN" altLang="en-US" sz="1800"/>
          </a:p>
          <a:p>
            <a:r>
              <a:rPr lang="zh-CN" altLang="en-US" sz="1800"/>
              <a:t>说明算法能够有效衡量节点在图结构中的重要性。</a:t>
            </a:r>
            <a:endParaRPr lang="zh-CN" altLang="en-US" sz="1800"/>
          </a:p>
          <a:p>
            <a:endParaRPr lang="zh-CN" altLang="en-US" sz="1800"/>
          </a:p>
          <a:p>
            <a:r>
              <a:rPr lang="zh-CN" altLang="en-US" sz="1800"/>
              <a:t>同时，</a:t>
            </a:r>
            <a:r>
              <a:rPr lang="en-US" altLang="zh-CN" sz="1800"/>
              <a:t>PageRank </a:t>
            </a:r>
            <a:r>
              <a:rPr lang="zh-CN" altLang="en-US" sz="1800"/>
              <a:t>总值约等于 1，</a:t>
            </a:r>
            <a:endParaRPr lang="zh-CN" altLang="en-US" sz="1800"/>
          </a:p>
          <a:p>
            <a:r>
              <a:rPr lang="zh-CN" altLang="en-US" sz="1800"/>
              <a:t>验证了迭代计算结果的合理性。</a:t>
            </a:r>
            <a:endParaRPr lang="zh-CN" altLang="en-US" sz="180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762000" y="635000"/>
            <a:ext cx="10795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altLang="zh-CN" sz="24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TF-IDF</a:t>
            </a:r>
            <a:r>
              <a:rPr lang="en-US" sz="24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算法</a:t>
            </a:r>
            <a:r>
              <a:rPr lang="zh-CN" altLang="en-US" sz="24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原理</a:t>
            </a:r>
            <a:r>
              <a:rPr lang="en-US" altLang="zh-CN" sz="24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&amp;</a:t>
            </a:r>
            <a:r>
              <a:rPr lang="zh-CN" altLang="en-US" sz="24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分布式实现</a:t>
            </a:r>
            <a:endParaRPr lang="en-US" sz="2400"/>
          </a:p>
        </p:txBody>
      </p:sp>
      <p:sp>
        <p:nvSpPr>
          <p:cNvPr id="47" name="文本框 46"/>
          <p:cNvSpPr txBox="1"/>
          <p:nvPr/>
        </p:nvSpPr>
        <p:spPr>
          <a:xfrm>
            <a:off x="842645" y="1659890"/>
            <a:ext cx="5575300" cy="22453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2000"/>
              <a:t>TF-IDF </a:t>
            </a:r>
            <a:r>
              <a:rPr lang="zh-CN" altLang="en-US" sz="2000"/>
              <a:t>算法原理</a:t>
            </a:r>
            <a:endParaRPr lang="zh-CN" altLang="en-US" sz="2000"/>
          </a:p>
          <a:p>
            <a:endParaRPr lang="en-US" altLang="zh-CN" sz="2000"/>
          </a:p>
          <a:p>
            <a:r>
              <a:rPr lang="en-US" altLang="zh-CN" sz="2000"/>
              <a:t>TF：</a:t>
            </a:r>
            <a:r>
              <a:rPr lang="zh-CN" altLang="en-US" sz="2000"/>
              <a:t>衡量词语在单篇文档中的频率</a:t>
            </a:r>
            <a:endParaRPr lang="zh-CN" altLang="en-US" sz="2000"/>
          </a:p>
          <a:p>
            <a:r>
              <a:rPr lang="en-US" altLang="zh-CN" sz="2000"/>
              <a:t>IDF：</a:t>
            </a:r>
            <a:r>
              <a:rPr lang="zh-CN" altLang="en-US" sz="2000"/>
              <a:t>衡量词语在语料库中的稀缺性</a:t>
            </a:r>
            <a:endParaRPr lang="zh-CN" altLang="en-US" sz="2000"/>
          </a:p>
          <a:p>
            <a:r>
              <a:rPr lang="en-US" altLang="zh-CN" sz="2000"/>
              <a:t>TF-IDF = TF × IDF</a:t>
            </a:r>
            <a:endParaRPr lang="en-US" altLang="zh-CN" sz="2000"/>
          </a:p>
          <a:p>
            <a:r>
              <a:rPr lang="en-US" altLang="zh-CN" sz="2000"/>
              <a:t>HashingTF：</a:t>
            </a:r>
            <a:r>
              <a:rPr lang="zh-CN" altLang="en-US" sz="2000"/>
              <a:t>哈希映射，避免构建全局词典</a:t>
            </a:r>
            <a:endParaRPr lang="zh-CN" altLang="en-US" sz="2000"/>
          </a:p>
          <a:p>
            <a:r>
              <a:rPr lang="zh-CN" altLang="en-US" sz="2000"/>
              <a:t>余弦相似度：计算文档向量相似程度</a:t>
            </a:r>
            <a:endParaRPr lang="zh-CN" altLang="en-US" sz="2000"/>
          </a:p>
        </p:txBody>
      </p:sp>
      <p:pic>
        <p:nvPicPr>
          <p:cNvPr id="48" name="图片 47" descr="TF-IDF 算法原理与分布式实现"/>
          <p:cNvPicPr>
            <a:picLocks noChangeAspect="1"/>
          </p:cNvPicPr>
          <p:nvPr/>
        </p:nvPicPr>
        <p:blipFill>
          <a:blip r:embed="rId1"/>
          <a:srcRect t="37474" b="40428"/>
          <a:stretch>
            <a:fillRect/>
          </a:stretch>
        </p:blipFill>
        <p:spPr>
          <a:xfrm>
            <a:off x="842645" y="4170045"/>
            <a:ext cx="8597900" cy="949960"/>
          </a:xfrm>
          <a:prstGeom prst="rect">
            <a:avLst/>
          </a:prstGeom>
        </p:spPr>
      </p:pic>
      <p:sp>
        <p:nvSpPr>
          <p:cNvPr id="53" name="文本框 52"/>
          <p:cNvSpPr txBox="1"/>
          <p:nvPr/>
        </p:nvSpPr>
        <p:spPr>
          <a:xfrm>
            <a:off x="4253865" y="5323205"/>
            <a:ext cx="434530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b="1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分布式实现流程图</a:t>
            </a:r>
            <a:endParaRPr lang="zh-CN" alt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762000" y="220980"/>
            <a:ext cx="10795000" cy="50419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4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TF-IDF实验结果分析</a:t>
            </a:r>
            <a:endParaRPr lang="en-US" sz="2400"/>
          </a:p>
        </p:txBody>
      </p:sp>
      <p:sp>
        <p:nvSpPr>
          <p:cNvPr id="11" name="AutoShape 11"/>
          <p:cNvSpPr/>
          <p:nvPr>
            <p:custDataLst>
              <p:tags r:id="rId1"/>
            </p:custDataLst>
          </p:nvPr>
        </p:nvSpPr>
        <p:spPr>
          <a:xfrm>
            <a:off x="8255000" y="1524000"/>
            <a:ext cx="3556000" cy="1714500"/>
          </a:xfrm>
          <a:prstGeom prst="roundRect">
            <a:avLst>
              <a:gd name="adj" fmla="val 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</a:p>
        </p:txBody>
      </p:sp>
      <p:pic>
        <p:nvPicPr>
          <p:cNvPr id="21" name="图片 20" descr="TF-IDF 终端输出1"/>
          <p:cNvPicPr>
            <a:picLocks noChangeAspect="1"/>
          </p:cNvPicPr>
          <p:nvPr/>
        </p:nvPicPr>
        <p:blipFill>
          <a:blip r:embed="rId2"/>
          <a:srcRect t="3686"/>
          <a:stretch>
            <a:fillRect/>
          </a:stretch>
        </p:blipFill>
        <p:spPr>
          <a:xfrm>
            <a:off x="762000" y="802640"/>
            <a:ext cx="4801870" cy="3157220"/>
          </a:xfrm>
          <a:prstGeom prst="rect">
            <a:avLst/>
          </a:prstGeom>
        </p:spPr>
      </p:pic>
      <p:pic>
        <p:nvPicPr>
          <p:cNvPr id="22" name="图片 21" descr="TF-IDF 终端输出2"/>
          <p:cNvPicPr>
            <a:picLocks noChangeAspect="1"/>
          </p:cNvPicPr>
          <p:nvPr/>
        </p:nvPicPr>
        <p:blipFill>
          <a:blip r:embed="rId3"/>
          <a:srcRect t="23784"/>
          <a:stretch>
            <a:fillRect/>
          </a:stretch>
        </p:blipFill>
        <p:spPr>
          <a:xfrm>
            <a:off x="762000" y="3959860"/>
            <a:ext cx="4801870" cy="2498090"/>
          </a:xfrm>
          <a:prstGeom prst="rect">
            <a:avLst/>
          </a:prstGeom>
        </p:spPr>
      </p:pic>
      <p:sp>
        <p:nvSpPr>
          <p:cNvPr id="3" name="文本框 2"/>
          <p:cNvSpPr txBox="1"/>
          <p:nvPr/>
        </p:nvSpPr>
        <p:spPr>
          <a:xfrm>
            <a:off x="6581775" y="2085340"/>
            <a:ext cx="4064000" cy="31381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800"/>
              <a:t>测试数据：6 篇英文文档</a:t>
            </a:r>
            <a:endParaRPr lang="zh-CN" altLang="en-US" sz="1800"/>
          </a:p>
          <a:p>
            <a:r>
              <a:rPr lang="zh-CN" altLang="en-US" sz="1800"/>
              <a:t>特征维度：1024</a:t>
            </a:r>
            <a:endParaRPr lang="zh-CN" altLang="en-US" sz="1800"/>
          </a:p>
          <a:p>
            <a:r>
              <a:rPr lang="zh-CN" altLang="en-US" sz="1800"/>
              <a:t>输出结果：</a:t>
            </a:r>
            <a:r>
              <a:rPr lang="en-US" altLang="zh-CN" sz="1800"/>
              <a:t>Top-K </a:t>
            </a:r>
            <a:r>
              <a:rPr lang="zh-CN" altLang="en-US" sz="1800"/>
              <a:t>相似文档对</a:t>
            </a:r>
            <a:endParaRPr lang="zh-CN" altLang="en-US" sz="1800"/>
          </a:p>
          <a:p>
            <a:endParaRPr lang="en-US" altLang="zh-CN" sz="1800"/>
          </a:p>
          <a:p>
            <a:r>
              <a:rPr lang="zh-CN" altLang="en-US" sz="1800"/>
              <a:t>结果显示：</a:t>
            </a:r>
            <a:endParaRPr lang="zh-CN" altLang="en-US" sz="1800"/>
          </a:p>
          <a:p>
            <a:r>
              <a:rPr lang="zh-CN" altLang="en-US" sz="1800"/>
              <a:t>主题相近的文档具有更高余弦相似度，</a:t>
            </a:r>
            <a:endParaRPr lang="zh-CN" altLang="en-US" sz="1800"/>
          </a:p>
          <a:p>
            <a:r>
              <a:rPr lang="zh-CN" altLang="en-US" sz="1800"/>
              <a:t>说明 </a:t>
            </a:r>
            <a:r>
              <a:rPr lang="en-US" altLang="zh-CN" sz="1800"/>
              <a:t>TF-IDF </a:t>
            </a:r>
            <a:r>
              <a:rPr lang="zh-CN" altLang="en-US" sz="1800"/>
              <a:t>能有效提取文本关键词特征。主题相近，文档相似度更高。</a:t>
            </a:r>
            <a:endParaRPr lang="zh-CN" altLang="en-US" sz="1800"/>
          </a:p>
          <a:p>
            <a:endParaRPr lang="en-US" altLang="zh-CN" sz="1800"/>
          </a:p>
          <a:p>
            <a:r>
              <a:rPr lang="en-US" altLang="zh-CN" sz="1800"/>
              <a:t>HashingTF </a:t>
            </a:r>
            <a:r>
              <a:rPr lang="zh-CN" altLang="en-US" sz="1800"/>
              <a:t>避免构建全局词典，</a:t>
            </a:r>
            <a:endParaRPr lang="zh-CN" altLang="en-US" sz="1800"/>
          </a:p>
          <a:p>
            <a:r>
              <a:rPr lang="zh-CN" altLang="en-US" sz="1800"/>
              <a:t>适合分布式文本特征计算。</a:t>
            </a:r>
            <a:endParaRPr lang="zh-CN" altLang="en-US" sz="18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762000" y="635000"/>
            <a:ext cx="10795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07 分布式特性分析</a:t>
            </a:r>
            <a:endParaRPr lang="en-US" sz="1100"/>
          </a:p>
        </p:txBody>
      </p:sp>
      <p:graphicFrame>
        <p:nvGraphicFramePr>
          <p:cNvPr id="3" name="Table 3"/>
          <p:cNvGraphicFramePr>
            <a:graphicFrameLocks noGrp="1"/>
          </p:cNvGraphicFramePr>
          <p:nvPr/>
        </p:nvGraphicFramePr>
        <p:xfrm>
          <a:off x="762000" y="1524000"/>
          <a:ext cx="10668000" cy="4826000"/>
        </p:xfrm>
        <a:graphic>
          <a:graphicData uri="http://schemas.openxmlformats.org/drawingml/2006/table">
            <a:tbl>
              <a:tblPr>
                <a:effectLst/>
              </a:tblPr>
              <a:tblGrid>
                <a:gridCol w="2667000"/>
                <a:gridCol w="8001000"/>
              </a:tblGrid>
              <a:tr h="698500">
                <a:tc>
                  <a:txBody>
                    <a:bodyPr rtlCol="0"/>
                    <a:lstStyle/>
                    <a:p>
                      <a:r>
                        <a:rPr lang="zh-CN" altLang="en-US" sz="1800" b="1"/>
                        <a:t>分布式特性</a:t>
                      </a:r>
                      <a:endParaRPr lang="zh-CN" altLang="en-US" sz="1800" b="1"/>
                    </a:p>
                  </a:txBody>
                  <a:tcPr marL="0" marR="0" marT="0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3F4F6">
                        <a:alpha val="100000"/>
                      </a:srgbClr>
                    </a:solidFill>
                  </a:tcPr>
                </a:tc>
                <a:tc>
                  <a:txBody>
                    <a:bodyPr rtlCol="0"/>
                    <a:lstStyle/>
                    <a:p>
                      <a:r>
                        <a:rPr lang="zh-CN" altLang="en-US" sz="1800" b="1"/>
                        <a:t>在本实验中的具体体现</a:t>
                      </a:r>
                      <a:endParaRPr lang="zh-CN" altLang="en-US" sz="1800" b="1"/>
                    </a:p>
                  </a:txBody>
                  <a:tcPr marL="0" marR="0" marT="0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3F4F6">
                        <a:alpha val="100000"/>
                      </a:srgbClr>
                    </a:solidFill>
                  </a:tcPr>
                </a:tc>
              </a:tr>
              <a:tr h="825500">
                <a:tc>
                  <a:txBody>
                    <a:bodyPr rtlCol="0"/>
                    <a:lstStyle/>
                    <a:p>
                      <a:r>
                        <a:rPr lang="zh-CN" altLang="en-US" sz="1800"/>
                        <a:t>数据并行</a:t>
                      </a:r>
                      <a:endParaRPr lang="zh-CN" altLang="en-US" sz="1800"/>
                    </a:p>
                  </a:txBody>
                  <a:tcPr marL="0" marR="0" marT="0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9FAFB">
                        <a:alpha val="100000"/>
                      </a:srgbClr>
                    </a:solidFill>
                  </a:tcPr>
                </a:tc>
                <a:tc>
                  <a:txBody>
                    <a:bodyPr rtlCol="0"/>
                    <a:lstStyle/>
                    <a:p>
                      <a:r>
                        <a:rPr lang="en-US" altLang="zh-CN" sz="1800"/>
                        <a:t>PageRank </a:t>
                      </a:r>
                      <a:r>
                        <a:rPr lang="zh-CN" altLang="en-US" sz="1800"/>
                        <a:t>边数据分到 </a:t>
                      </a:r>
                      <a:r>
                        <a:rPr lang="en-US" altLang="zh-CN" sz="1800"/>
                        <a:t>2 </a:t>
                      </a:r>
                      <a:r>
                        <a:rPr lang="zh-CN" altLang="en-US" sz="1800"/>
                        <a:t>个 </a:t>
                      </a:r>
                      <a:r>
                        <a:rPr lang="en-US" altLang="zh-CN" sz="1800"/>
                        <a:t>Worker </a:t>
                      </a:r>
                      <a:r>
                        <a:rPr lang="zh-CN" altLang="en-US" sz="1800"/>
                        <a:t>并行处理</a:t>
                      </a:r>
                      <a:endParaRPr lang="zh-CN" altLang="en-US" sz="1800"/>
                    </a:p>
                  </a:txBody>
                  <a:tcPr marL="0" marR="0" marT="0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  <a:tr h="825500">
                <a:tc>
                  <a:txBody>
                    <a:bodyPr rtlCol="0"/>
                    <a:lstStyle/>
                    <a:p>
                      <a:r>
                        <a:rPr lang="zh-CN" altLang="en-US" sz="1800"/>
                        <a:t>任务调度</a:t>
                      </a:r>
                      <a:endParaRPr lang="zh-CN" altLang="en-US" sz="1800"/>
                    </a:p>
                  </a:txBody>
                  <a:tcPr marL="0" marR="0" marT="0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9FAFB">
                        <a:alpha val="100000"/>
                      </a:srgbClr>
                    </a:solidFill>
                  </a:tcPr>
                </a:tc>
                <a:tc>
                  <a:txBody>
                    <a:bodyPr rtlCol="0"/>
                    <a:lstStyle/>
                    <a:p>
                      <a:r>
                        <a:rPr lang="zh-CN" altLang="en-US" sz="1800"/>
                        <a:t>每轮 </a:t>
                      </a:r>
                      <a:r>
                        <a:rPr lang="en-US" altLang="zh-CN" sz="1800"/>
                        <a:t>PageRank </a:t>
                      </a:r>
                      <a:r>
                        <a:rPr lang="zh-CN" altLang="en-US" sz="1800"/>
                        <a:t>迭代生成 </a:t>
                      </a:r>
                      <a:r>
                        <a:rPr lang="en-US" altLang="zh-CN" sz="1800"/>
                        <a:t>Stage</a:t>
                      </a:r>
                      <a:r>
                        <a:rPr lang="zh-CN" altLang="en-US" sz="1800"/>
                        <a:t>，</a:t>
                      </a:r>
                      <a:r>
                        <a:rPr lang="en-US" altLang="zh-CN" sz="1800"/>
                        <a:t>Master </a:t>
                      </a:r>
                      <a:r>
                        <a:rPr lang="zh-CN" altLang="en-US" sz="1800"/>
                        <a:t>分配 </a:t>
                      </a:r>
                      <a:r>
                        <a:rPr lang="en-US" altLang="zh-CN" sz="1800"/>
                        <a:t>Task</a:t>
                      </a:r>
                      <a:endParaRPr lang="en-US" altLang="zh-CN" sz="1800"/>
                    </a:p>
                  </a:txBody>
                  <a:tcPr marL="0" marR="0" marT="0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  <a:tr h="825500">
                <a:tc>
                  <a:txBody>
                    <a:bodyPr rtlCol="0"/>
                    <a:lstStyle/>
                    <a:p>
                      <a:r>
                        <a:rPr lang="en-US" altLang="zh-CN" sz="1800"/>
                        <a:t>Shuffle </a:t>
                      </a:r>
                      <a:r>
                        <a:rPr lang="zh-CN" altLang="en-US" sz="1800"/>
                        <a:t>开销</a:t>
                      </a:r>
                      <a:endParaRPr lang="zh-CN" altLang="en-US" sz="1800"/>
                    </a:p>
                  </a:txBody>
                  <a:tcPr marL="0" marR="0" marT="0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9FAFB">
                        <a:alpha val="100000"/>
                      </a:srgbClr>
                    </a:solidFill>
                  </a:tcPr>
                </a:tc>
                <a:tc>
                  <a:txBody>
                    <a:bodyPr rtlCol="0"/>
                    <a:lstStyle/>
                    <a:p>
                      <a:r>
                        <a:rPr lang="en-US" altLang="zh-CN" sz="1800"/>
                        <a:t>reduceByKey </a:t>
                      </a:r>
                      <a:r>
                        <a:rPr lang="zh-CN" altLang="en-US" sz="1800"/>
                        <a:t>每轮跨节点聚合，</a:t>
                      </a:r>
                      <a:r>
                        <a:rPr lang="en-US" altLang="zh-CN" sz="1800"/>
                        <a:t>10 </a:t>
                      </a:r>
                      <a:r>
                        <a:rPr lang="zh-CN" altLang="en-US" sz="1800"/>
                        <a:t>轮 </a:t>
                      </a:r>
                      <a:r>
                        <a:rPr lang="en-US" altLang="zh-CN" sz="1800"/>
                        <a:t>= 10 </a:t>
                      </a:r>
                      <a:r>
                        <a:rPr lang="zh-CN" altLang="en-US" sz="1800"/>
                        <a:t>次</a:t>
                      </a:r>
                      <a:endParaRPr lang="zh-CN" altLang="en-US" sz="1800"/>
                    </a:p>
                  </a:txBody>
                  <a:tcPr marL="0" marR="0" marT="0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  <a:tr h="825500">
                <a:tc>
                  <a:txBody>
                    <a:bodyPr rtlCol="0"/>
                    <a:lstStyle/>
                    <a:p>
                      <a:r>
                        <a:rPr lang="zh-CN" altLang="en-US" sz="1800"/>
                        <a:t>内存缓存</a:t>
                      </a:r>
                      <a:endParaRPr lang="zh-CN" altLang="en-US" sz="1800"/>
                    </a:p>
                  </a:txBody>
                  <a:tcPr marL="0" marR="0" marT="0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9FAFB">
                        <a:alpha val="100000"/>
                      </a:srgbClr>
                    </a:solidFill>
                  </a:tcPr>
                </a:tc>
                <a:tc>
                  <a:txBody>
                    <a:bodyPr rtlCol="0"/>
                    <a:lstStyle/>
                    <a:p>
                      <a:r>
                        <a:rPr lang="en-US" altLang="zh-CN" sz="1800"/>
                        <a:t>cache </a:t>
                      </a:r>
                      <a:r>
                        <a:rPr lang="zh-CN" altLang="en-US" sz="1800"/>
                        <a:t>邻接表，避免重复读取</a:t>
                      </a:r>
                      <a:endParaRPr lang="zh-CN" altLang="en-US" sz="1800"/>
                    </a:p>
                  </a:txBody>
                  <a:tcPr marL="0" marR="0" marT="0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  <a:tr h="825500">
                <a:tc>
                  <a:txBody>
                    <a:bodyPr rtlCol="0"/>
                    <a:lstStyle/>
                    <a:p>
                      <a:r>
                        <a:rPr lang="en-US" altLang="zh-CN" sz="1800"/>
                        <a:t>MLlib Pipeline</a:t>
                      </a:r>
                      <a:endParaRPr lang="en-US" altLang="zh-CN" sz="1800"/>
                    </a:p>
                  </a:txBody>
                  <a:tcPr marL="0" marR="0" marT="0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9FAFB">
                        <a:alpha val="100000"/>
                      </a:srgbClr>
                    </a:solidFill>
                  </a:tcPr>
                </a:tc>
                <a:tc>
                  <a:txBody>
                    <a:bodyPr rtlCol="0"/>
                    <a:lstStyle/>
                    <a:p>
                      <a:r>
                        <a:rPr lang="en-US" altLang="zh-CN" sz="1800"/>
                        <a:t>TF-IDF HashingTF + IDF </a:t>
                      </a:r>
                      <a:r>
                        <a:rPr lang="zh-CN" altLang="en-US" sz="1800"/>
                        <a:t>并行计算特征向量</a:t>
                      </a:r>
                      <a:endParaRPr lang="zh-CN" altLang="en-US" sz="1800"/>
                    </a:p>
                  </a:txBody>
                  <a:tcPr marL="0" marR="0" marT="0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762000" y="635000"/>
            <a:ext cx="10795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总结与收获</a:t>
            </a:r>
            <a:endParaRPr lang="en-US" sz="1100"/>
          </a:p>
        </p:txBody>
      </p:sp>
      <p:sp>
        <p:nvSpPr>
          <p:cNvPr id="39" name="文本框 38"/>
          <p:cNvSpPr txBox="1"/>
          <p:nvPr/>
        </p:nvSpPr>
        <p:spPr>
          <a:xfrm>
            <a:off x="1045845" y="1640205"/>
            <a:ext cx="6680200" cy="461010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 sz="2000"/>
              <a:t>完成 </a:t>
            </a:r>
            <a:r>
              <a:rPr lang="en-US" altLang="zh-CN" sz="2000"/>
              <a:t>Spark </a:t>
            </a:r>
            <a:r>
              <a:rPr lang="zh-CN" altLang="en-US" sz="2000"/>
              <a:t>分布式集群部署</a:t>
            </a:r>
            <a:endParaRPr lang="zh-CN" altLang="en-US" sz="2000"/>
          </a:p>
          <a:p>
            <a:r>
              <a:rPr lang="zh-CN" altLang="en-US" sz="2000"/>
              <a:t>实现 </a:t>
            </a:r>
            <a:r>
              <a:rPr lang="en-US" altLang="zh-CN" sz="2000"/>
              <a:t>PageRank </a:t>
            </a:r>
            <a:r>
              <a:rPr lang="zh-CN" altLang="en-US" sz="2000"/>
              <a:t>图计算算法</a:t>
            </a:r>
            <a:endParaRPr lang="zh-CN" altLang="en-US" sz="2000"/>
          </a:p>
          <a:p>
            <a:r>
              <a:rPr lang="zh-CN" altLang="en-US" sz="2000"/>
              <a:t>实现 </a:t>
            </a:r>
            <a:r>
              <a:rPr lang="en-US" altLang="zh-CN" sz="2000"/>
              <a:t>TF-IDF </a:t>
            </a:r>
            <a:r>
              <a:rPr lang="zh-CN" altLang="en-US" sz="2000"/>
              <a:t>文本相似度计算</a:t>
            </a:r>
            <a:endParaRPr lang="zh-CN" altLang="en-US" sz="2000"/>
          </a:p>
          <a:p>
            <a:r>
              <a:rPr lang="zh-CN" altLang="en-US" sz="2000"/>
              <a:t>验证多节点并行处理能力</a:t>
            </a:r>
            <a:endParaRPr lang="zh-CN" altLang="en-US" sz="2000"/>
          </a:p>
          <a:p>
            <a:r>
              <a:rPr lang="zh-CN" altLang="en-US" sz="2000"/>
              <a:t>理解 </a:t>
            </a:r>
            <a:r>
              <a:rPr lang="en-US" altLang="zh-CN" sz="2000"/>
              <a:t>Spark </a:t>
            </a:r>
            <a:r>
              <a:rPr lang="zh-CN" altLang="en-US" sz="2000"/>
              <a:t>架构、调度与容错机制</a:t>
            </a:r>
            <a:endParaRPr lang="zh-CN" altLang="en-US" sz="200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1016000" y="1016000"/>
            <a:ext cx="10160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36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致谢 &amp; Q&amp;A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1016000" y="2286000"/>
            <a:ext cx="10160000" cy="1270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endParaRPr lang="en-US" sz="1100"/>
          </a:p>
        </p:txBody>
      </p:sp>
      <p:sp>
        <p:nvSpPr>
          <p:cNvPr id="4" name="AutoShape 4"/>
          <p:cNvSpPr/>
          <p:nvPr/>
        </p:nvSpPr>
        <p:spPr>
          <a:xfrm>
            <a:off x="1016000" y="3937000"/>
            <a:ext cx="4953000" cy="165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17000"/>
              </a:lnSpc>
              <a:defRPr/>
            </a:pPr>
            <a:r>
              <a:rPr lang="en-US" sz="13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[1] Zaharia M, et al.</a:t>
            </a:r>
            <a:r>
              <a:rPr lang="en-US" sz="12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Spark: Cluster Computing with Working Sets. HotCloud, 2010. 该文献提出了基于工作集的集群计算架构，为分布式内存计算技术奠定了重要基础。</a:t>
            </a:r>
            <a:endParaRPr lang="en-US" sz="1100"/>
          </a:p>
          <a:p>
            <a:pPr marL="0" indent="0" algn="l">
              <a:lnSpc>
                <a:spcPct val="117000"/>
              </a:lnSpc>
            </a:pPr>
            <a:r>
              <a:rPr lang="en-US" sz="13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[2] Page L, et al.</a:t>
            </a:r>
            <a:r>
              <a:rPr lang="en-US" sz="12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The PageRank Citation Ranking. Stanford, 1999. 经典的网页排名算法论文，为后续图计算与链接分析领域的研究提供了核心理论支撑。</a:t>
            </a:r>
            <a:endParaRPr lang="en-US" sz="1200" b="0" i="0" u="none" strike="noStrike">
              <a:solidFill>
                <a:srgbClr val="374151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5" name="AutoShape 5"/>
          <p:cNvSpPr/>
          <p:nvPr/>
        </p:nvSpPr>
        <p:spPr>
          <a:xfrm>
            <a:off x="6223000" y="3937000"/>
            <a:ext cx="4953000" cy="165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17000"/>
              </a:lnSpc>
              <a:defRPr/>
            </a:pPr>
            <a:r>
              <a:rPr lang="en-US" sz="13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[3] Salton G, Buckley C.</a:t>
            </a:r>
            <a:r>
              <a:rPr lang="en-US" sz="12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Term-weighting approaches in automatic text retrieval. 1988. 自动文本检索中经典的词权重计算方法研究，是现代信息检索与NLP技术的重要基石。</a:t>
            </a:r>
            <a:endParaRPr lang="en-US" sz="1100"/>
          </a:p>
          <a:p>
            <a:pPr marL="0" indent="0" algn="l">
              <a:lnSpc>
                <a:spcPct val="117000"/>
              </a:lnSpc>
            </a:pPr>
            <a:r>
              <a:rPr lang="en-US" sz="1300" b="1" i="0" u="none" strike="noStrike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[4] Apache Spark 官方文档.</a:t>
            </a:r>
            <a:r>
              <a:rPr lang="en-US" sz="1200" b="0" i="0" u="none" strike="noStrike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https://spark.apache.org/docs/latest/ 项目开发过程中核心的技术实现依据，提供了标准的API与最佳实践指南。</a:t>
            </a:r>
            <a:endParaRPr lang="en-US" sz="1200" b="0" i="0" u="none" strike="noStrike">
              <a:solidFill>
                <a:srgbClr val="374151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6" name="AutoShape 6"/>
          <p:cNvSpPr/>
          <p:nvPr/>
        </p:nvSpPr>
        <p:spPr>
          <a:xfrm>
            <a:off x="1016000" y="5651500"/>
            <a:ext cx="10160000" cy="101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endParaRPr lang="en-US" sz="1400" b="0" i="0" u="none" strike="noStrike">
              <a:solidFill>
                <a:srgbClr val="374151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1016635" y="3736340"/>
            <a:ext cx="4137660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参考文献</a:t>
            </a:r>
            <a:endParaRPr lang="zh-CN" altLang="en-US"/>
          </a:p>
        </p:txBody>
      </p:sp>
      <p:sp>
        <p:nvSpPr>
          <p:cNvPr id="8" name="文本框 7"/>
          <p:cNvSpPr txBox="1"/>
          <p:nvPr/>
        </p:nvSpPr>
        <p:spPr>
          <a:xfrm>
            <a:off x="1016000" y="2069465"/>
            <a:ext cx="10106660" cy="104013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marL="0" indent="0" algn="l">
              <a:lnSpc>
                <a:spcPct val="125000"/>
              </a:lnSpc>
              <a:defRPr/>
            </a:pPr>
            <a:r>
              <a:rPr lang="en-US" b="1">
                <a:solidFill>
                  <a:srgbClr val="1F2937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Q &amp; A 交流环节</a:t>
            </a:r>
            <a:endParaRPr lang="en-US"/>
          </a:p>
          <a:p>
            <a:pPr marL="0" indent="0" algn="l">
              <a:lnSpc>
                <a:spcPct val="108000"/>
              </a:lnSpc>
            </a:pPr>
            <a:r>
              <a:rPr lang="en-US">
                <a:solidFill>
                  <a:srgbClr val="37415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报告内容到此结束，非常欢迎各位老师和同学对本次项目的技术方案、实现细节及应用前景提出宝贵的意见与建议，期待与大家进行深入的交流与探讨。</a:t>
            </a:r>
            <a:endParaRPr lang="en-US" b="0" i="0" u="none" strike="noStrike">
              <a:solidFill>
                <a:srgbClr val="374151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  <a:p>
            <a:endParaRPr lang="zh-CN" altLang="en-US"/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DIAGRAM_VIRTUALLY_FRAME" val="{&quot;height&quot;:300,&quot;left&quot;:60,&quot;top&quot;:160,&quot;width&quot;:830}"/>
</p:tagLst>
</file>

<file path=ppt/tags/tag2.xml><?xml version="1.0" encoding="utf-8"?>
<p:tagLst xmlns:p="http://schemas.openxmlformats.org/presentationml/2006/main">
  <p:tag name="KSO_WM_DIAGRAM_VIRTUALLY_FRAME" val="{&quot;height&quot;:300,&quot;left&quot;:60,&quot;top&quot;:160,&quot;width&quot;:830}"/>
</p:tagLst>
</file>

<file path=ppt/tags/tag3.xml><?xml version="1.0" encoding="utf-8"?>
<p:tagLst xmlns:p="http://schemas.openxmlformats.org/presentationml/2006/main">
  <p:tag name="KSO_WM_DIAGRAM_VIRTUALLY_FRAME" val="{&quot;height&quot;:300,&quot;left&quot;:60,&quot;top&quot;:160,&quot;width&quot;:830}"/>
</p:tagLst>
</file>

<file path=ppt/tags/tag4.xml><?xml version="1.0" encoding="utf-8"?>
<p:tagLst xmlns:p="http://schemas.openxmlformats.org/presentationml/2006/main">
  <p:tag name="KSO_WM_DIAGRAM_VIRTUALLY_FRAME" val="{&quot;height&quot;:300,&quot;left&quot;:60,&quot;top&quot;:160,&quot;width&quot;:830}"/>
</p:tagLst>
</file>

<file path=ppt/tags/tag5.xml><?xml version="1.0" encoding="utf-8"?>
<p:tagLst xmlns:p="http://schemas.openxmlformats.org/presentationml/2006/main">
  <p:tag name="KSO_WM_DIAGRAM_VIRTUALLY_FRAME" val="{&quot;height&quot;:300,&quot;left&quot;:60,&quot;top&quot;:160,&quot;width&quot;:830}"/>
</p:tagLst>
</file>

<file path=ppt/tags/tag6.xml><?xml version="1.0" encoding="utf-8"?>
<p:tagLst xmlns:p="http://schemas.openxmlformats.org/presentationml/2006/main">
  <p:tag name="KSO_WM_DIAGRAM_VIRTUALLY_FRAME" val="{&quot;height&quot;:300,&quot;left&quot;:60,&quot;top&quot;:160,&quot;width&quot;:830}"/>
</p:tagLst>
</file>

<file path=ppt/tags/tag7.xml><?xml version="1.0" encoding="utf-8"?>
<p:tagLst xmlns:p="http://schemas.openxmlformats.org/presentationml/2006/main">
  <p:tag name="KSO_WM_DIAGRAM_VIRTUALLY_FRAME" val="{&quot;height&quot;:300,&quot;left&quot;:60,&quot;top&quot;:160,&quot;width&quot;:830}"/>
</p:tagLst>
</file>

<file path=ppt/tags/tag8.xml><?xml version="1.0" encoding="utf-8"?>
<p:tagLst xmlns:p="http://schemas.openxmlformats.org/presentationml/2006/main">
  <p:tag name="KSO_WM_DIAGRAM_VIRTUALLY_FRAME" val="{&quot;height&quot;:300,&quot;left&quot;:60,&quot;top&quot;:160,&quot;width&quot;:830}"/>
</p:tagLst>
</file>

<file path=ppt/tags/tag9.xml><?xml version="1.0" encoding="utf-8"?>
<p:tagLst xmlns:p="http://schemas.openxmlformats.org/presentationml/2006/main">
  <p:tag name="KSO_WM_DIAGRAM_VIRTUALLY_FRAME" val="{&quot;height&quot;:300,&quot;left&quot;:60,&quot;top&quot;:160,&quot;width&quot;:830}"/>
</p:tagLst>
</file>

<file path=ppt/tags/tag10.xml><?xml version="1.0" encoding="utf-8"?>
<p:tagLst xmlns:p="http://schemas.openxmlformats.org/presentationml/2006/main">
  <p:tag name="KSO_WM_DIAGRAM_VIRTUALLY_FRAME" val="{&quot;height&quot;:300,&quot;left&quot;:60,&quot;top&quot;:160,&quot;width&quot;:830}"/>
</p:tagLst>
</file>

<file path=ppt/tags/tag11.xml><?xml version="1.0" encoding="utf-8"?>
<p:tagLst xmlns:p="http://schemas.openxmlformats.org/presentationml/2006/main">
  <p:tag name="KSO_WM_DIAGRAM_VIRTUALLY_FRAME" val="{&quot;height&quot;:300,&quot;left&quot;:60,&quot;top&quot;:160,&quot;width&quot;:830}"/>
</p:tagLst>
</file>

<file path=ppt/tags/tag12.xml><?xml version="1.0" encoding="utf-8"?>
<p:tagLst xmlns:p="http://schemas.openxmlformats.org/presentationml/2006/main">
  <p:tag name="KSO_WM_DIAGRAM_VIRTUALLY_FRAME" val="{&quot;height&quot;:300,&quot;left&quot;:60,&quot;top&quot;:160,&quot;width&quot;:830}"/>
</p:tagLst>
</file>

<file path=ppt/tags/tag13.xml><?xml version="1.0" encoding="utf-8"?>
<p:tagLst xmlns:p="http://schemas.openxmlformats.org/presentationml/2006/main">
  <p:tag name="KSO_WM_DIAGRAM_VIRTUALLY_FRAME" val="{&quot;height&quot;:300,&quot;left&quot;:60,&quot;top&quot;:160,&quot;width&quot;:830}"/>
</p:tagLst>
</file>

<file path=ppt/tags/tag14.xml><?xml version="1.0" encoding="utf-8"?>
<p:tagLst xmlns:p="http://schemas.openxmlformats.org/presentationml/2006/main">
  <p:tag name="KSO_WM_DIAGRAM_VIRTUALLY_FRAME" val="{&quot;height&quot;:300,&quot;left&quot;:60,&quot;top&quot;:160,&quot;width&quot;:830}"/>
</p:tagLst>
</file>

<file path=ppt/tags/tag15.xml><?xml version="1.0" encoding="utf-8"?>
<p:tagLst xmlns:p="http://schemas.openxmlformats.org/presentationml/2006/main">
  <p:tag name="KSO_WM_DIAGRAM_VIRTUALLY_FRAME" val="{&quot;height&quot;:300,&quot;left&quot;:60,&quot;top&quot;:160,&quot;width&quot;:830}"/>
</p:tagLst>
</file>

<file path=ppt/tags/tag16.xml><?xml version="1.0" encoding="utf-8"?>
<p:tagLst xmlns:p="http://schemas.openxmlformats.org/presentationml/2006/main">
  <p:tag name="KSO_WM_DIAGRAM_VIRTUALLY_FRAME" val="{&quot;height&quot;:300,&quot;left&quot;:60,&quot;top&quot;:160,&quot;width&quot;:830}"/>
</p:tagLst>
</file>

<file path=ppt/tags/tag17.xml><?xml version="1.0" encoding="utf-8"?>
<p:tagLst xmlns:p="http://schemas.openxmlformats.org/presentationml/2006/main">
  <p:tag name="KSO_WM_DIAGRAM_VIRTUALLY_FRAME" val="{&quot;height&quot;:160,&quot;left&quot;:60,&quot;top&quot;:350,&quot;width&quot;:840}"/>
</p:tagLst>
</file>

<file path=ppt/tags/tag18.xml><?xml version="1.0" encoding="utf-8"?>
<p:tagLst xmlns:p="http://schemas.openxmlformats.org/presentationml/2006/main">
  <p:tag name="KSO_WM_DIAGRAM_VIRTUALLY_FRAME" val="{&quot;height&quot;:160,&quot;left&quot;:60,&quot;top&quot;:350,&quot;width&quot;:840}"/>
</p:tagLst>
</file>

<file path=ppt/tags/tag19.xml><?xml version="1.0" encoding="utf-8"?>
<p:tagLst xmlns:p="http://schemas.openxmlformats.org/presentationml/2006/main">
  <p:tag name="KSO_WM_DIAGRAM_VIRTUALLY_FRAME" val="{&quot;height&quot;:160,&quot;left&quot;:60,&quot;top&quot;:350,&quot;width&quot;:840}"/>
</p:tagLst>
</file>

<file path=ppt/tags/tag20.xml><?xml version="1.0" encoding="utf-8"?>
<p:tagLst xmlns:p="http://schemas.openxmlformats.org/presentationml/2006/main">
  <p:tag name="KSO_WM_DIAGRAM_VIRTUALLY_FRAME" val="{&quot;height&quot;:160,&quot;left&quot;:60,&quot;top&quot;:350,&quot;width&quot;:840}"/>
</p:tagLst>
</file>

<file path=ppt/tags/tag21.xml><?xml version="1.0" encoding="utf-8"?>
<p:tagLst xmlns:p="http://schemas.openxmlformats.org/presentationml/2006/main">
  <p:tag name="KSO_WM_DIAGRAM_VIRTUALLY_FRAME" val="{&quot;height&quot;:160,&quot;left&quot;:60,&quot;top&quot;:350,&quot;width&quot;:840}"/>
</p:tagLst>
</file>

<file path=ppt/tags/tag22.xml><?xml version="1.0" encoding="utf-8"?>
<p:tagLst xmlns:p="http://schemas.openxmlformats.org/presentationml/2006/main">
  <p:tag name="KSO_WM_DIAGRAM_VIRTUALLY_FRAME" val="{&quot;height&quot;:160,&quot;left&quot;:60,&quot;top&quot;:350,&quot;width&quot;:840}"/>
</p:tagLst>
</file>

<file path=ppt/tags/tag23.xml><?xml version="1.0" encoding="utf-8"?>
<p:tagLst xmlns:p="http://schemas.openxmlformats.org/presentationml/2006/main">
  <p:tag name="KSO_WM_DIAGRAM_VIRTUALLY_FRAME" val="{&quot;height&quot;:265,&quot;left&quot;:60,&quot;top&quot;:140,&quot;width&quot;:480}"/>
</p:tagLst>
</file>

<file path=ppt/tags/tag24.xml><?xml version="1.0" encoding="utf-8"?>
<p:tagLst xmlns:p="http://schemas.openxmlformats.org/presentationml/2006/main">
  <p:tag name="KSO_WM_DIAGRAM_VIRTUALLY_FRAME" val="{&quot;height&quot;:265,&quot;left&quot;:60,&quot;top&quot;:140,&quot;width&quot;:480}"/>
</p:tagLst>
</file>

<file path=ppt/tags/tag25.xml><?xml version="1.0" encoding="utf-8"?>
<p:tagLst xmlns:p="http://schemas.openxmlformats.org/presentationml/2006/main">
  <p:tag name="KSO_WM_DIAGRAM_VIRTUALLY_FRAME" val="{&quot;height&quot;:265,&quot;left&quot;:60,&quot;top&quot;:140,&quot;width&quot;:480}"/>
</p:tagLst>
</file>

<file path=ppt/tags/tag26.xml><?xml version="1.0" encoding="utf-8"?>
<p:tagLst xmlns:p="http://schemas.openxmlformats.org/presentationml/2006/main">
  <p:tag name="KSO_WM_DIAGRAM_VIRTUALLY_FRAME" val="{&quot;height&quot;:265,&quot;left&quot;:60,&quot;top&quot;:140,&quot;width&quot;:480}"/>
</p:tagLst>
</file>

<file path=ppt/tags/tag27.xml><?xml version="1.0" encoding="utf-8"?>
<p:tagLst xmlns:p="http://schemas.openxmlformats.org/presentationml/2006/main">
  <p:tag name="KSO_WM_DIAGRAM_VIRTUALLY_FRAME" val="{&quot;height&quot;:265,&quot;left&quot;:60,&quot;top&quot;:140,&quot;width&quot;:480}"/>
</p:tagLst>
</file>

<file path=ppt/tags/tag28.xml><?xml version="1.0" encoding="utf-8"?>
<p:tagLst xmlns:p="http://schemas.openxmlformats.org/presentationml/2006/main">
  <p:tag name="KSO_WM_DIAGRAM_VIRTUALLY_FRAME" val="{&quot;height&quot;:265,&quot;left&quot;:60,&quot;top&quot;:140,&quot;width&quot;:480}"/>
</p:tagLst>
</file>

<file path=ppt/tags/tag29.xml><?xml version="1.0" encoding="utf-8"?>
<p:tagLst xmlns:p="http://schemas.openxmlformats.org/presentationml/2006/main">
  <p:tag name="KSO_DOCER_RESOURCE_TRACE_INFO" val="{&quot;id&quot;:&quot;50062658&quot;,&quot;origin&quot;:0,&quot;type&quot;:&quot;icons&quot;,&quot;user&quot;:&quot;328373139&quot;}"/>
</p:tagLst>
</file>

<file path=ppt/tags/tag30.xml><?xml version="1.0" encoding="utf-8"?>
<p:tagLst xmlns:p="http://schemas.openxmlformats.org/presentationml/2006/main">
  <p:tag name="KSO_DOCER_RESOURCE_TRACE_INFO" val="{&quot;id&quot;:&quot;50062658&quot;,&quot;origin&quot;:0,&quot;type&quot;:&quot;icons&quot;,&quot;user&quot;:&quot;328373139&quot;}"/>
</p:tagLst>
</file>

<file path=ppt/tags/tag31.xml><?xml version="1.0" encoding="utf-8"?>
<p:tagLst xmlns:p="http://schemas.openxmlformats.org/presentationml/2006/main">
  <p:tag name="KSO_DOCER_RESOURCE_TRACE_INFO" val="{&quot;id&quot;:&quot;50062658&quot;,&quot;origin&quot;:0,&quot;type&quot;:&quot;icons&quot;,&quot;user&quot;:&quot;328373139&quot;}"/>
</p:tagLst>
</file>

<file path=ppt/tags/tag32.xml><?xml version="1.0" encoding="utf-8"?>
<p:tagLst xmlns:p="http://schemas.openxmlformats.org/presentationml/2006/main">
  <p:tag name="TABLE_ENDDRAG_ORIGIN_RECT" val="755*240"/>
  <p:tag name="TABLE_ENDDRAG_RECT" val="60*180*755*240"/>
</p:tagLst>
</file>

<file path=ppt/tags/tag33.xml><?xml version="1.0" encoding="utf-8"?>
<p:tagLst xmlns:p="http://schemas.openxmlformats.org/presentationml/2006/main">
  <p:tag name="KSO_WM_DIAGRAM_VIRTUALLY_FRAME" val="{&quot;height&quot;:135,&quot;left&quot;:650,&quot;top&quot;:120,&quot;width&quot;:280}"/>
</p:tagLst>
</file>

<file path=ppt/tags/tag34.xml><?xml version="1.0" encoding="utf-8"?>
<p:tagLst xmlns:p="http://schemas.openxmlformats.org/presentationml/2006/main">
  <p:tag name="resource_record_key" val="{&quot;10&quot;:[50062658]}"/>
</p:tagLst>
</file>

<file path=ppt/theme/theme1.xml><?xml version="1.0" encoding="utf-8"?>
<a:theme xmlns:a="http://schemas.openxmlformats.org/drawingml/2006/main" name="Office 主题​​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默认主题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​​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3145</Words>
  <Application>WPS 演示</Application>
  <PresentationFormat/>
  <Paragraphs>323</Paragraphs>
  <Slides>17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17</vt:i4>
      </vt:variant>
    </vt:vector>
  </HeadingPairs>
  <TitlesOfParts>
    <vt:vector size="26" baseType="lpstr">
      <vt:lpstr>Arial</vt:lpstr>
      <vt:lpstr>宋体</vt:lpstr>
      <vt:lpstr>Wingdings</vt:lpstr>
      <vt:lpstr>Arial</vt:lpstr>
      <vt:lpstr>Noto Sans SC</vt:lpstr>
      <vt:lpstr>微软雅黑</vt:lpstr>
      <vt:lpstr>Arial Unicode MS</vt:lpstr>
      <vt:lpstr>Office 主题​​</vt:lpstr>
      <vt:lpstr>默认主题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傅晓晴</cp:lastModifiedBy>
  <cp:revision>17</cp:revision>
  <dcterms:created xsi:type="dcterms:W3CDTF">2026-05-31T09:28:00Z</dcterms:created>
  <dcterms:modified xsi:type="dcterms:W3CDTF">2026-05-31T13:35:35Z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{"Label":"1","ContentProducer":"001191110102MACQD9K64010000","ProduceID":"7645981088233688257","ReservedCode1":"","ContentPropagator":"","PropagateID":"","ReservedCode2":""}</vt:lpwstr>
  </property>
  <property fmtid="{D5CDD505-2E9C-101B-9397-08002B2CF9AE}" pid="3" name="KSOProductBuildVer">
    <vt:lpwstr>2052-12.1.0.26375</vt:lpwstr>
  </property>
  <property fmtid="{D5CDD505-2E9C-101B-9397-08002B2CF9AE}" pid="4" name="ICV">
    <vt:lpwstr>A0F29FB862754B519F5E481A4B3D6295_12</vt:lpwstr>
  </property>
</Properties>
</file>